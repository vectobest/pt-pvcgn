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charts/chart3.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4.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17ab427-91e3-1a27-fcb9-4c44a3f0fc7a}">
          <p14:sldIdLst>
            <p14:sldId id="256"/>
            <p14:sldId id="257"/>
          </p14:sldIdLst>
        </p14:section>
        <p14:section name="The original paper" id="{70d33bce-e9d8-7c25-c968-c06e038faaee}">
          <p14:sldIdLst>
            <p14:sldId id="258"/>
            <p14:sldId id="259"/>
            <p14:sldId id="260"/>
            <p14:sldId id="261"/>
            <p14:sldId id="262"/>
            <p14:sldId id="263"/>
          </p14:sldIdLst>
        </p14:section>
        <p14:section name="Research gap" id="{000ef251-7c98-3179-5f34-ccfe9de240d8}">
          <p14:sldIdLst>
            <p14:sldId id="264"/>
            <p14:sldId id="265"/>
            <p14:sldId id="266"/>
          </p14:sldIdLst>
        </p14:section>
        <p14:section name="Our solution" id="{5836e639-aa67-d276-6e5d-f8890103d344}">
          <p14:sldIdLst>
            <p14:sldId id="267"/>
            <p14:sldId id="268"/>
            <p14:sldId id="269"/>
            <p14:sldId id="270"/>
            <p14:sldId id="271"/>
            <p14:sldId id="272"/>
          </p14:sldIdLst>
        </p14:section>
        <p14:section name="Code walkthrough" id="{bdb0d1d4-6090-d82b-c68f-942606c53f00}">
          <p14:sldIdLst>
            <p14:sldId id="273"/>
            <p14:sldId id="274"/>
            <p14:sldId id="275"/>
            <p14:sldId id="276"/>
            <p14:sldId id="277"/>
            <p14:sldId id="278"/>
            <p14:sldId id="279"/>
            <p14:sldId id="280"/>
            <p14:sldId id="281"/>
            <p14:sldId id="282"/>
            <p14:sldId id="283"/>
          </p14:sldIdLst>
        </p14:section>
        <p14:section name="Results" id="{d09868e1-3c11-4f24-bd56-1c8ed9ca0bb4}">
          <p14:sldIdLst>
            <p14:sldId id="284"/>
            <p14:sldId id="285"/>
            <p14:sldId id="286"/>
            <p14:sldId id="287"/>
            <p14:sldId id="288"/>
            <p14:sldId id="289"/>
            <p14:sldId id="290"/>
            <p14:sldId id="291"/>
            <p14:sldId id="292"/>
            <p14:sldId id="293"/>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HZMetro test MAE, 15 minutes ahead (lower is better)</a:t>
            </a:r>
          </a:p>
        </c:rich>
      </c:tx>
      <c:layout/>
      <c:overlay val="0"/>
    </c:title>
    <c:autoTitleDeleted val="0"/>
    <c:plotArea>
      <c:layout/>
      <c:barChart>
        <c:barDir val="bar"/>
        <c:grouping val="clustered"/>
        <c:varyColors val="0"/>
        <c:ser>
          <c:idx val="0"/>
          <c:order val="0"/>
          <c:tx>
            <c:strRef>
              <c:f>Sheet1!$B$1</c:f>
              <c:strCache>
                <c:ptCount val="1"/>
                <c:pt idx="0">
                  <c:v>MAE</c:v>
                </c:pt>
              </c:strCache>
            </c:strRef>
          </c:tx>
          <c:spPr>
            <a:solidFill>
              <a:srgbClr val="8D99AE"/>
            </a:solidFill>
            <a:effectLst/>
          </c:spPr>
          <c:invertIfNegative val="0"/>
          <c:dLbls>
            <c:numFmt formatCode="0.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8D99AE"/>
              </a:solidFill>
              <a:effectLst/>
            </c:spPr>
          </c:dPt>
          <c:dPt>
            <c:idx val="1"/>
            <c:invertIfNegative val="0"/>
            <c:bubble3D val="0"/>
            <c:spPr>
              <a:solidFill>
                <a:srgbClr val="8D99AE"/>
              </a:solidFill>
              <a:effectLst/>
            </c:spPr>
          </c:dPt>
          <c:dPt>
            <c:idx val="2"/>
            <c:invertIfNegative val="0"/>
            <c:bubble3D val="0"/>
            <c:spPr>
              <a:solidFill>
                <a:srgbClr val="8D99AE"/>
              </a:solidFill>
              <a:effectLst/>
            </c:spPr>
          </c:dPt>
          <c:dPt>
            <c:idx val="3"/>
            <c:invertIfNegative val="0"/>
            <c:bubble3D val="0"/>
            <c:spPr>
              <a:solidFill>
                <a:srgbClr val="8D99AE"/>
              </a:solidFill>
              <a:effectLst/>
            </c:spPr>
          </c:dPt>
          <c:dPt>
            <c:idx val="4"/>
            <c:invertIfNegative val="0"/>
            <c:bubble3D val="0"/>
            <c:spPr>
              <a:solidFill>
                <a:srgbClr val="8D99AE"/>
              </a:solidFill>
              <a:effectLst/>
            </c:spPr>
          </c:dPt>
          <c:dPt>
            <c:idx val="5"/>
            <c:invertIfNegative val="0"/>
            <c:bubble3D val="0"/>
            <c:spPr>
              <a:solidFill>
                <a:srgbClr val="8D99AE"/>
              </a:solidFill>
              <a:effectLst/>
            </c:spPr>
          </c:dPt>
          <c:dPt>
            <c:idx val="6"/>
            <c:invertIfNegative val="0"/>
            <c:bubble3D val="0"/>
            <c:spPr>
              <a:solidFill>
                <a:srgbClr val="8D99AE"/>
              </a:solidFill>
              <a:effectLst/>
            </c:spPr>
          </c:dPt>
          <c:dPt>
            <c:idx val="7"/>
            <c:invertIfNegative val="0"/>
            <c:bubble3D val="0"/>
            <c:spPr>
              <a:solidFill>
                <a:srgbClr val="8D99AE"/>
              </a:solidFill>
              <a:effectLst/>
            </c:spPr>
          </c:dPt>
          <c:dPt>
            <c:idx val="8"/>
            <c:invertIfNegative val="0"/>
            <c:bubble3D val="0"/>
            <c:spPr>
              <a:solidFill>
                <a:srgbClr val="8D99AE"/>
              </a:solidFill>
              <a:effectLst/>
            </c:spPr>
          </c:dPt>
          <c:dPt>
            <c:idx val="9"/>
            <c:invertIfNegative val="0"/>
            <c:bubble3D val="0"/>
            <c:spPr>
              <a:solidFill>
                <a:srgbClr val="8D99AE"/>
              </a:solidFill>
              <a:effectLst/>
            </c:spPr>
          </c:dPt>
          <c:dPt>
            <c:idx val="10"/>
            <c:invertIfNegative val="0"/>
            <c:bubble3D val="0"/>
            <c:spPr>
              <a:solidFill>
                <a:srgbClr val="8D99AE"/>
              </a:solidFill>
              <a:effectLst/>
            </c:spPr>
          </c:dPt>
          <c:dPt>
            <c:idx val="11"/>
            <c:invertIfNegative val="0"/>
            <c:bubble3D val="0"/>
            <c:spPr>
              <a:solidFill>
                <a:srgbClr val="2A9D8F"/>
              </a:solidFill>
              <a:effectLst/>
            </c:spPr>
          </c:dPt>
          <c:cat>
            <c:multiLvlStrRef>
              <c:f>Sheet1!$A$2:$A$13</c:f>
              <c:multiLvlStrCache>
                <c:ptCount val="12"/>
                <c:lvl>
                  <c:pt idx="0">
                    <c:v>HA</c:v>
                  </c:pt>
                  <c:pt idx="1">
                    <c:v>RF</c:v>
                  </c:pt>
                  <c:pt idx="2">
                    <c:v>GBDT</c:v>
                  </c:pt>
                  <c:pt idx="3">
                    <c:v>MLP</c:v>
                  </c:pt>
                  <c:pt idx="4">
                    <c:v>LSTM</c:v>
                  </c:pt>
                  <c:pt idx="5">
                    <c:v>GRU</c:v>
                  </c:pt>
                  <c:pt idx="6">
                    <c:v>ASTGCN</c:v>
                  </c:pt>
                  <c:pt idx="7">
                    <c:v>STG2Seq</c:v>
                  </c:pt>
                  <c:pt idx="8">
                    <c:v>DCRNN</c:v>
                  </c:pt>
                  <c:pt idx="9">
                    <c:v>GCRNN</c:v>
                  </c:pt>
                  <c:pt idx="10">
                    <c:v>Graph-WaveNet</c:v>
                  </c:pt>
                  <c:pt idx="11">
                    <c:v>PVCGN</c:v>
                  </c:pt>
                </c:lvl>
              </c:multiLvlStrCache>
            </c:multiLvlStrRef>
          </c:cat>
          <c:val>
            <c:numRef>
              <c:f>Sheet1!$B$2:$B$13</c:f>
              <c:numCache>
                <c:formatCode>General</c:formatCode>
                <c:ptCount val="12"/>
                <c:pt idx="0">
                  <c:v>36.37</c:v>
                </c:pt>
                <c:pt idx="1">
                  <c:v>32.19</c:v>
                </c:pt>
                <c:pt idx="2">
                  <c:v>30.88</c:v>
                </c:pt>
                <c:pt idx="3">
                  <c:v>26.57</c:v>
                </c:pt>
                <c:pt idx="4">
                  <c:v>25.76</c:v>
                </c:pt>
                <c:pt idx="5">
                  <c:v>25.69</c:v>
                </c:pt>
                <c:pt idx="6">
                  <c:v>27.34</c:v>
                </c:pt>
                <c:pt idx="7">
                  <c:v>23.8</c:v>
                </c:pt>
                <c:pt idx="8">
                  <c:v>23.76</c:v>
                </c:pt>
                <c:pt idx="9">
                  <c:v>23.84</c:v>
                </c:pt>
                <c:pt idx="10">
                  <c:v>24.07</c:v>
                </c:pt>
                <c:pt idx="11">
                  <c:v>22.68</c:v>
                </c:pt>
              </c:numCache>
            </c:numRef>
          </c:val>
        </c:ser>
        <c:dLbls>
          <c:numFmt formatCode="0.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6546B"/>
                </a:solidFill>
                <a:latin typeface="+mn-lt"/>
              </a:defRPr>
            </a:pPr>
            <a:endParaRPr lang="en-US"/>
          </a:p>
        </c:txPr>
        <c:crossAx val="2094734552"/>
        <c:crosses val="autoZero"/>
        <c:auto val="1"/>
        <c:lblAlgn val="ctr"/>
        <c:noMultiLvlLbl val="1"/>
      </c:catAx>
      <c:valAx>
        <c:axId val="2094734552"/>
        <c:scaling>
          <c:orientation val="minMax"/>
          <c:min val="0"/>
        </c:scaling>
        <c:delete val="0"/>
        <c:axPos val="b"/>
        <c:majorGridlines>
          <c:spPr>
            <a:ln w="6350" cap="flat">
              <a:solidFill>
                <a:srgbClr val="E3E8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6546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Correlation of each look-back with current station inflow</a:t>
            </a:r>
          </a:p>
        </c:rich>
      </c:tx>
      <c:layout/>
      <c:overlay val="0"/>
    </c:title>
    <c:autoTitleDeleted val="0"/>
    <c:plotArea>
      <c:layout/>
      <c:barChart>
        <c:barDir val="col"/>
        <c:grouping val="clustered"/>
        <c:varyColors val="0"/>
        <c:ser>
          <c:idx val="0"/>
          <c:order val="0"/>
          <c:tx>
            <c:strRef>
              <c:f>Sheet1!$B$1</c:f>
              <c:strCache>
                <c:ptCount val="1"/>
                <c:pt idx="0">
                  <c:v>Hangzhou</c:v>
                </c:pt>
              </c:strCache>
            </c:strRef>
          </c:tx>
          <c:spPr>
            <a:solidFill>
              <a:srgbClr val="FCA311"/>
            </a:solidFill>
            <a:effectLst/>
          </c:spPr>
          <c:invertIfNegative val="0"/>
          <c:dLbls>
            <c:numFmt formatCode="0.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cat>
            <c:multiLvlStrRef>
              <c:f>Sheet1!$A$2:$A$5</c:f>
              <c:multiLvlStrCache>
                <c:ptCount val="4"/>
                <c:lvl>
                  <c:pt idx="0">
                    <c:v>15 min earlier</c:v>
                  </c:pt>
                  <c:pt idx="1">
                    <c:v>1 hour earlier</c:v>
                  </c:pt>
                  <c:pt idx="2">
                    <c:v>Same slot, yesterday</c:v>
                  </c:pt>
                  <c:pt idx="3">
                    <c:v>Same slot, last week</c:v>
                  </c:pt>
                </c:lvl>
              </c:multiLvlStrCache>
            </c:multiLvlStrRef>
          </c:cat>
          <c:val>
            <c:numRef>
              <c:f>Sheet1!$B$2:$B$5</c:f>
              <c:numCache>
                <c:formatCode>General</c:formatCode>
                <c:ptCount val="4"/>
                <c:pt idx="0">
                  <c:v>0.953</c:v>
                </c:pt>
                <c:pt idx="1">
                  <c:v>0.724</c:v>
                </c:pt>
                <c:pt idx="2">
                  <c:v>0.929</c:v>
                </c:pt>
                <c:pt idx="3">
                  <c:v>0.95</c:v>
                </c:pt>
              </c:numCache>
            </c:numRef>
          </c:val>
        </c:ser>
        <c:ser>
          <c:idx val="1"/>
          <c:order val="1"/>
          <c:tx>
            <c:strRef>
              <c:f>Sheet1!$C$1</c:f>
              <c:strCache>
                <c:ptCount val="1"/>
                <c:pt idx="0">
                  <c:v>Shanghai</c:v>
                </c:pt>
              </c:strCache>
            </c:strRef>
          </c:tx>
          <c:spPr>
            <a:solidFill>
              <a:srgbClr val="264653"/>
            </a:solidFill>
            <a:effectLst/>
          </c:spPr>
          <c:invertIfNegative val="0"/>
          <c:dLbls>
            <c:numFmt formatCode="0.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cat>
            <c:multiLvlStrRef>
              <c:f>Sheet1!$A$2:$A$5</c:f>
              <c:multiLvlStrCache>
                <c:ptCount val="4"/>
                <c:lvl>
                  <c:pt idx="0">
                    <c:v>15 min earlier</c:v>
                  </c:pt>
                  <c:pt idx="1">
                    <c:v>1 hour earlier</c:v>
                  </c:pt>
                  <c:pt idx="2">
                    <c:v>Same slot, yesterday</c:v>
                  </c:pt>
                  <c:pt idx="3">
                    <c:v>Same slot, last week</c:v>
                  </c:pt>
                </c:lvl>
              </c:multiLvlStrCache>
            </c:multiLvlStrRef>
          </c:cat>
          <c:val>
            <c:numRef>
              <c:f>Sheet1!$C$2:$C$5</c:f>
              <c:numCache>
                <c:formatCode>General</c:formatCode>
                <c:ptCount val="4"/>
                <c:pt idx="0">
                  <c:v>0.954</c:v>
                </c:pt>
                <c:pt idx="1">
                  <c:v>0.663</c:v>
                </c:pt>
                <c:pt idx="2">
                  <c:v>0.868</c:v>
                </c:pt>
                <c:pt idx="3">
                  <c:v>0.958</c:v>
                </c:pt>
              </c:numCache>
            </c:numRef>
          </c:val>
        </c:ser>
        <c:dLbls>
          <c:numFmt formatCode="0.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6546B"/>
                </a:solidFill>
                <a:latin typeface="+mn-lt"/>
              </a:defRPr>
            </a:pPr>
            <a:endParaRPr lang="en-US"/>
          </a:p>
        </c:txPr>
        <c:crossAx val="2094734552"/>
        <c:crosses val="autoZero"/>
        <c:auto val="1"/>
        <c:lblAlgn val="ctr"/>
        <c:noMultiLvlLbl val="1"/>
      </c:catAx>
      <c:valAx>
        <c:axId val="2094734552"/>
        <c:scaling>
          <c:orientation val="minMax"/>
          <c:max val="1"/>
          <c:min val="0.5"/>
        </c:scaling>
        <c:delete val="0"/>
        <c:axPos val="l"/>
        <c:majorGridlines>
          <c:spPr>
            <a:ln w="6350" cap="flat">
              <a:solidFill>
                <a:srgbClr val="E3E8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6546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6546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Test MAE, mean of 4 horizons (lower is better)</a:t>
            </a:r>
          </a:p>
        </c:rich>
      </c:tx>
      <c:layout/>
      <c:overlay val="0"/>
    </c:title>
    <c:autoTitleDeleted val="0"/>
    <c:plotArea>
      <c:layout/>
      <c:barChart>
        <c:barDir val="col"/>
        <c:grouping val="clustered"/>
        <c:varyColors val="0"/>
        <c:ser>
          <c:idx val="0"/>
          <c:order val="0"/>
          <c:tx>
            <c:strRef>
              <c:f>Sheet1!$B$1</c:f>
              <c:strCache>
                <c:ptCount val="1"/>
                <c:pt idx="0">
                  <c:v>Hangzhou</c:v>
                </c:pt>
              </c:strCache>
            </c:strRef>
          </c:tx>
          <c:spPr>
            <a:solidFill>
              <a:srgbClr val="FCA311"/>
            </a:solidFill>
            <a:effectLst/>
          </c:spPr>
          <c:invertIfNegative val="0"/>
          <c:dLbls>
            <c:numFmt formatCode="0.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cat>
            <c:multiLvlStrRef>
              <c:f>Sheet1!$A$2:$A$5</c:f>
              <c:multiLvlStrCache>
                <c:ptCount val="4"/>
                <c:lvl>
                  <c:pt idx="0">
                    <c:v>PVCGN (paper-reported)</c:v>
                  </c:pt>
                  <c:pt idx="1">
                    <c:v>PVCGN (re-trained)</c:v>
                  </c:pt>
                  <c:pt idx="2">
                    <c:v>Ridge (lags+refs)</c:v>
                  </c:pt>
                  <c:pt idx="3">
                    <c:v>PT-PVCGN (ours)</c:v>
                  </c:pt>
                </c:lvl>
              </c:multiLvlStrCache>
            </c:multiLvlStrRef>
          </c:cat>
          <c:val>
            <c:numRef>
              <c:f>Sheet1!$B$2:$B$5</c:f>
              <c:numCache>
                <c:formatCode>General</c:formatCode>
                <c:ptCount val="4"/>
                <c:pt idx="0">
                  <c:v>23.79</c:v>
                </c:pt>
                <c:pt idx="1">
                  <c:v>23.85</c:v>
                </c:pt>
                <c:pt idx="2">
                  <c:v>25.96</c:v>
                </c:pt>
                <c:pt idx="3">
                  <c:v>22.06</c:v>
                </c:pt>
              </c:numCache>
            </c:numRef>
          </c:val>
        </c:ser>
        <c:ser>
          <c:idx val="1"/>
          <c:order val="1"/>
          <c:tx>
            <c:strRef>
              <c:f>Sheet1!$C$1</c:f>
              <c:strCache>
                <c:ptCount val="1"/>
                <c:pt idx="0">
                  <c:v>Shanghai</c:v>
                </c:pt>
              </c:strCache>
            </c:strRef>
          </c:tx>
          <c:spPr>
            <a:solidFill>
              <a:srgbClr val="264653"/>
            </a:solidFill>
            <a:effectLst/>
          </c:spPr>
          <c:invertIfNegative val="0"/>
          <c:dLbls>
            <c:numFmt formatCode="0.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cat>
            <c:multiLvlStrRef>
              <c:f>Sheet1!$A$2:$A$5</c:f>
              <c:multiLvlStrCache>
                <c:ptCount val="4"/>
                <c:lvl>
                  <c:pt idx="0">
                    <c:v>PVCGN (paper-reported)</c:v>
                  </c:pt>
                  <c:pt idx="1">
                    <c:v>PVCGN (re-trained)</c:v>
                  </c:pt>
                  <c:pt idx="2">
                    <c:v>Ridge (lags+refs)</c:v>
                  </c:pt>
                  <c:pt idx="3">
                    <c:v>PT-PVCGN (ours)</c:v>
                  </c:pt>
                </c:lvl>
              </c:multiLvlStrCache>
            </c:multiLvlStrRef>
          </c:cat>
          <c:val>
            <c:numRef>
              <c:f>Sheet1!$C$2:$C$5</c:f>
              <c:numCache>
                <c:formatCode>General</c:formatCode>
                <c:ptCount val="4"/>
                <c:pt idx="0">
                  <c:v>24.77</c:v>
                </c:pt>
                <c:pt idx="1">
                  <c:v>27.44</c:v>
                </c:pt>
                <c:pt idx="2">
                  <c:v>25.62</c:v>
                </c:pt>
                <c:pt idx="3">
                  <c:v>24.09</c:v>
                </c:pt>
              </c:numCache>
            </c:numRef>
          </c:val>
        </c:ser>
        <c:dLbls>
          <c:numFmt formatCode="0.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6546B"/>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3E8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6546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6546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Hangzhou test MAE by forecast horizon</a:t>
            </a:r>
          </a:p>
        </c:rich>
      </c:tx>
      <c:layout/>
      <c:overlay val="0"/>
    </c:title>
    <c:autoTitleDeleted val="0"/>
    <c:plotArea>
      <c:layout/>
      <c:barChart>
        <c:barDir val="col"/>
        <c:grouping val="clustered"/>
        <c:varyColors val="0"/>
        <c:ser>
          <c:idx val="0"/>
          <c:order val="0"/>
          <c:tx>
            <c:strRef>
              <c:f>Sheet1!$B$1</c:f>
              <c:strCache>
                <c:ptCount val="1"/>
                <c:pt idx="0">
                  <c:v>PVCGN (re-trained)</c:v>
                </c:pt>
              </c:strCache>
            </c:strRef>
          </c:tx>
          <c:spPr>
            <a:solidFill>
              <a:srgbClr val="8D99AE"/>
            </a:solidFill>
            <a:effectLst/>
          </c:spPr>
          <c:invertIfNegative val="0"/>
          <c:dLbls>
            <c:numFmt formatCode="0.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cat>
            <c:multiLvlStrRef>
              <c:f>Sheet1!$A$2:$A$5</c:f>
              <c:multiLvlStrCache>
                <c:ptCount val="4"/>
                <c:lvl>
                  <c:pt idx="0">
                    <c:v>15 min</c:v>
                  </c:pt>
                  <c:pt idx="1">
                    <c:v>30 min</c:v>
                  </c:pt>
                  <c:pt idx="2">
                    <c:v>45 min</c:v>
                  </c:pt>
                  <c:pt idx="3">
                    <c:v>60 min</c:v>
                  </c:pt>
                </c:lvl>
              </c:multiLvlStrCache>
            </c:multiLvlStrRef>
          </c:cat>
          <c:val>
            <c:numRef>
              <c:f>Sheet1!$B$2:$B$5</c:f>
              <c:numCache>
                <c:formatCode>General</c:formatCode>
                <c:ptCount val="4"/>
                <c:pt idx="0">
                  <c:v>22.67</c:v>
                </c:pt>
                <c:pt idx="1">
                  <c:v>23.51</c:v>
                </c:pt>
                <c:pt idx="2">
                  <c:v>24.36</c:v>
                </c:pt>
                <c:pt idx="3">
                  <c:v>24.84</c:v>
                </c:pt>
              </c:numCache>
            </c:numRef>
          </c:val>
        </c:ser>
        <c:ser>
          <c:idx val="1"/>
          <c:order val="1"/>
          <c:tx>
            <c:strRef>
              <c:f>Sheet1!$C$1</c:f>
              <c:strCache>
                <c:ptCount val="1"/>
                <c:pt idx="0">
                  <c:v>PT-PVCGN (ours)</c:v>
                </c:pt>
              </c:strCache>
            </c:strRef>
          </c:tx>
          <c:spPr>
            <a:solidFill>
              <a:srgbClr val="2A9D8F"/>
            </a:solidFill>
            <a:effectLst/>
          </c:spPr>
          <c:invertIfNegative val="0"/>
          <c:dLbls>
            <c:numFmt formatCode="0.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cat>
            <c:multiLvlStrRef>
              <c:f>Sheet1!$A$2:$A$5</c:f>
              <c:multiLvlStrCache>
                <c:ptCount val="4"/>
                <c:lvl>
                  <c:pt idx="0">
                    <c:v>15 min</c:v>
                  </c:pt>
                  <c:pt idx="1">
                    <c:v>30 min</c:v>
                  </c:pt>
                  <c:pt idx="2">
                    <c:v>45 min</c:v>
                  </c:pt>
                  <c:pt idx="3">
                    <c:v>60 min</c:v>
                  </c:pt>
                </c:lvl>
              </c:multiLvlStrCache>
            </c:multiLvlStrRef>
          </c:cat>
          <c:val>
            <c:numRef>
              <c:f>Sheet1!$C$2:$C$5</c:f>
              <c:numCache>
                <c:formatCode>General</c:formatCode>
                <c:ptCount val="4"/>
                <c:pt idx="0">
                  <c:v>21.68</c:v>
                </c:pt>
                <c:pt idx="1">
                  <c:v>21.93</c:v>
                </c:pt>
                <c:pt idx="2">
                  <c:v>22.15</c:v>
                </c:pt>
                <c:pt idx="3">
                  <c:v>22.45</c:v>
                </c:pt>
              </c:numCache>
            </c:numRef>
          </c:val>
        </c:ser>
        <c:dLbls>
          <c:numFmt formatCode="0.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6546B"/>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3E8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6546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6546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This deck explains the original PVCGN paper, the research gap we are addressing (PVCGN ignores periodic and calendar information), our extension PT-PVCGN, and what every folder and code file in the project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stops: the original paper, the gap, our solution, a walkthrough of every code file, and current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the paper we start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Station-level metro ridership prediction: forecast inflow and outflow of every station for the next hour, in 15-minute steps. Shanghai alone had 8.82 million trips per day in the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idea of the paper: the physical track map is not enough. Two 'virtual' graphs connect stations that behave alike or exchange many passengers. All three share the same nodes (stations) but have different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Sequence-to-sequence model. Each Collaborative Gated Recurrent Module (CGRM) combines a graph-convolution GRU for local spatial-temporal patterns and a fully-connected GRU for global patterns. Loss is mean absolute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datasets are public in the authors' GitHub repository. We use exactly the same splits so our numbers are comparable with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Values are copied from Table III of the paper (HZMetro, 15-minute horizon). PVCGN reaches MAE 22.68. These are the paper's own numbers, not 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what is missing in PVCGN.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Gap 1 because it has the strongest evidence in the data and the PVCGN authors themselves list periodicity as future work (Section VI). Gap 4 is handled by our evaluation protocol. Gaps 2 and 3 are left for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Computed from the released data (ml_pipeline/figures/02_periodicity_lags.png and 07_reference_feature_strength.png). Metro ridership repeats very strongly from day to day and week to week, and PVCGN cannot see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what we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decoder receives 'what usually happens next' from the reference days, while the encoder sees how today differs from those days so far. Everything else (graphs, GRUs, training settings) is the original PVCGN.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PT-PVCGN is the proposed model. PVCGN is the published reference, reproduced and verified against the authors' code. The +P variant and the non-deep baselines exist to show exactly where any improvement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 and 5 (teal) carry our additions: periodic reference values and calendar embeddings are appended to every station's input at every encoder and decoder step. The graph convolution, GC-GRU and FC-GRU are exactly PVCGN's.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settings follow the authors' released PVCGN configuration, except the epoch budget, which is reduced to fit a laptop (at most 100 epochs). Hangzhou models use the paper's 200-epoch schedule; Shanghai models 30 epochs because of laptop compute. Every model in a city gets the same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has four review gates where the project owner signs off; all four are passed. The test set was used once, after the third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a guided tour of the project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locally on an Apple M1 laptop with 8 GB of memory. PyTorch uses the Metal (MPS) GPU backend. Our PVCGN does not need torch_geometric; it is installed only so the test can run the authors' code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folders we wrote and use most are metro/ (the code) and ml_pipeline/ (the workflow and its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moves left to right: raw released windows become continuous daily series, get calendar and reference-day information, are split and scaled, batched, fed to the model and trained.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files turn the released data into exactly what the model needs. The key research-gap feature (reference days) is computed in features.py.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model.py holds both the reproduction of PVCGN and our extension; train.py runs the experiments; metrics.py and baselines.py make the comparison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guard.py comes from the ML-pipeline workflow plugin and was copied into the project at step 1. In our project, split() reproduced the paper's date split exactly and froze the test set; final_test() will be used once at step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 notebooks are marimo notebooks: open them with 'marimo edit ml_pipeline/01_eda.py' to see the cells, or run them as normal Python 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files are the evidence trail for the paper: every number in it will be generated from runs/ and the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file is what lets us call our PVCGN a faithful reproduction. run_queue.sh is what runs overnight.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read this code to reproduce PVCGN exactly, use its data and graphs, and test against it. We do not modify it. It needs torch_geometric; our version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the final test results. Nothing here was used to choose or tune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over 3 seeds (Hangzhou) and 2 seeds (Shanghai). The paper-reported PVCGN numbers are copied from the original paper's tables for context. Shanghai models had a much shorter training budget than the original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Per-horizon test MAE on Hangzhou, mean over 3 seeds, both models with the same 200-epoch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Lowest MAE at every horizon; the paper's 200-epoch PVCGN† still has lower MAPE (and RMSE at 15–30 min). Our models trained 30 epochs.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PT-PVCGN beats every non-ours method on all metrics and horizons; only our +P ablation is better. Same 200-epoch budget for our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Lowest rush-hour MAE at every horizon; the paper's PVCGN† has the lowest MAPE.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Lowest MAE and RMSE of all non-ours methods at every horizon; PVCGN† keeps marginally lower MAPE at 15–45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PVCGN† (200 epochs) is better at 15–30 min and on MAPE; PT-PVCGN is better at 45–60 min. Inconclusive at our 30-epoch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PT-PVCGN beats every non-ours method on MAE and RMSE at every horizon; +P is best overall.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model was fixed on validation before the test, so PT-PVCGN stays the named model even though +P alone is slightly better. On holidays and make-up working days the reference days are ordinary days, which misleads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to mention: Shanghai trained 30 epochs only; Hangzhou has one month of data and a weekend-only validation set; calendar embeddings did not help; irregular days are the main failure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657600"/>
            <a:ext cx="10698480" cy="128016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377440" y="2377440"/>
            <a:ext cx="9144000" cy="109728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2377440" y="3474720"/>
            <a:ext cx="9144000" cy="91440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rgbClr val="46546B"/>
                </a:solidFill>
              </a:rPr>
              <a:t>PT-PVCGN  ·  minor project</a:t>
            </a:r>
            <a:endParaRPr lang="en-US" sz="1000" dirty="0"/>
          </a:p>
        </p:txBody>
      </p:sp>
      <p:sp>
        <p:nvSpPr>
          <p:cNvPr id="3" name="Text 1"/>
          <p:cNvSpPr/>
          <p:nvPr>
            <p:ph idx="101" type="title" hasCustomPrompt="1"/>
          </p:nvPr>
        </p:nvSpPr>
        <p:spPr>
          <a:xfrm>
            <a:off x="548640" y="320040"/>
            <a:ext cx="11064240" cy="777240"/>
          </a:xfrm>
          <a:prstGeom prst="rect">
            <a:avLst/>
          </a:prstGeom>
          <a:noFill/>
          <a:ln/>
        </p:spPr>
        <p:txBody>
          <a:bodyPr wrap="square" rtlCol="0"/>
          <a:lstStyle>
            <a:lvl1pPr indent="0" marL="0">
              <a:buNone/>
              <a:defRPr lang="en-US" sz="3200" b="1" dirty="0">
                <a:solidFill>
                  <a:schemeClr val="tx1"/>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Metro ridership forecasting with periodic and calendar context</a:t>
            </a:r>
            <a:endParaRPr lang="en-US" sz="4000" dirty="0"/>
          </a:p>
        </p:txBody>
      </p:sp>
      <p:sp>
        <p:nvSpPr>
          <p:cNvPr id="3" name="Text 0"/>
          <p:cNvSpPr/>
          <p:nvPr>
            <p:ph idx="101" type="body" hasCustomPrompt="1"/>
          </p:nvPr>
        </p:nvSpPr>
        <p:spPr>
          <a:xfrm>
            <a:off x="731520" y="3657600"/>
            <a:ext cx="10698480" cy="1280160"/>
          </a:xfrm>
          <a:prstGeom prst="rect">
            <a:avLst/>
          </a:prstGeom>
          <a:noFill/>
          <a:ln/>
        </p:spPr>
        <p:txBody>
          <a:bodyPr wrap="square" rtlCol="0" anchor="t"/>
          <a:lstStyle/>
          <a:p>
            <a:pPr algn="l" indent="0" marL="0">
              <a:buNone/>
            </a:pPr>
            <a:r>
              <a:rPr lang="en-US" sz="1800" dirty="0">
                <a:solidFill>
                  <a:schemeClr val="accent6"/>
                </a:solidFill>
              </a:rPr>
              <a:t>Extending PVCGN (Liu et al., IEEE T-ITS 2022): the paper, the research gap we chose, and a guide to every file in the project</a:t>
            </a:r>
            <a:endParaRPr lang="en-US" sz="1800" dirty="0"/>
          </a:p>
        </p:txBody>
      </p:sp>
      <p:sp>
        <p:nvSpPr>
          <p:cNvPr id="4" name="dot-1"/>
          <p:cNvSpPr/>
          <p:nvPr/>
        </p:nvSpPr>
        <p:spPr>
          <a:xfrm>
            <a:off x="731520" y="1280160"/>
            <a:ext cx="256032" cy="256032"/>
          </a:xfrm>
          <a:prstGeom prst="ellipse">
            <a:avLst/>
          </a:prstGeom>
          <a:solidFill>
            <a:schemeClr val="accent1"/>
          </a:solidFill>
          <a:ln w="25400">
            <a:solidFill>
              <a:schemeClr val="bg1"/>
            </a:solidFill>
            <a:prstDash val="solid"/>
          </a:ln>
        </p:spPr>
      </p:sp>
      <p:sp>
        <p:nvSpPr>
          <p:cNvPr id="5" name="dot-2"/>
          <p:cNvSpPr/>
          <p:nvPr/>
        </p:nvSpPr>
        <p:spPr>
          <a:xfrm>
            <a:off x="1234440" y="1280160"/>
            <a:ext cx="256032" cy="256032"/>
          </a:xfrm>
          <a:prstGeom prst="ellipse">
            <a:avLst/>
          </a:prstGeom>
          <a:solidFill>
            <a:schemeClr val="accent1"/>
          </a:solidFill>
          <a:ln w="25400">
            <a:solidFill>
              <a:schemeClr val="bg1"/>
            </a:solidFill>
            <a:prstDash val="solid"/>
          </a:ln>
        </p:spPr>
      </p:sp>
      <p:sp>
        <p:nvSpPr>
          <p:cNvPr id="6" name="dot-3"/>
          <p:cNvSpPr/>
          <p:nvPr/>
        </p:nvSpPr>
        <p:spPr>
          <a:xfrm>
            <a:off x="1737360" y="1280160"/>
            <a:ext cx="256032" cy="256032"/>
          </a:xfrm>
          <a:prstGeom prst="ellipse">
            <a:avLst/>
          </a:prstGeom>
          <a:solidFill>
            <a:schemeClr val="accent1"/>
          </a:solidFill>
          <a:ln w="25400">
            <a:solidFill>
              <a:schemeClr val="bg1"/>
            </a:solidFill>
            <a:prstDash val="solid"/>
          </a:ln>
        </p:spPr>
      </p:sp>
      <p:sp>
        <p:nvSpPr>
          <p:cNvPr id="7" name="dot-4"/>
          <p:cNvSpPr/>
          <p:nvPr/>
        </p:nvSpPr>
        <p:spPr>
          <a:xfrm>
            <a:off x="2240280" y="1280160"/>
            <a:ext cx="256032" cy="256032"/>
          </a:xfrm>
          <a:prstGeom prst="ellipse">
            <a:avLst/>
          </a:prstGeom>
          <a:solidFill>
            <a:schemeClr val="accent1"/>
          </a:solidFill>
          <a:ln w="25400">
            <a:solidFill>
              <a:schemeClr val="bg1"/>
            </a:solidFill>
            <a:prstDash val="solid"/>
          </a:ln>
        </p:spPr>
      </p:sp>
      <p:sp>
        <p:nvSpPr>
          <p:cNvPr id="8" name="dot-5"/>
          <p:cNvSpPr/>
          <p:nvPr/>
        </p:nvSpPr>
        <p:spPr>
          <a:xfrm>
            <a:off x="2743200" y="1280160"/>
            <a:ext cx="256032" cy="256032"/>
          </a:xfrm>
          <a:prstGeom prst="ellipse">
            <a:avLst/>
          </a:prstGeom>
          <a:solidFill>
            <a:schemeClr val="accent1"/>
          </a:solidFill>
          <a:ln w="25400">
            <a:solidFill>
              <a:schemeClr val="bg1"/>
            </a:solidFill>
            <a:prstDash val="solid"/>
          </a:ln>
        </p:spPr>
      </p:sp>
      <p:sp>
        <p:nvSpPr>
          <p:cNvPr id="9" name="dot-6"/>
          <p:cNvSpPr/>
          <p:nvPr/>
        </p:nvSpPr>
        <p:spPr>
          <a:xfrm>
            <a:off x="3246120" y="1280160"/>
            <a:ext cx="256032" cy="256032"/>
          </a:xfrm>
          <a:prstGeom prst="ellipse">
            <a:avLst/>
          </a:prstGeom>
          <a:solidFill>
            <a:schemeClr val="accent2"/>
          </a:solidFill>
          <a:ln w="25400">
            <a:solidFill>
              <a:schemeClr val="bg1"/>
            </a:solidFill>
            <a:prstDash val="solid"/>
          </a:ln>
        </p:spPr>
      </p:sp>
      <p:sp>
        <p:nvSpPr>
          <p:cNvPr id="10" name="author"/>
          <p:cNvSpPr txBox="1"/>
          <p:nvPr/>
        </p:nvSpPr>
        <p:spPr>
          <a:xfrm>
            <a:off x="731520" y="5760720"/>
            <a:ext cx="5486400" cy="365760"/>
          </a:xfrm>
          <a:prstGeom prst="rect">
            <a:avLst/>
          </a:prstGeom>
          <a:noFill/>
          <a:ln/>
        </p:spPr>
        <p:txBody>
          <a:bodyPr wrap="square" lIns="0" tIns="0" rIns="0" bIns="0" rtlCol="0" anchor="ctr"/>
          <a:lstStyle/>
          <a:p>
            <a:pPr indent="0" marL="0">
              <a:buNone/>
            </a:pPr>
            <a:r>
              <a:rPr lang="en-US" sz="1600" dirty="0">
                <a:solidFill>
                  <a:schemeClr val="bg1"/>
                </a:solidFill>
              </a:rPr>
              <a:t>Nitin Bharti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Route map for this talk</a:t>
            </a:r>
            <a:endParaRPr lang="en-US" sz="3200" dirty="0"/>
          </a:p>
        </p:txBody>
      </p:sp>
      <p:sp>
        <p:nvSpPr>
          <p:cNvPr id="3" name="agenda-line"/>
          <p:cNvSpPr/>
          <p:nvPr/>
        </p:nvSpPr>
        <p:spPr>
          <a:xfrm>
            <a:off x="1280160" y="2788920"/>
            <a:ext cx="9692640" cy="0"/>
          </a:xfrm>
          <a:prstGeom prst="line">
            <a:avLst/>
          </a:prstGeom>
          <a:noFill/>
          <a:ln w="76200">
            <a:solidFill>
              <a:schemeClr val="accent1"/>
            </a:solidFill>
            <a:prstDash val="solid"/>
          </a:ln>
        </p:spPr>
      </p:sp>
      <p:sp>
        <p:nvSpPr>
          <p:cNvPr id="4" name="dot-7"/>
          <p:cNvSpPr/>
          <p:nvPr/>
        </p:nvSpPr>
        <p:spPr>
          <a:xfrm>
            <a:off x="868680" y="2377440"/>
            <a:ext cx="822960" cy="822960"/>
          </a:xfrm>
          <a:prstGeom prst="ellipse">
            <a:avLst/>
          </a:prstGeom>
          <a:solidFill>
            <a:schemeClr val="accent1"/>
          </a:solidFill>
          <a:ln w="25400">
            <a:solidFill>
              <a:schemeClr val="bg1"/>
            </a:solidFill>
            <a:prstDash val="solid"/>
          </a:ln>
        </p:spPr>
      </p:sp>
      <p:sp>
        <p:nvSpPr>
          <p:cNvPr id="5" name="dotlabel-8"/>
          <p:cNvSpPr txBox="1"/>
          <p:nvPr/>
        </p:nvSpPr>
        <p:spPr>
          <a:xfrm>
            <a:off x="868680" y="2377440"/>
            <a:ext cx="822960" cy="822960"/>
          </a:xfrm>
          <a:prstGeom prst="rect">
            <a:avLst/>
          </a:prstGeom>
          <a:noFill/>
          <a:ln/>
        </p:spPr>
        <p:txBody>
          <a:bodyPr wrap="square" lIns="0" tIns="0" rIns="0" bIns="0" rtlCol="0" anchor="ctr"/>
          <a:lstStyle/>
          <a:p>
            <a:pPr algn="ctr" indent="0" marL="0">
              <a:buNone/>
            </a:pPr>
            <a:r>
              <a:rPr lang="en-US" sz="2200" b="1" dirty="0">
                <a:solidFill>
                  <a:schemeClr val="tx1"/>
                </a:solidFill>
              </a:rPr>
              <a:t>1</a:t>
            </a:r>
            <a:endParaRPr lang="en-US" sz="2200" dirty="0"/>
          </a:p>
        </p:txBody>
      </p:sp>
      <p:sp>
        <p:nvSpPr>
          <p:cNvPr id="6" name="stop-title-9"/>
          <p:cNvSpPr txBox="1"/>
          <p:nvPr/>
        </p:nvSpPr>
        <p:spPr>
          <a:xfrm>
            <a:off x="274320" y="3429000"/>
            <a:ext cx="2011680" cy="457200"/>
          </a:xfrm>
          <a:prstGeom prst="rect">
            <a:avLst/>
          </a:prstGeom>
          <a:noFill/>
          <a:ln/>
        </p:spPr>
        <p:txBody>
          <a:bodyPr wrap="square" lIns="0" tIns="0" rIns="0" bIns="0" rtlCol="0" anchor="ctr"/>
          <a:lstStyle/>
          <a:p>
            <a:pPr algn="ctr" indent="0" marL="0">
              <a:buNone/>
            </a:pPr>
            <a:r>
              <a:rPr lang="en-US" sz="1800" b="1" dirty="0">
                <a:solidFill>
                  <a:schemeClr val="tx1"/>
                </a:solidFill>
              </a:rPr>
              <a:t>The original paper</a:t>
            </a:r>
            <a:endParaRPr lang="en-US" sz="1800" dirty="0"/>
          </a:p>
        </p:txBody>
      </p:sp>
      <p:sp>
        <p:nvSpPr>
          <p:cNvPr id="7" name="stop-desc-10"/>
          <p:cNvSpPr txBox="1"/>
          <p:nvPr/>
        </p:nvSpPr>
        <p:spPr>
          <a:xfrm>
            <a:off x="274320" y="3886200"/>
            <a:ext cx="2011680" cy="822960"/>
          </a:xfrm>
          <a:prstGeom prst="rect">
            <a:avLst/>
          </a:prstGeom>
          <a:noFill/>
          <a:ln/>
        </p:spPr>
        <p:txBody>
          <a:bodyPr wrap="square" lIns="0" tIns="0" rIns="0" bIns="0" rtlCol="0" anchor="ctr"/>
          <a:lstStyle/>
          <a:p>
            <a:pPr algn="ctr" indent="0" marL="0">
              <a:buNone/>
            </a:pPr>
            <a:r>
              <a:rPr lang="en-US" sz="1400" dirty="0">
                <a:solidFill>
                  <a:schemeClr val="tx2"/>
                </a:solidFill>
              </a:rPr>
              <a:t>What PVCGN does and why</a:t>
            </a:r>
            <a:endParaRPr lang="en-US" sz="1400" dirty="0"/>
          </a:p>
        </p:txBody>
      </p:sp>
      <p:sp>
        <p:nvSpPr>
          <p:cNvPr id="8" name="dot-11"/>
          <p:cNvSpPr/>
          <p:nvPr/>
        </p:nvSpPr>
        <p:spPr>
          <a:xfrm>
            <a:off x="3291840" y="2377440"/>
            <a:ext cx="822960" cy="822960"/>
          </a:xfrm>
          <a:prstGeom prst="ellipse">
            <a:avLst/>
          </a:prstGeom>
          <a:solidFill>
            <a:schemeClr val="accent1"/>
          </a:solidFill>
          <a:ln w="25400">
            <a:solidFill>
              <a:schemeClr val="bg1"/>
            </a:solidFill>
            <a:prstDash val="solid"/>
          </a:ln>
        </p:spPr>
      </p:sp>
      <p:sp>
        <p:nvSpPr>
          <p:cNvPr id="9" name="dotlabel-12"/>
          <p:cNvSpPr txBox="1"/>
          <p:nvPr/>
        </p:nvSpPr>
        <p:spPr>
          <a:xfrm>
            <a:off x="3291840" y="2377440"/>
            <a:ext cx="822960" cy="822960"/>
          </a:xfrm>
          <a:prstGeom prst="rect">
            <a:avLst/>
          </a:prstGeom>
          <a:noFill/>
          <a:ln/>
        </p:spPr>
        <p:txBody>
          <a:bodyPr wrap="square" lIns="0" tIns="0" rIns="0" bIns="0" rtlCol="0" anchor="ctr"/>
          <a:lstStyle/>
          <a:p>
            <a:pPr algn="ctr" indent="0" marL="0">
              <a:buNone/>
            </a:pPr>
            <a:r>
              <a:rPr lang="en-US" sz="2200" b="1" dirty="0">
                <a:solidFill>
                  <a:schemeClr val="tx1"/>
                </a:solidFill>
              </a:rPr>
              <a:t>2</a:t>
            </a:r>
            <a:endParaRPr lang="en-US" sz="2200" dirty="0"/>
          </a:p>
        </p:txBody>
      </p:sp>
      <p:sp>
        <p:nvSpPr>
          <p:cNvPr id="10" name="stop-title-13"/>
          <p:cNvSpPr txBox="1"/>
          <p:nvPr/>
        </p:nvSpPr>
        <p:spPr>
          <a:xfrm>
            <a:off x="2697480" y="3429000"/>
            <a:ext cx="2011680" cy="457200"/>
          </a:xfrm>
          <a:prstGeom prst="rect">
            <a:avLst/>
          </a:prstGeom>
          <a:noFill/>
          <a:ln/>
        </p:spPr>
        <p:txBody>
          <a:bodyPr wrap="square" lIns="0" tIns="0" rIns="0" bIns="0" rtlCol="0" anchor="ctr"/>
          <a:lstStyle/>
          <a:p>
            <a:pPr algn="ctr" indent="0" marL="0">
              <a:buNone/>
            </a:pPr>
            <a:r>
              <a:rPr lang="en-US" sz="1800" b="1" dirty="0">
                <a:solidFill>
                  <a:schemeClr val="tx1"/>
                </a:solidFill>
              </a:rPr>
              <a:t>Research gap</a:t>
            </a:r>
            <a:endParaRPr lang="en-US" sz="1800" dirty="0"/>
          </a:p>
        </p:txBody>
      </p:sp>
      <p:sp>
        <p:nvSpPr>
          <p:cNvPr id="11" name="stop-desc-14"/>
          <p:cNvSpPr txBox="1"/>
          <p:nvPr/>
        </p:nvSpPr>
        <p:spPr>
          <a:xfrm>
            <a:off x="2697480" y="3886200"/>
            <a:ext cx="2011680" cy="822960"/>
          </a:xfrm>
          <a:prstGeom prst="rect">
            <a:avLst/>
          </a:prstGeom>
          <a:noFill/>
          <a:ln/>
        </p:spPr>
        <p:txBody>
          <a:bodyPr wrap="square" lIns="0" tIns="0" rIns="0" bIns="0" rtlCol="0" anchor="ctr"/>
          <a:lstStyle/>
          <a:p>
            <a:pPr algn="ctr" indent="0" marL="0">
              <a:buNone/>
            </a:pPr>
            <a:r>
              <a:rPr lang="en-US" sz="1400" dirty="0">
                <a:solidFill>
                  <a:schemeClr val="tx2"/>
                </a:solidFill>
              </a:rPr>
              <a:t>What PVCGN misses, with evidence</a:t>
            </a:r>
            <a:endParaRPr lang="en-US" sz="1400" dirty="0"/>
          </a:p>
        </p:txBody>
      </p:sp>
      <p:sp>
        <p:nvSpPr>
          <p:cNvPr id="12" name="dot-15"/>
          <p:cNvSpPr/>
          <p:nvPr/>
        </p:nvSpPr>
        <p:spPr>
          <a:xfrm>
            <a:off x="5715000" y="2377440"/>
            <a:ext cx="822960" cy="822960"/>
          </a:xfrm>
          <a:prstGeom prst="ellipse">
            <a:avLst/>
          </a:prstGeom>
          <a:solidFill>
            <a:schemeClr val="accent2"/>
          </a:solidFill>
          <a:ln w="25400">
            <a:solidFill>
              <a:schemeClr val="bg1"/>
            </a:solidFill>
            <a:prstDash val="solid"/>
          </a:ln>
        </p:spPr>
      </p:sp>
      <p:sp>
        <p:nvSpPr>
          <p:cNvPr id="13" name="dotlabel-16"/>
          <p:cNvSpPr txBox="1"/>
          <p:nvPr/>
        </p:nvSpPr>
        <p:spPr>
          <a:xfrm>
            <a:off x="5715000" y="2377440"/>
            <a:ext cx="822960" cy="82296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4" name="stop-title-17"/>
          <p:cNvSpPr txBox="1"/>
          <p:nvPr/>
        </p:nvSpPr>
        <p:spPr>
          <a:xfrm>
            <a:off x="5120640" y="3429000"/>
            <a:ext cx="2011680" cy="457200"/>
          </a:xfrm>
          <a:prstGeom prst="rect">
            <a:avLst/>
          </a:prstGeom>
          <a:noFill/>
          <a:ln/>
        </p:spPr>
        <p:txBody>
          <a:bodyPr wrap="square" lIns="0" tIns="0" rIns="0" bIns="0" rtlCol="0" anchor="ctr"/>
          <a:lstStyle/>
          <a:p>
            <a:pPr algn="ctr" indent="0" marL="0">
              <a:buNone/>
            </a:pPr>
            <a:r>
              <a:rPr lang="en-US" sz="1800" b="1" dirty="0">
                <a:solidFill>
                  <a:schemeClr val="tx1"/>
                </a:solidFill>
              </a:rPr>
              <a:t>Our solution</a:t>
            </a:r>
            <a:endParaRPr lang="en-US" sz="1800" dirty="0"/>
          </a:p>
        </p:txBody>
      </p:sp>
      <p:sp>
        <p:nvSpPr>
          <p:cNvPr id="15" name="stop-desc-18"/>
          <p:cNvSpPr txBox="1"/>
          <p:nvPr/>
        </p:nvSpPr>
        <p:spPr>
          <a:xfrm>
            <a:off x="5120640" y="3886200"/>
            <a:ext cx="2011680" cy="822960"/>
          </a:xfrm>
          <a:prstGeom prst="rect">
            <a:avLst/>
          </a:prstGeom>
          <a:noFill/>
          <a:ln/>
        </p:spPr>
        <p:txBody>
          <a:bodyPr wrap="square" lIns="0" tIns="0" rIns="0" bIns="0" rtlCol="0" anchor="ctr"/>
          <a:lstStyle/>
          <a:p>
            <a:pPr algn="ctr" indent="0" marL="0">
              <a:buNone/>
            </a:pPr>
            <a:r>
              <a:rPr lang="en-US" sz="1400" dirty="0">
                <a:solidFill>
                  <a:schemeClr val="tx2"/>
                </a:solidFill>
              </a:rPr>
              <a:t>PT-PVCGN and how we test it fairly</a:t>
            </a:r>
            <a:endParaRPr lang="en-US" sz="1400" dirty="0"/>
          </a:p>
        </p:txBody>
      </p:sp>
      <p:sp>
        <p:nvSpPr>
          <p:cNvPr id="16" name="dot-19"/>
          <p:cNvSpPr/>
          <p:nvPr/>
        </p:nvSpPr>
        <p:spPr>
          <a:xfrm>
            <a:off x="8138160" y="2377440"/>
            <a:ext cx="822960" cy="822960"/>
          </a:xfrm>
          <a:prstGeom prst="ellipse">
            <a:avLst/>
          </a:prstGeom>
          <a:solidFill>
            <a:schemeClr val="accent1"/>
          </a:solidFill>
          <a:ln w="25400">
            <a:solidFill>
              <a:schemeClr val="bg1"/>
            </a:solidFill>
            <a:prstDash val="solid"/>
          </a:ln>
        </p:spPr>
      </p:sp>
      <p:sp>
        <p:nvSpPr>
          <p:cNvPr id="17" name="dotlabel-20"/>
          <p:cNvSpPr txBox="1"/>
          <p:nvPr/>
        </p:nvSpPr>
        <p:spPr>
          <a:xfrm>
            <a:off x="8138160" y="2377440"/>
            <a:ext cx="822960" cy="822960"/>
          </a:xfrm>
          <a:prstGeom prst="rect">
            <a:avLst/>
          </a:prstGeom>
          <a:noFill/>
          <a:ln/>
        </p:spPr>
        <p:txBody>
          <a:bodyPr wrap="square" lIns="0" tIns="0" rIns="0" bIns="0" rtlCol="0" anchor="ctr"/>
          <a:lstStyle/>
          <a:p>
            <a:pPr algn="ctr" indent="0" marL="0">
              <a:buNone/>
            </a:pPr>
            <a:r>
              <a:rPr lang="en-US" sz="2200" b="1" dirty="0">
                <a:solidFill>
                  <a:schemeClr val="tx1"/>
                </a:solidFill>
              </a:rPr>
              <a:t>4</a:t>
            </a:r>
            <a:endParaRPr lang="en-US" sz="2200" dirty="0"/>
          </a:p>
        </p:txBody>
      </p:sp>
      <p:sp>
        <p:nvSpPr>
          <p:cNvPr id="18" name="stop-title-21"/>
          <p:cNvSpPr txBox="1"/>
          <p:nvPr/>
        </p:nvSpPr>
        <p:spPr>
          <a:xfrm>
            <a:off x="7543800" y="3429000"/>
            <a:ext cx="2011680" cy="457200"/>
          </a:xfrm>
          <a:prstGeom prst="rect">
            <a:avLst/>
          </a:prstGeom>
          <a:noFill/>
          <a:ln/>
        </p:spPr>
        <p:txBody>
          <a:bodyPr wrap="square" lIns="0" tIns="0" rIns="0" bIns="0" rtlCol="0" anchor="ctr"/>
          <a:lstStyle/>
          <a:p>
            <a:pPr algn="ctr" indent="0" marL="0">
              <a:buNone/>
            </a:pPr>
            <a:r>
              <a:rPr lang="en-US" sz="1800" b="1" dirty="0">
                <a:solidFill>
                  <a:schemeClr val="tx1"/>
                </a:solidFill>
              </a:rPr>
              <a:t>Code walkthrough</a:t>
            </a:r>
            <a:endParaRPr lang="en-US" sz="1800" dirty="0"/>
          </a:p>
        </p:txBody>
      </p:sp>
      <p:sp>
        <p:nvSpPr>
          <p:cNvPr id="19" name="stop-desc-22"/>
          <p:cNvSpPr txBox="1"/>
          <p:nvPr/>
        </p:nvSpPr>
        <p:spPr>
          <a:xfrm>
            <a:off x="7543800" y="3886200"/>
            <a:ext cx="2011680" cy="822960"/>
          </a:xfrm>
          <a:prstGeom prst="rect">
            <a:avLst/>
          </a:prstGeom>
          <a:noFill/>
          <a:ln/>
        </p:spPr>
        <p:txBody>
          <a:bodyPr wrap="square" lIns="0" tIns="0" rIns="0" bIns="0" rtlCol="0" anchor="ctr"/>
          <a:lstStyle/>
          <a:p>
            <a:pPr algn="ctr" indent="0" marL="0">
              <a:buNone/>
            </a:pPr>
            <a:r>
              <a:rPr lang="en-US" sz="1400" dirty="0">
                <a:solidFill>
                  <a:schemeClr val="tx2"/>
                </a:solidFill>
              </a:rPr>
              <a:t>Every folder and file, and its purpose</a:t>
            </a:r>
            <a:endParaRPr lang="en-US" sz="1400" dirty="0"/>
          </a:p>
        </p:txBody>
      </p:sp>
      <p:sp>
        <p:nvSpPr>
          <p:cNvPr id="20" name="dot-23"/>
          <p:cNvSpPr/>
          <p:nvPr/>
        </p:nvSpPr>
        <p:spPr>
          <a:xfrm>
            <a:off x="10561320" y="2377440"/>
            <a:ext cx="822960" cy="822960"/>
          </a:xfrm>
          <a:prstGeom prst="ellipse">
            <a:avLst/>
          </a:prstGeom>
          <a:solidFill>
            <a:schemeClr val="accent1"/>
          </a:solidFill>
          <a:ln w="25400">
            <a:solidFill>
              <a:schemeClr val="bg1"/>
            </a:solidFill>
            <a:prstDash val="solid"/>
          </a:ln>
        </p:spPr>
      </p:sp>
      <p:sp>
        <p:nvSpPr>
          <p:cNvPr id="21" name="dotlabel-24"/>
          <p:cNvSpPr txBox="1"/>
          <p:nvPr/>
        </p:nvSpPr>
        <p:spPr>
          <a:xfrm>
            <a:off x="10561320" y="2377440"/>
            <a:ext cx="822960" cy="822960"/>
          </a:xfrm>
          <a:prstGeom prst="rect">
            <a:avLst/>
          </a:prstGeom>
          <a:noFill/>
          <a:ln/>
        </p:spPr>
        <p:txBody>
          <a:bodyPr wrap="square" lIns="0" tIns="0" rIns="0" bIns="0" rtlCol="0" anchor="ctr"/>
          <a:lstStyle/>
          <a:p>
            <a:pPr algn="ctr" indent="0" marL="0">
              <a:buNone/>
            </a:pPr>
            <a:r>
              <a:rPr lang="en-US" sz="2200" b="1" dirty="0">
                <a:solidFill>
                  <a:schemeClr val="tx1"/>
                </a:solidFill>
              </a:rPr>
              <a:t>5</a:t>
            </a:r>
            <a:endParaRPr lang="en-US" sz="2200" dirty="0"/>
          </a:p>
        </p:txBody>
      </p:sp>
      <p:sp>
        <p:nvSpPr>
          <p:cNvPr id="22" name="stop-title-25"/>
          <p:cNvSpPr txBox="1"/>
          <p:nvPr/>
        </p:nvSpPr>
        <p:spPr>
          <a:xfrm>
            <a:off x="9966960" y="3429000"/>
            <a:ext cx="2011680" cy="457200"/>
          </a:xfrm>
          <a:prstGeom prst="rect">
            <a:avLst/>
          </a:prstGeom>
          <a:noFill/>
          <a:ln/>
        </p:spPr>
        <p:txBody>
          <a:bodyPr wrap="square" lIns="0" tIns="0" rIns="0" bIns="0" rtlCol="0" anchor="ctr"/>
          <a:lstStyle/>
          <a:p>
            <a:pPr algn="ctr" indent="0" marL="0">
              <a:buNone/>
            </a:pPr>
            <a:r>
              <a:rPr lang="en-US" sz="1800" b="1" dirty="0">
                <a:solidFill>
                  <a:schemeClr val="tx1"/>
                </a:solidFill>
              </a:rPr>
              <a:t>Results</a:t>
            </a:r>
            <a:endParaRPr lang="en-US" sz="1800" dirty="0"/>
          </a:p>
        </p:txBody>
      </p:sp>
      <p:sp>
        <p:nvSpPr>
          <p:cNvPr id="23" name="stop-desc-26"/>
          <p:cNvSpPr txBox="1"/>
          <p:nvPr/>
        </p:nvSpPr>
        <p:spPr>
          <a:xfrm>
            <a:off x="9966960" y="3886200"/>
            <a:ext cx="2011680" cy="822960"/>
          </a:xfrm>
          <a:prstGeom prst="rect">
            <a:avLst/>
          </a:prstGeom>
          <a:noFill/>
          <a:ln/>
        </p:spPr>
        <p:txBody>
          <a:bodyPr wrap="square" lIns="0" tIns="0" rIns="0" bIns="0" rtlCol="0" anchor="ctr"/>
          <a:lstStyle/>
          <a:p>
            <a:pPr algn="ctr" indent="0" marL="0">
              <a:buNone/>
            </a:pPr>
            <a:r>
              <a:rPr lang="en-US" sz="1400" dirty="0">
                <a:solidFill>
                  <a:schemeClr val="tx2"/>
                </a:solidFill>
              </a:rPr>
              <a:t>Final test results and conclusion</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2377440" y="2377440"/>
            <a:ext cx="9144000" cy="1097280"/>
          </a:xfrm>
          <a:prstGeom prst="rect">
            <a:avLst/>
          </a:prstGeom>
          <a:noFill/>
          <a:ln/>
        </p:spPr>
        <p:txBody>
          <a:bodyPr wrap="square"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The original paper: PVCGN</a:t>
            </a:r>
            <a:endParaRPr lang="en-US" sz="4000" dirty="0"/>
          </a:p>
        </p:txBody>
      </p:sp>
      <p:sp>
        <p:nvSpPr>
          <p:cNvPr id="3" name="Text 0"/>
          <p:cNvSpPr/>
          <p:nvPr>
            <p:ph idx="101" type="body" hasCustomPrompt="1"/>
          </p:nvPr>
        </p:nvSpPr>
        <p:spPr>
          <a:xfrm>
            <a:off x="2377440" y="3474720"/>
            <a:ext cx="9144000" cy="914400"/>
          </a:xfrm>
          <a:prstGeom prst="rect">
            <a:avLst/>
          </a:prstGeom>
          <a:noFill/>
          <a:ln/>
        </p:spPr>
        <p:txBody>
          <a:bodyPr wrap="square" rtlCol="0" anchor="t"/>
          <a:lstStyle/>
          <a:p>
            <a:pPr algn="l" indent="0" marL="0">
              <a:buNone/>
            </a:pPr>
            <a:r>
              <a:rPr lang="en-US" sz="1800" dirty="0">
                <a:solidFill>
                  <a:schemeClr val="accent6"/>
                </a:solidFill>
              </a:rPr>
              <a:t>Physical-Virtual Collaboration Graph Network — Liu, Chen, Wu, Zhen, Li, Lin · IEEE T-ITS 23(4), 2022</a:t>
            </a:r>
            <a:endParaRPr lang="en-US" sz="1800" dirty="0"/>
          </a:p>
        </p:txBody>
      </p:sp>
      <p:sp>
        <p:nvSpPr>
          <p:cNvPr id="4" name="dot-27"/>
          <p:cNvSpPr/>
          <p:nvPr/>
        </p:nvSpPr>
        <p:spPr>
          <a:xfrm>
            <a:off x="822960" y="2514600"/>
            <a:ext cx="1097280" cy="1097280"/>
          </a:xfrm>
          <a:prstGeom prst="ellipse">
            <a:avLst/>
          </a:prstGeom>
          <a:solidFill>
            <a:schemeClr val="accent1"/>
          </a:solidFill>
          <a:ln w="25400">
            <a:solidFill>
              <a:schemeClr val="bg1"/>
            </a:solidFill>
            <a:prstDash val="solid"/>
          </a:ln>
        </p:spPr>
      </p:sp>
      <p:sp>
        <p:nvSpPr>
          <p:cNvPr id="5" name="dotlabel-28"/>
          <p:cNvSpPr txBox="1"/>
          <p:nvPr/>
        </p:nvSpPr>
        <p:spPr>
          <a:xfrm>
            <a:off x="822960" y="2514600"/>
            <a:ext cx="1097280" cy="1097280"/>
          </a:xfrm>
          <a:prstGeom prst="rect">
            <a:avLst/>
          </a:prstGeom>
          <a:noFill/>
          <a:ln/>
        </p:spPr>
        <p:txBody>
          <a:bodyPr wrap="square" lIns="0" tIns="0" rIns="0" bIns="0" rtlCol="0" anchor="ctr"/>
          <a:lstStyle/>
          <a:p>
            <a:pPr algn="ctr" indent="0" marL="0">
              <a:buNone/>
            </a:pPr>
            <a:r>
              <a:rPr lang="en-US" sz="3200" b="1" dirty="0">
                <a:solidFill>
                  <a:schemeClr val="tx1"/>
                </a:solidFill>
              </a:rPr>
              <a:t>1</a:t>
            </a:r>
            <a:endParaRPr lang="en-US"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The problem: forecast every station's next hour</a:t>
            </a:r>
            <a:endParaRPr lang="en-US" sz="3200" dirty="0"/>
          </a:p>
        </p:txBody>
      </p:sp>
      <p:sp>
        <p:nvSpPr>
          <p:cNvPr id="3" name="stat-bg-29"/>
          <p:cNvSpPr/>
          <p:nvPr/>
        </p:nvSpPr>
        <p:spPr>
          <a:xfrm>
            <a:off x="548640" y="1417320"/>
            <a:ext cx="3520440" cy="2011680"/>
          </a:xfrm>
          <a:prstGeom prst="roundRect">
            <a:avLst>
              <a:gd name="adj" fmla="val 3636"/>
            </a:avLst>
          </a:prstGeom>
          <a:solidFill>
            <a:schemeClr val="bg2"/>
          </a:solidFill>
          <a:ln w="12700">
            <a:solidFill>
              <a:schemeClr val="bg2"/>
            </a:solidFill>
            <a:prstDash val="solid"/>
          </a:ln>
        </p:spPr>
      </p:sp>
      <p:sp>
        <p:nvSpPr>
          <p:cNvPr id="4" name="stat-30"/>
          <p:cNvSpPr txBox="1"/>
          <p:nvPr/>
        </p:nvSpPr>
        <p:spPr>
          <a:xfrm>
            <a:off x="777240" y="1554480"/>
            <a:ext cx="3108960" cy="1005840"/>
          </a:xfrm>
          <a:prstGeom prst="rect">
            <a:avLst/>
          </a:prstGeom>
          <a:noFill/>
          <a:ln/>
        </p:spPr>
        <p:txBody>
          <a:bodyPr wrap="square" lIns="0" tIns="0" rIns="0" bIns="0" rtlCol="0" anchor="ctr"/>
          <a:lstStyle/>
          <a:p>
            <a:pPr indent="0" marL="0">
              <a:buNone/>
            </a:pPr>
            <a:r>
              <a:rPr lang="en-US" sz="5400" b="1" dirty="0">
                <a:solidFill>
                  <a:schemeClr val="accent5"/>
                </a:solidFill>
                <a:latin typeface="Cambria" pitchFamily="34" charset="0"/>
                <a:ea typeface="Cambria" pitchFamily="34" charset="-122"/>
                <a:cs typeface="Cambria" pitchFamily="34" charset="-120"/>
              </a:rPr>
              <a:t>8.8 M</a:t>
            </a:r>
            <a:endParaRPr lang="en-US" sz="5400" dirty="0"/>
          </a:p>
        </p:txBody>
      </p:sp>
      <p:sp>
        <p:nvSpPr>
          <p:cNvPr id="5" name="stat-label-31"/>
          <p:cNvSpPr txBox="1"/>
          <p:nvPr/>
        </p:nvSpPr>
        <p:spPr>
          <a:xfrm>
            <a:off x="777240" y="2606040"/>
            <a:ext cx="3108960" cy="731520"/>
          </a:xfrm>
          <a:prstGeom prst="rect">
            <a:avLst/>
          </a:prstGeom>
          <a:noFill/>
          <a:ln/>
        </p:spPr>
        <p:txBody>
          <a:bodyPr wrap="square" lIns="0" tIns="0" rIns="0" bIns="0" rtlCol="0" anchor="ctr"/>
          <a:lstStyle/>
          <a:p>
            <a:pPr indent="0" marL="0">
              <a:buNone/>
            </a:pPr>
            <a:r>
              <a:rPr lang="en-US" sz="1400" dirty="0">
                <a:solidFill>
                  <a:schemeClr val="tx2"/>
                </a:solidFill>
              </a:rPr>
              <a:t>trips per day on the Shanghai metro (2016 data)</a:t>
            </a:r>
            <a:endParaRPr lang="en-US" sz="1400" dirty="0"/>
          </a:p>
        </p:txBody>
      </p:sp>
      <p:sp>
        <p:nvSpPr>
          <p:cNvPr id="6" name="stat-bg-32"/>
          <p:cNvSpPr/>
          <p:nvPr/>
        </p:nvSpPr>
        <p:spPr>
          <a:xfrm>
            <a:off x="4343400" y="1417320"/>
            <a:ext cx="3520440" cy="2011680"/>
          </a:xfrm>
          <a:prstGeom prst="roundRect">
            <a:avLst>
              <a:gd name="adj" fmla="val 3636"/>
            </a:avLst>
          </a:prstGeom>
          <a:solidFill>
            <a:schemeClr val="bg2"/>
          </a:solidFill>
          <a:ln w="12700">
            <a:solidFill>
              <a:schemeClr val="bg2"/>
            </a:solidFill>
            <a:prstDash val="solid"/>
          </a:ln>
        </p:spPr>
      </p:sp>
      <p:sp>
        <p:nvSpPr>
          <p:cNvPr id="7" name="stat-33"/>
          <p:cNvSpPr txBox="1"/>
          <p:nvPr/>
        </p:nvSpPr>
        <p:spPr>
          <a:xfrm>
            <a:off x="4572000" y="1554480"/>
            <a:ext cx="3108960" cy="1005840"/>
          </a:xfrm>
          <a:prstGeom prst="rect">
            <a:avLst/>
          </a:prstGeom>
          <a:noFill/>
          <a:ln/>
        </p:spPr>
        <p:txBody>
          <a:bodyPr wrap="square" lIns="0" tIns="0" rIns="0" bIns="0" rtlCol="0" anchor="ctr"/>
          <a:lstStyle/>
          <a:p>
            <a:pPr indent="0" marL="0">
              <a:buNone/>
            </a:pPr>
            <a:r>
              <a:rPr lang="en-US" sz="5400" b="1" dirty="0">
                <a:solidFill>
                  <a:schemeClr val="accent5"/>
                </a:solidFill>
                <a:latin typeface="Cambria" pitchFamily="34" charset="0"/>
                <a:ea typeface="Cambria" pitchFamily="34" charset="-122"/>
                <a:cs typeface="Cambria" pitchFamily="34" charset="-120"/>
              </a:rPr>
              <a:t>15 min</a:t>
            </a:r>
            <a:endParaRPr lang="en-US" sz="5400" dirty="0"/>
          </a:p>
        </p:txBody>
      </p:sp>
      <p:sp>
        <p:nvSpPr>
          <p:cNvPr id="8" name="stat-label-34"/>
          <p:cNvSpPr txBox="1"/>
          <p:nvPr/>
        </p:nvSpPr>
        <p:spPr>
          <a:xfrm>
            <a:off x="4572000" y="2606040"/>
            <a:ext cx="3108960" cy="731520"/>
          </a:xfrm>
          <a:prstGeom prst="rect">
            <a:avLst/>
          </a:prstGeom>
          <a:noFill/>
          <a:ln/>
        </p:spPr>
        <p:txBody>
          <a:bodyPr wrap="square" lIns="0" tIns="0" rIns="0" bIns="0" rtlCol="0" anchor="ctr"/>
          <a:lstStyle/>
          <a:p>
            <a:pPr indent="0" marL="0">
              <a:buNone/>
            </a:pPr>
            <a:r>
              <a:rPr lang="en-US" sz="1400" dirty="0">
                <a:solidFill>
                  <a:schemeClr val="tx2"/>
                </a:solidFill>
              </a:rPr>
              <a:t>time resolution: inflow and outflow per station</a:t>
            </a:r>
            <a:endParaRPr lang="en-US" sz="1400" dirty="0"/>
          </a:p>
        </p:txBody>
      </p:sp>
      <p:sp>
        <p:nvSpPr>
          <p:cNvPr id="9" name="stat-bg-35"/>
          <p:cNvSpPr/>
          <p:nvPr/>
        </p:nvSpPr>
        <p:spPr>
          <a:xfrm>
            <a:off x="8138160" y="1417320"/>
            <a:ext cx="3520440" cy="2011680"/>
          </a:xfrm>
          <a:prstGeom prst="roundRect">
            <a:avLst>
              <a:gd name="adj" fmla="val 3636"/>
            </a:avLst>
          </a:prstGeom>
          <a:solidFill>
            <a:schemeClr val="bg2"/>
          </a:solidFill>
          <a:ln w="12700">
            <a:solidFill>
              <a:schemeClr val="bg2"/>
            </a:solidFill>
            <a:prstDash val="solid"/>
          </a:ln>
        </p:spPr>
      </p:sp>
      <p:sp>
        <p:nvSpPr>
          <p:cNvPr id="10" name="stat-36"/>
          <p:cNvSpPr txBox="1"/>
          <p:nvPr/>
        </p:nvSpPr>
        <p:spPr>
          <a:xfrm>
            <a:off x="8366760" y="1554480"/>
            <a:ext cx="3108960" cy="1005840"/>
          </a:xfrm>
          <a:prstGeom prst="rect">
            <a:avLst/>
          </a:prstGeom>
          <a:noFill/>
          <a:ln/>
        </p:spPr>
        <p:txBody>
          <a:bodyPr wrap="square" lIns="0" tIns="0" rIns="0" bIns="0" rtlCol="0" anchor="ctr"/>
          <a:lstStyle/>
          <a:p>
            <a:pPr indent="0" marL="0">
              <a:buNone/>
            </a:pPr>
            <a:r>
              <a:rPr lang="en-US" sz="5400" b="1" dirty="0">
                <a:solidFill>
                  <a:schemeClr val="accent5"/>
                </a:solidFill>
                <a:latin typeface="Cambria" pitchFamily="34" charset="0"/>
                <a:ea typeface="Cambria" pitchFamily="34" charset="-122"/>
                <a:cs typeface="Cambria" pitchFamily="34" charset="-120"/>
              </a:rPr>
              <a:t>1 hour</a:t>
            </a:r>
            <a:endParaRPr lang="en-US" sz="5400" dirty="0"/>
          </a:p>
        </p:txBody>
      </p:sp>
      <p:sp>
        <p:nvSpPr>
          <p:cNvPr id="11" name="stat-label-37"/>
          <p:cNvSpPr txBox="1"/>
          <p:nvPr/>
        </p:nvSpPr>
        <p:spPr>
          <a:xfrm>
            <a:off x="8366760" y="2606040"/>
            <a:ext cx="3108960" cy="731520"/>
          </a:xfrm>
          <a:prstGeom prst="rect">
            <a:avLst/>
          </a:prstGeom>
          <a:noFill/>
          <a:ln/>
        </p:spPr>
        <p:txBody>
          <a:bodyPr wrap="square" lIns="0" tIns="0" rIns="0" bIns="0" rtlCol="0" anchor="ctr"/>
          <a:lstStyle/>
          <a:p>
            <a:pPr indent="0" marL="0">
              <a:buNone/>
            </a:pPr>
            <a:r>
              <a:rPr lang="en-US" sz="1400" dirty="0">
                <a:solidFill>
                  <a:schemeClr val="tx2"/>
                </a:solidFill>
              </a:rPr>
              <a:t>forecast horizon: the next four 15-minute slots</a:t>
            </a:r>
            <a:endParaRPr lang="en-US" sz="1400" dirty="0"/>
          </a:p>
        </p:txBody>
      </p:sp>
      <p:sp>
        <p:nvSpPr>
          <p:cNvPr id="12" name="why"/>
          <p:cNvSpPr txBox="1"/>
          <p:nvPr/>
        </p:nvSpPr>
        <p:spPr>
          <a:xfrm>
            <a:off x="548640" y="3840480"/>
            <a:ext cx="11064240" cy="1097280"/>
          </a:xfrm>
          <a:prstGeom prst="rect">
            <a:avLst/>
          </a:prstGeom>
          <a:noFill/>
          <a:ln/>
        </p:spPr>
        <p:txBody>
          <a:bodyPr wrap="square" lIns="0" tIns="0" rIns="0" bIns="0" rtlCol="0" anchor="ctr"/>
          <a:lstStyle/>
          <a:p>
            <a:pPr indent="0" marL="0">
              <a:buNone/>
            </a:pPr>
            <a:r>
              <a:rPr lang="en-US" sz="1600" b="1" dirty="0">
                <a:solidFill>
                  <a:schemeClr val="tx1"/>
                </a:solidFill>
              </a:rPr>
              <a:t>Why it matters: </a:t>
            </a:r>
            <a:pPr indent="0" marL="0">
              <a:buNone/>
            </a:pPr>
            <a:r>
              <a:rPr lang="en-US" sz="1600" dirty="0">
                <a:solidFill>
                  <a:schemeClr val="tx1"/>
                </a:solidFill>
              </a:rPr>
              <a:t>operators use these forecasts to add trains before crowds build, place staff at busy stations, control platform crowding and warn passengers. A wrong forecast at rush hour can mean dangerous overcrowding or wasted trains.</a:t>
            </a:r>
            <a:endParaRPr lang="en-US" sz="1600" dirty="0"/>
          </a:p>
        </p:txBody>
      </p:sp>
      <p:sp>
        <p:nvSpPr>
          <p:cNvPr id="13" name="def"/>
          <p:cNvSpPr txBox="1"/>
          <p:nvPr/>
        </p:nvSpPr>
        <p:spPr>
          <a:xfrm>
            <a:off x="548640" y="5074920"/>
            <a:ext cx="11064240" cy="731520"/>
          </a:xfrm>
          <a:prstGeom prst="rect">
            <a:avLst/>
          </a:prstGeom>
          <a:noFill/>
          <a:ln/>
        </p:spPr>
        <p:txBody>
          <a:bodyPr wrap="square" lIns="0" tIns="0" rIns="0" bIns="0" rtlCol="0" anchor="ctr"/>
          <a:lstStyle/>
          <a:p>
            <a:pPr indent="0" marL="0">
              <a:buNone/>
            </a:pPr>
            <a:r>
              <a:rPr lang="en-US" sz="1400" b="1" dirty="0">
                <a:solidFill>
                  <a:schemeClr val="tx2"/>
                </a:solidFill>
              </a:rPr>
              <a:t>Inflow</a:t>
            </a:r>
            <a:pPr indent="0" marL="0">
              <a:buNone/>
            </a:pPr>
            <a:r>
              <a:rPr lang="en-US" sz="1400" dirty="0">
                <a:solidFill>
                  <a:schemeClr val="tx2"/>
                </a:solidFill>
              </a:rPr>
              <a:t> = passengers entering a station.  </a:t>
            </a:r>
            <a:pPr indent="0" marL="0">
              <a:buNone/>
            </a:pPr>
            <a:r>
              <a:rPr lang="en-US" sz="1400" b="1" dirty="0">
                <a:solidFill>
                  <a:schemeClr val="tx2"/>
                </a:solidFill>
              </a:rPr>
              <a:t>Outflow</a:t>
            </a:r>
            <a:pPr indent="0" marL="0">
              <a:buNone/>
            </a:pPr>
            <a:r>
              <a:rPr lang="en-US" sz="1400" dirty="0">
                <a:solidFill>
                  <a:schemeClr val="tx2"/>
                </a:solidFill>
              </a:rPr>
              <a:t> = passengers leaving it.  Both are counted every 15 minutes from smart-card taps.</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PVCGN's idea: describe the metro with three graphs</a:t>
            </a:r>
            <a:endParaRPr lang="en-US" sz="3200" dirty="0"/>
          </a:p>
        </p:txBody>
      </p:sp>
      <p:sp>
        <p:nvSpPr>
          <p:cNvPr id="3" name="card-38"/>
          <p:cNvSpPr/>
          <p:nvPr/>
        </p:nvSpPr>
        <p:spPr>
          <a:xfrm>
            <a:off x="548640" y="1417320"/>
            <a:ext cx="3520440" cy="2743200"/>
          </a:xfrm>
          <a:prstGeom prst="roundRect">
            <a:avLst>
              <a:gd name="adj" fmla="val 2667"/>
            </a:avLst>
          </a:prstGeom>
          <a:solidFill>
            <a:schemeClr val="bg2"/>
          </a:solidFill>
          <a:ln w="12700">
            <a:solidFill>
              <a:schemeClr val="bg2"/>
            </a:solidFill>
            <a:prstDash val="solid"/>
          </a:ln>
        </p:spPr>
      </p:sp>
      <p:sp>
        <p:nvSpPr>
          <p:cNvPr id="4" name="dot-39"/>
          <p:cNvSpPr/>
          <p:nvPr/>
        </p:nvSpPr>
        <p:spPr>
          <a:xfrm>
            <a:off x="731520" y="1618488"/>
            <a:ext cx="237744" cy="237744"/>
          </a:xfrm>
          <a:prstGeom prst="ellipse">
            <a:avLst/>
          </a:prstGeom>
          <a:solidFill>
            <a:schemeClr val="accent1"/>
          </a:solidFill>
          <a:ln w="25400">
            <a:solidFill>
              <a:schemeClr val="bg1"/>
            </a:solidFill>
            <a:prstDash val="solid"/>
          </a:ln>
        </p:spPr>
      </p:sp>
      <p:sp>
        <p:nvSpPr>
          <p:cNvPr id="5" name="cardtitle-40"/>
          <p:cNvSpPr txBox="1"/>
          <p:nvPr/>
        </p:nvSpPr>
        <p:spPr>
          <a:xfrm>
            <a:off x="1060704" y="1527048"/>
            <a:ext cx="2880360" cy="420624"/>
          </a:xfrm>
          <a:prstGeom prst="rect">
            <a:avLst/>
          </a:prstGeom>
          <a:noFill/>
          <a:ln/>
        </p:spPr>
        <p:txBody>
          <a:bodyPr wrap="square" lIns="0" tIns="0" rIns="0" bIns="0" rtlCol="0" anchor="ctr"/>
          <a:lstStyle/>
          <a:p>
            <a:pPr indent="0" marL="0">
              <a:buNone/>
            </a:pPr>
            <a:r>
              <a:rPr lang="en-US" sz="1600" b="1" dirty="0">
                <a:solidFill>
                  <a:schemeClr val="tx1"/>
                </a:solidFill>
              </a:rPr>
              <a:t>Physical graph</a:t>
            </a:r>
            <a:endParaRPr lang="en-US" sz="1600" dirty="0"/>
          </a:p>
        </p:txBody>
      </p:sp>
      <p:sp>
        <p:nvSpPr>
          <p:cNvPr id="6" name="cardbody-41"/>
          <p:cNvSpPr txBox="1"/>
          <p:nvPr/>
        </p:nvSpPr>
        <p:spPr>
          <a:xfrm>
            <a:off x="731520" y="1984248"/>
            <a:ext cx="3154680" cy="2066544"/>
          </a:xfrm>
          <a:prstGeom prst="rect">
            <a:avLst/>
          </a:prstGeom>
          <a:noFill/>
          <a:ln/>
        </p:spPr>
        <p:txBody>
          <a:bodyPr wrap="square" lIns="0" tIns="0" rIns="0" bIns="0" rtlCol="0" anchor="t"/>
          <a:lstStyle/>
          <a:p>
            <a:pPr indent="0" marL="0">
              <a:buNone/>
            </a:pPr>
            <a:r>
              <a:rPr lang="en-US" sz="1600" dirty="0">
                <a:solidFill>
                  <a:schemeClr val="tx1"/>
                </a:solidFill>
              </a:rPr>
              <a:t>Stations joined if they are next to each other on a metro line. Crowds physically move along the tracks.</a:t>
            </a:r>
            <a:endParaRPr lang="en-US" sz="1600" dirty="0"/>
          </a:p>
        </p:txBody>
      </p:sp>
      <p:sp>
        <p:nvSpPr>
          <p:cNvPr id="7" name="card-42"/>
          <p:cNvSpPr/>
          <p:nvPr/>
        </p:nvSpPr>
        <p:spPr>
          <a:xfrm>
            <a:off x="4343400" y="1417320"/>
            <a:ext cx="3520440" cy="2743200"/>
          </a:xfrm>
          <a:prstGeom prst="roundRect">
            <a:avLst>
              <a:gd name="adj" fmla="val 2667"/>
            </a:avLst>
          </a:prstGeom>
          <a:solidFill>
            <a:schemeClr val="bg2"/>
          </a:solidFill>
          <a:ln w="12700">
            <a:solidFill>
              <a:schemeClr val="bg2"/>
            </a:solidFill>
            <a:prstDash val="solid"/>
          </a:ln>
        </p:spPr>
      </p:sp>
      <p:sp>
        <p:nvSpPr>
          <p:cNvPr id="8" name="dot-43"/>
          <p:cNvSpPr/>
          <p:nvPr/>
        </p:nvSpPr>
        <p:spPr>
          <a:xfrm>
            <a:off x="4526280" y="1618488"/>
            <a:ext cx="237744" cy="237744"/>
          </a:xfrm>
          <a:prstGeom prst="ellipse">
            <a:avLst/>
          </a:prstGeom>
          <a:solidFill>
            <a:schemeClr val="accent2"/>
          </a:solidFill>
          <a:ln w="25400">
            <a:solidFill>
              <a:schemeClr val="bg1"/>
            </a:solidFill>
            <a:prstDash val="solid"/>
          </a:ln>
        </p:spPr>
      </p:sp>
      <p:sp>
        <p:nvSpPr>
          <p:cNvPr id="9" name="cardtitle-44"/>
          <p:cNvSpPr txBox="1"/>
          <p:nvPr/>
        </p:nvSpPr>
        <p:spPr>
          <a:xfrm>
            <a:off x="4855464" y="1527048"/>
            <a:ext cx="2880360" cy="420624"/>
          </a:xfrm>
          <a:prstGeom prst="rect">
            <a:avLst/>
          </a:prstGeom>
          <a:noFill/>
          <a:ln/>
        </p:spPr>
        <p:txBody>
          <a:bodyPr wrap="square" lIns="0" tIns="0" rIns="0" bIns="0" rtlCol="0" anchor="ctr"/>
          <a:lstStyle/>
          <a:p>
            <a:pPr indent="0" marL="0">
              <a:buNone/>
            </a:pPr>
            <a:r>
              <a:rPr lang="en-US" sz="1600" b="1" dirty="0">
                <a:solidFill>
                  <a:schemeClr val="tx1"/>
                </a:solidFill>
              </a:rPr>
              <a:t>Similarity graph (virtual)</a:t>
            </a:r>
            <a:endParaRPr lang="en-US" sz="1600" dirty="0"/>
          </a:p>
        </p:txBody>
      </p:sp>
      <p:sp>
        <p:nvSpPr>
          <p:cNvPr id="10" name="cardbody-45"/>
          <p:cNvSpPr txBox="1"/>
          <p:nvPr/>
        </p:nvSpPr>
        <p:spPr>
          <a:xfrm>
            <a:off x="4526280" y="1984248"/>
            <a:ext cx="3154680" cy="2066544"/>
          </a:xfrm>
          <a:prstGeom prst="rect">
            <a:avLst/>
          </a:prstGeom>
          <a:noFill/>
          <a:ln/>
        </p:spPr>
        <p:txBody>
          <a:bodyPr wrap="square" lIns="0" tIns="0" rIns="0" bIns="0" rtlCol="0" anchor="t"/>
          <a:lstStyle/>
          <a:p>
            <a:pPr indent="0" marL="0">
              <a:buNone/>
            </a:pPr>
            <a:r>
              <a:rPr lang="en-US" sz="1600" dirty="0">
                <a:solidFill>
                  <a:schemeClr val="tx1"/>
                </a:solidFill>
              </a:rPr>
              <a:t>Stations joined if their daily ridership curves look alike (dynamic time warping), even when far apart — e.g. two office districts.</a:t>
            </a:r>
            <a:endParaRPr lang="en-US" sz="1600" dirty="0"/>
          </a:p>
        </p:txBody>
      </p:sp>
      <p:sp>
        <p:nvSpPr>
          <p:cNvPr id="11" name="card-46"/>
          <p:cNvSpPr/>
          <p:nvPr/>
        </p:nvSpPr>
        <p:spPr>
          <a:xfrm>
            <a:off x="8138160" y="1417320"/>
            <a:ext cx="3520440" cy="2743200"/>
          </a:xfrm>
          <a:prstGeom prst="roundRect">
            <a:avLst>
              <a:gd name="adj" fmla="val 2667"/>
            </a:avLst>
          </a:prstGeom>
          <a:solidFill>
            <a:schemeClr val="bg2"/>
          </a:solidFill>
          <a:ln w="12700">
            <a:solidFill>
              <a:schemeClr val="bg2"/>
            </a:solidFill>
            <a:prstDash val="solid"/>
          </a:ln>
        </p:spPr>
      </p:sp>
      <p:sp>
        <p:nvSpPr>
          <p:cNvPr id="12" name="dot-47"/>
          <p:cNvSpPr/>
          <p:nvPr/>
        </p:nvSpPr>
        <p:spPr>
          <a:xfrm>
            <a:off x="8321040" y="1618488"/>
            <a:ext cx="237744" cy="237744"/>
          </a:xfrm>
          <a:prstGeom prst="ellipse">
            <a:avLst/>
          </a:prstGeom>
          <a:solidFill>
            <a:schemeClr val="accent3"/>
          </a:solidFill>
          <a:ln w="25400">
            <a:solidFill>
              <a:schemeClr val="bg1"/>
            </a:solidFill>
            <a:prstDash val="solid"/>
          </a:ln>
        </p:spPr>
      </p:sp>
      <p:sp>
        <p:nvSpPr>
          <p:cNvPr id="13" name="cardtitle-48"/>
          <p:cNvSpPr txBox="1"/>
          <p:nvPr/>
        </p:nvSpPr>
        <p:spPr>
          <a:xfrm>
            <a:off x="8650224" y="1527048"/>
            <a:ext cx="2880360" cy="420624"/>
          </a:xfrm>
          <a:prstGeom prst="rect">
            <a:avLst/>
          </a:prstGeom>
          <a:noFill/>
          <a:ln/>
        </p:spPr>
        <p:txBody>
          <a:bodyPr wrap="square" lIns="0" tIns="0" rIns="0" bIns="0" rtlCol="0" anchor="ctr"/>
          <a:lstStyle/>
          <a:p>
            <a:pPr indent="0" marL="0">
              <a:buNone/>
            </a:pPr>
            <a:r>
              <a:rPr lang="en-US" sz="1600" b="1" dirty="0">
                <a:solidFill>
                  <a:schemeClr val="tx1"/>
                </a:solidFill>
              </a:rPr>
              <a:t>Correlation graph (virtual)</a:t>
            </a:r>
            <a:endParaRPr lang="en-US" sz="1600" dirty="0"/>
          </a:p>
        </p:txBody>
      </p:sp>
      <p:sp>
        <p:nvSpPr>
          <p:cNvPr id="14" name="cardbody-49"/>
          <p:cNvSpPr txBox="1"/>
          <p:nvPr/>
        </p:nvSpPr>
        <p:spPr>
          <a:xfrm>
            <a:off x="8321040" y="1984248"/>
            <a:ext cx="3154680" cy="2066544"/>
          </a:xfrm>
          <a:prstGeom prst="rect">
            <a:avLst/>
          </a:prstGeom>
          <a:noFill/>
          <a:ln/>
        </p:spPr>
        <p:txBody>
          <a:bodyPr wrap="square" lIns="0" tIns="0" rIns="0" bIns="0" rtlCol="0" anchor="t"/>
          <a:lstStyle/>
          <a:p>
            <a:pPr indent="0" marL="0">
              <a:buNone/>
            </a:pPr>
            <a:r>
              <a:rPr lang="en-US" sz="1600" dirty="0">
                <a:solidFill>
                  <a:schemeClr val="tx1"/>
                </a:solidFill>
              </a:rPr>
              <a:t>Stations joined if many passengers travel between them (origin–destination ratios). If most of A's riders go to B, A helps predict B.</a:t>
            </a:r>
            <a:endParaRPr lang="en-US" sz="1600" dirty="0"/>
          </a:p>
        </p:txBody>
      </p:sp>
      <p:sp>
        <p:nvSpPr>
          <p:cNvPr id="15" name="phys-edge"/>
          <p:cNvSpPr/>
          <p:nvPr/>
        </p:nvSpPr>
        <p:spPr>
          <a:xfrm>
            <a:off x="1234440" y="5120640"/>
            <a:ext cx="10058400" cy="0"/>
          </a:xfrm>
          <a:prstGeom prst="line">
            <a:avLst/>
          </a:prstGeom>
          <a:noFill/>
          <a:ln w="50800">
            <a:solidFill>
              <a:schemeClr val="accent1"/>
            </a:solidFill>
            <a:prstDash val="solid"/>
          </a:ln>
        </p:spPr>
      </p:sp>
      <p:sp>
        <p:nvSpPr>
          <p:cNvPr id="16" name="sim-edge"/>
          <p:cNvSpPr/>
          <p:nvPr/>
        </p:nvSpPr>
        <p:spPr>
          <a:xfrm>
            <a:off x="2514600" y="4434840"/>
            <a:ext cx="6309360" cy="1371600"/>
          </a:xfrm>
          <a:prstGeom prst="arc">
            <a:avLst>
              <a:gd name="adj1" fmla="val 10800000"/>
              <a:gd name="adj2" fmla="val 21600000"/>
            </a:avLst>
          </a:prstGeom>
          <a:noFill/>
          <a:ln w="25400">
            <a:solidFill>
              <a:schemeClr val="accent2"/>
            </a:solidFill>
            <a:prstDash val="dash"/>
          </a:ln>
        </p:spPr>
      </p:sp>
      <p:sp>
        <p:nvSpPr>
          <p:cNvPr id="17" name="dot-50"/>
          <p:cNvSpPr/>
          <p:nvPr/>
        </p:nvSpPr>
        <p:spPr>
          <a:xfrm>
            <a:off x="1097280" y="4983480"/>
            <a:ext cx="274320" cy="274320"/>
          </a:xfrm>
          <a:prstGeom prst="ellipse">
            <a:avLst/>
          </a:prstGeom>
          <a:solidFill>
            <a:schemeClr val="accent5"/>
          </a:solidFill>
          <a:ln w="25400">
            <a:solidFill>
              <a:schemeClr val="bg1"/>
            </a:solidFill>
            <a:prstDash val="solid"/>
          </a:ln>
        </p:spPr>
      </p:sp>
      <p:sp>
        <p:nvSpPr>
          <p:cNvPr id="18" name="dot-51"/>
          <p:cNvSpPr/>
          <p:nvPr/>
        </p:nvSpPr>
        <p:spPr>
          <a:xfrm>
            <a:off x="2377440" y="4983480"/>
            <a:ext cx="274320" cy="274320"/>
          </a:xfrm>
          <a:prstGeom prst="ellipse">
            <a:avLst/>
          </a:prstGeom>
          <a:solidFill>
            <a:schemeClr val="accent5"/>
          </a:solidFill>
          <a:ln w="25400">
            <a:solidFill>
              <a:schemeClr val="bg1"/>
            </a:solidFill>
            <a:prstDash val="solid"/>
          </a:ln>
        </p:spPr>
      </p:sp>
      <p:sp>
        <p:nvSpPr>
          <p:cNvPr id="19" name="dot-52"/>
          <p:cNvSpPr/>
          <p:nvPr/>
        </p:nvSpPr>
        <p:spPr>
          <a:xfrm>
            <a:off x="3657600" y="4983480"/>
            <a:ext cx="274320" cy="274320"/>
          </a:xfrm>
          <a:prstGeom prst="ellipse">
            <a:avLst/>
          </a:prstGeom>
          <a:solidFill>
            <a:schemeClr val="accent5"/>
          </a:solidFill>
          <a:ln w="25400">
            <a:solidFill>
              <a:schemeClr val="bg1"/>
            </a:solidFill>
            <a:prstDash val="solid"/>
          </a:ln>
        </p:spPr>
      </p:sp>
      <p:sp>
        <p:nvSpPr>
          <p:cNvPr id="20" name="dot-53"/>
          <p:cNvSpPr/>
          <p:nvPr/>
        </p:nvSpPr>
        <p:spPr>
          <a:xfrm>
            <a:off x="4937760" y="4983480"/>
            <a:ext cx="274320" cy="274320"/>
          </a:xfrm>
          <a:prstGeom prst="ellipse">
            <a:avLst/>
          </a:prstGeom>
          <a:solidFill>
            <a:schemeClr val="accent5"/>
          </a:solidFill>
          <a:ln w="25400">
            <a:solidFill>
              <a:schemeClr val="bg1"/>
            </a:solidFill>
            <a:prstDash val="solid"/>
          </a:ln>
        </p:spPr>
      </p:sp>
      <p:sp>
        <p:nvSpPr>
          <p:cNvPr id="21" name="dot-54"/>
          <p:cNvSpPr/>
          <p:nvPr/>
        </p:nvSpPr>
        <p:spPr>
          <a:xfrm>
            <a:off x="6217920" y="4983480"/>
            <a:ext cx="274320" cy="274320"/>
          </a:xfrm>
          <a:prstGeom prst="ellipse">
            <a:avLst/>
          </a:prstGeom>
          <a:solidFill>
            <a:schemeClr val="accent5"/>
          </a:solidFill>
          <a:ln w="25400">
            <a:solidFill>
              <a:schemeClr val="bg1"/>
            </a:solidFill>
            <a:prstDash val="solid"/>
          </a:ln>
        </p:spPr>
      </p:sp>
      <p:sp>
        <p:nvSpPr>
          <p:cNvPr id="22" name="dot-55"/>
          <p:cNvSpPr/>
          <p:nvPr/>
        </p:nvSpPr>
        <p:spPr>
          <a:xfrm>
            <a:off x="7498080" y="4983480"/>
            <a:ext cx="274320" cy="274320"/>
          </a:xfrm>
          <a:prstGeom prst="ellipse">
            <a:avLst/>
          </a:prstGeom>
          <a:solidFill>
            <a:schemeClr val="accent5"/>
          </a:solidFill>
          <a:ln w="25400">
            <a:solidFill>
              <a:schemeClr val="bg1"/>
            </a:solidFill>
            <a:prstDash val="solid"/>
          </a:ln>
        </p:spPr>
      </p:sp>
      <p:sp>
        <p:nvSpPr>
          <p:cNvPr id="23" name="dot-56"/>
          <p:cNvSpPr/>
          <p:nvPr/>
        </p:nvSpPr>
        <p:spPr>
          <a:xfrm>
            <a:off x="8778240" y="4983480"/>
            <a:ext cx="274320" cy="274320"/>
          </a:xfrm>
          <a:prstGeom prst="ellipse">
            <a:avLst/>
          </a:prstGeom>
          <a:solidFill>
            <a:schemeClr val="accent5"/>
          </a:solidFill>
          <a:ln w="25400">
            <a:solidFill>
              <a:schemeClr val="bg1"/>
            </a:solidFill>
            <a:prstDash val="solid"/>
          </a:ln>
        </p:spPr>
      </p:sp>
      <p:sp>
        <p:nvSpPr>
          <p:cNvPr id="24" name="dot-57"/>
          <p:cNvSpPr/>
          <p:nvPr/>
        </p:nvSpPr>
        <p:spPr>
          <a:xfrm>
            <a:off x="10058400" y="4983480"/>
            <a:ext cx="274320" cy="274320"/>
          </a:xfrm>
          <a:prstGeom prst="ellipse">
            <a:avLst/>
          </a:prstGeom>
          <a:solidFill>
            <a:schemeClr val="accent5"/>
          </a:solidFill>
          <a:ln w="25400">
            <a:solidFill>
              <a:schemeClr val="bg1"/>
            </a:solidFill>
            <a:prstDash val="solid"/>
          </a:ln>
        </p:spPr>
      </p:sp>
      <p:sp>
        <p:nvSpPr>
          <p:cNvPr id="25" name="dot-58"/>
          <p:cNvSpPr/>
          <p:nvPr/>
        </p:nvSpPr>
        <p:spPr>
          <a:xfrm>
            <a:off x="11155680" y="4983480"/>
            <a:ext cx="274320" cy="274320"/>
          </a:xfrm>
          <a:prstGeom prst="ellipse">
            <a:avLst/>
          </a:prstGeom>
          <a:solidFill>
            <a:schemeClr val="accent5"/>
          </a:solidFill>
          <a:ln w="25400">
            <a:solidFill>
              <a:schemeClr val="bg1"/>
            </a:solidFill>
            <a:prstDash val="solid"/>
          </a:ln>
        </p:spPr>
      </p:sp>
      <p:sp>
        <p:nvSpPr>
          <p:cNvPr id="26" name="net-caption"/>
          <p:cNvSpPr txBox="1"/>
          <p:nvPr/>
        </p:nvSpPr>
        <p:spPr>
          <a:xfrm>
            <a:off x="548640" y="5669280"/>
            <a:ext cx="11064240" cy="365760"/>
          </a:xfrm>
          <a:prstGeom prst="rect">
            <a:avLst/>
          </a:prstGeom>
          <a:noFill/>
          <a:ln/>
        </p:spPr>
        <p:txBody>
          <a:bodyPr wrap="square" lIns="0" tIns="0" rIns="0" bIns="0" rtlCol="0" anchor="ctr"/>
          <a:lstStyle/>
          <a:p>
            <a:pPr indent="0" marL="0">
              <a:buNone/>
            </a:pPr>
            <a:r>
              <a:rPr lang="en-US" sz="1200" dirty="0">
                <a:solidFill>
                  <a:schemeClr val="tx2"/>
                </a:solidFill>
              </a:rPr>
              <a:t>A metro line (solid) and a virtual similarity edge (dashed) linking two distant stations</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How PVCGN forecasts</a:t>
            </a:r>
            <a:endParaRPr lang="en-US" sz="3200" dirty="0"/>
          </a:p>
        </p:txBody>
      </p:sp>
      <p:sp>
        <p:nvSpPr>
          <p:cNvPr id="3" name="flow-line"/>
          <p:cNvSpPr/>
          <p:nvPr/>
        </p:nvSpPr>
        <p:spPr>
          <a:xfrm>
            <a:off x="1691640" y="1874520"/>
            <a:ext cx="8503920" cy="0"/>
          </a:xfrm>
          <a:prstGeom prst="line">
            <a:avLst/>
          </a:prstGeom>
          <a:noFill/>
          <a:ln w="76200">
            <a:solidFill>
              <a:schemeClr val="accent1"/>
            </a:solidFill>
            <a:prstDash val="solid"/>
          </a:ln>
        </p:spPr>
      </p:sp>
      <p:sp>
        <p:nvSpPr>
          <p:cNvPr id="4" name="dot-59"/>
          <p:cNvSpPr/>
          <p:nvPr/>
        </p:nvSpPr>
        <p:spPr>
          <a:xfrm>
            <a:off x="1280160" y="1463040"/>
            <a:ext cx="822960" cy="822960"/>
          </a:xfrm>
          <a:prstGeom prst="ellipse">
            <a:avLst/>
          </a:prstGeom>
          <a:solidFill>
            <a:schemeClr val="accent1"/>
          </a:solidFill>
          <a:ln w="25400">
            <a:solidFill>
              <a:schemeClr val="bg1"/>
            </a:solidFill>
            <a:prstDash val="solid"/>
          </a:ln>
        </p:spPr>
      </p:sp>
      <p:sp>
        <p:nvSpPr>
          <p:cNvPr id="5" name="dotlabel-60"/>
          <p:cNvSpPr txBox="1"/>
          <p:nvPr/>
        </p:nvSpPr>
        <p:spPr>
          <a:xfrm>
            <a:off x="1280160" y="1463040"/>
            <a:ext cx="822960" cy="822960"/>
          </a:xfrm>
          <a:prstGeom prst="rect">
            <a:avLst/>
          </a:prstGeom>
          <a:noFill/>
          <a:ln/>
        </p:spPr>
        <p:txBody>
          <a:bodyPr wrap="square" lIns="0" tIns="0" rIns="0" bIns="0" rtlCol="0" anchor="ctr"/>
          <a:lstStyle/>
          <a:p>
            <a:pPr algn="ctr" indent="0" marL="0">
              <a:buNone/>
            </a:pPr>
            <a:r>
              <a:rPr lang="en-US" sz="2200" b="1" dirty="0">
                <a:solidFill>
                  <a:schemeClr val="tx1"/>
                </a:solidFill>
              </a:rPr>
              <a:t>1</a:t>
            </a:r>
            <a:endParaRPr lang="en-US" sz="2200" dirty="0"/>
          </a:p>
        </p:txBody>
      </p:sp>
      <p:sp>
        <p:nvSpPr>
          <p:cNvPr id="6" name="flow-t-61"/>
          <p:cNvSpPr txBox="1"/>
          <p:nvPr/>
        </p:nvSpPr>
        <p:spPr>
          <a:xfrm>
            <a:off x="548640" y="2423160"/>
            <a:ext cx="2286000" cy="411480"/>
          </a:xfrm>
          <a:prstGeom prst="rect">
            <a:avLst/>
          </a:prstGeom>
          <a:noFill/>
          <a:ln/>
        </p:spPr>
        <p:txBody>
          <a:bodyPr wrap="square" lIns="0" tIns="0" rIns="0" bIns="0" rtlCol="0" anchor="ctr"/>
          <a:lstStyle/>
          <a:p>
            <a:pPr algn="ctr" indent="0" marL="0">
              <a:buNone/>
            </a:pPr>
            <a:r>
              <a:rPr lang="en-US" sz="1800" b="1" dirty="0">
                <a:solidFill>
                  <a:schemeClr val="tx1"/>
                </a:solidFill>
              </a:rPr>
              <a:t>Last hour</a:t>
            </a:r>
            <a:endParaRPr lang="en-US" sz="1800" dirty="0"/>
          </a:p>
        </p:txBody>
      </p:sp>
      <p:sp>
        <p:nvSpPr>
          <p:cNvPr id="7" name="flow-d-62"/>
          <p:cNvSpPr txBox="1"/>
          <p:nvPr/>
        </p:nvSpPr>
        <p:spPr>
          <a:xfrm>
            <a:off x="548640" y="2834640"/>
            <a:ext cx="2286000" cy="731520"/>
          </a:xfrm>
          <a:prstGeom prst="rect">
            <a:avLst/>
          </a:prstGeom>
          <a:noFill/>
          <a:ln/>
        </p:spPr>
        <p:txBody>
          <a:bodyPr wrap="square" lIns="0" tIns="0" rIns="0" bIns="0" rtlCol="0" anchor="ctr"/>
          <a:lstStyle/>
          <a:p>
            <a:pPr algn="ctr" indent="0" marL="0">
              <a:buNone/>
            </a:pPr>
            <a:r>
              <a:rPr lang="en-US" sz="1400" dirty="0">
                <a:solidFill>
                  <a:schemeClr val="tx2"/>
                </a:solidFill>
              </a:rPr>
              <a:t>4 × 15-min inflow / outflow for all stations</a:t>
            </a:r>
            <a:endParaRPr lang="en-US" sz="1400" dirty="0"/>
          </a:p>
        </p:txBody>
      </p:sp>
      <p:sp>
        <p:nvSpPr>
          <p:cNvPr id="8" name="dot-63"/>
          <p:cNvSpPr/>
          <p:nvPr/>
        </p:nvSpPr>
        <p:spPr>
          <a:xfrm>
            <a:off x="4114800" y="1463040"/>
            <a:ext cx="822960" cy="822960"/>
          </a:xfrm>
          <a:prstGeom prst="ellipse">
            <a:avLst/>
          </a:prstGeom>
          <a:solidFill>
            <a:schemeClr val="accent1"/>
          </a:solidFill>
          <a:ln w="25400">
            <a:solidFill>
              <a:schemeClr val="bg1"/>
            </a:solidFill>
            <a:prstDash val="solid"/>
          </a:ln>
        </p:spPr>
      </p:sp>
      <p:sp>
        <p:nvSpPr>
          <p:cNvPr id="9" name="dotlabel-64"/>
          <p:cNvSpPr txBox="1"/>
          <p:nvPr/>
        </p:nvSpPr>
        <p:spPr>
          <a:xfrm>
            <a:off x="4114800" y="1463040"/>
            <a:ext cx="822960" cy="822960"/>
          </a:xfrm>
          <a:prstGeom prst="rect">
            <a:avLst/>
          </a:prstGeom>
          <a:noFill/>
          <a:ln/>
        </p:spPr>
        <p:txBody>
          <a:bodyPr wrap="square" lIns="0" tIns="0" rIns="0" bIns="0" rtlCol="0" anchor="ctr"/>
          <a:lstStyle/>
          <a:p>
            <a:pPr algn="ctr" indent="0" marL="0">
              <a:buNone/>
            </a:pPr>
            <a:r>
              <a:rPr lang="en-US" sz="2200" b="1" dirty="0">
                <a:solidFill>
                  <a:schemeClr val="tx1"/>
                </a:solidFill>
              </a:rPr>
              <a:t>2</a:t>
            </a:r>
            <a:endParaRPr lang="en-US" sz="2200" dirty="0"/>
          </a:p>
        </p:txBody>
      </p:sp>
      <p:sp>
        <p:nvSpPr>
          <p:cNvPr id="10" name="flow-t-65"/>
          <p:cNvSpPr txBox="1"/>
          <p:nvPr/>
        </p:nvSpPr>
        <p:spPr>
          <a:xfrm>
            <a:off x="3383280" y="2423160"/>
            <a:ext cx="2286000" cy="411480"/>
          </a:xfrm>
          <a:prstGeom prst="rect">
            <a:avLst/>
          </a:prstGeom>
          <a:noFill/>
          <a:ln/>
        </p:spPr>
        <p:txBody>
          <a:bodyPr wrap="square" lIns="0" tIns="0" rIns="0" bIns="0" rtlCol="0" anchor="ctr"/>
          <a:lstStyle/>
          <a:p>
            <a:pPr algn="ctr" indent="0" marL="0">
              <a:buNone/>
            </a:pPr>
            <a:r>
              <a:rPr lang="en-US" sz="1800" b="1" dirty="0">
                <a:solidFill>
                  <a:schemeClr val="tx1"/>
                </a:solidFill>
              </a:rPr>
              <a:t>Encoder</a:t>
            </a:r>
            <a:endParaRPr lang="en-US" sz="1800" dirty="0"/>
          </a:p>
        </p:txBody>
      </p:sp>
      <p:sp>
        <p:nvSpPr>
          <p:cNvPr id="11" name="flow-d-66"/>
          <p:cNvSpPr txBox="1"/>
          <p:nvPr/>
        </p:nvSpPr>
        <p:spPr>
          <a:xfrm>
            <a:off x="3383280" y="2834640"/>
            <a:ext cx="2286000" cy="731520"/>
          </a:xfrm>
          <a:prstGeom prst="rect">
            <a:avLst/>
          </a:prstGeom>
          <a:noFill/>
          <a:ln/>
        </p:spPr>
        <p:txBody>
          <a:bodyPr wrap="square" lIns="0" tIns="0" rIns="0" bIns="0" rtlCol="0" anchor="ctr"/>
          <a:lstStyle/>
          <a:p>
            <a:pPr algn="ctr" indent="0" marL="0">
              <a:buNone/>
            </a:pPr>
            <a:r>
              <a:rPr lang="en-US" sz="1400" dirty="0">
                <a:solidFill>
                  <a:schemeClr val="tx2"/>
                </a:solidFill>
              </a:rPr>
              <a:t>2 stacked CGRM layers read the hour step by step</a:t>
            </a:r>
            <a:endParaRPr lang="en-US" sz="1400" dirty="0"/>
          </a:p>
        </p:txBody>
      </p:sp>
      <p:sp>
        <p:nvSpPr>
          <p:cNvPr id="12" name="dot-67"/>
          <p:cNvSpPr/>
          <p:nvPr/>
        </p:nvSpPr>
        <p:spPr>
          <a:xfrm>
            <a:off x="6949440" y="1463040"/>
            <a:ext cx="822960" cy="822960"/>
          </a:xfrm>
          <a:prstGeom prst="ellipse">
            <a:avLst/>
          </a:prstGeom>
          <a:solidFill>
            <a:schemeClr val="accent1"/>
          </a:solidFill>
          <a:ln w="25400">
            <a:solidFill>
              <a:schemeClr val="bg1"/>
            </a:solidFill>
            <a:prstDash val="solid"/>
          </a:ln>
        </p:spPr>
      </p:sp>
      <p:sp>
        <p:nvSpPr>
          <p:cNvPr id="13" name="dotlabel-68"/>
          <p:cNvSpPr txBox="1"/>
          <p:nvPr/>
        </p:nvSpPr>
        <p:spPr>
          <a:xfrm>
            <a:off x="6949440" y="1463040"/>
            <a:ext cx="822960" cy="822960"/>
          </a:xfrm>
          <a:prstGeom prst="rect">
            <a:avLst/>
          </a:prstGeom>
          <a:noFill/>
          <a:ln/>
        </p:spPr>
        <p:txBody>
          <a:bodyPr wrap="square" lIns="0" tIns="0" rIns="0" bIns="0" rtlCol="0" anchor="ctr"/>
          <a:lstStyle/>
          <a:p>
            <a:pPr algn="ctr" indent="0" marL="0">
              <a:buNone/>
            </a:pPr>
            <a:r>
              <a:rPr lang="en-US" sz="2200" b="1" dirty="0">
                <a:solidFill>
                  <a:schemeClr val="tx1"/>
                </a:solidFill>
              </a:rPr>
              <a:t>3</a:t>
            </a:r>
            <a:endParaRPr lang="en-US" sz="2200" dirty="0"/>
          </a:p>
        </p:txBody>
      </p:sp>
      <p:sp>
        <p:nvSpPr>
          <p:cNvPr id="14" name="flow-t-69"/>
          <p:cNvSpPr txBox="1"/>
          <p:nvPr/>
        </p:nvSpPr>
        <p:spPr>
          <a:xfrm>
            <a:off x="6217920" y="2423160"/>
            <a:ext cx="2286000" cy="411480"/>
          </a:xfrm>
          <a:prstGeom prst="rect">
            <a:avLst/>
          </a:prstGeom>
          <a:noFill/>
          <a:ln/>
        </p:spPr>
        <p:txBody>
          <a:bodyPr wrap="square" lIns="0" tIns="0" rIns="0" bIns="0" rtlCol="0" anchor="ctr"/>
          <a:lstStyle/>
          <a:p>
            <a:pPr algn="ctr" indent="0" marL="0">
              <a:buNone/>
            </a:pPr>
            <a:r>
              <a:rPr lang="en-US" sz="1800" b="1" dirty="0">
                <a:solidFill>
                  <a:schemeClr val="tx1"/>
                </a:solidFill>
              </a:rPr>
              <a:t>Decoder</a:t>
            </a:r>
            <a:endParaRPr lang="en-US" sz="1800" dirty="0"/>
          </a:p>
        </p:txBody>
      </p:sp>
      <p:sp>
        <p:nvSpPr>
          <p:cNvPr id="15" name="flow-d-70"/>
          <p:cNvSpPr txBox="1"/>
          <p:nvPr/>
        </p:nvSpPr>
        <p:spPr>
          <a:xfrm>
            <a:off x="6217920" y="2834640"/>
            <a:ext cx="2286000" cy="731520"/>
          </a:xfrm>
          <a:prstGeom prst="rect">
            <a:avLst/>
          </a:prstGeom>
          <a:noFill/>
          <a:ln/>
        </p:spPr>
        <p:txBody>
          <a:bodyPr wrap="square" lIns="0" tIns="0" rIns="0" bIns="0" rtlCol="0" anchor="ctr"/>
          <a:lstStyle/>
          <a:p>
            <a:pPr algn="ctr" indent="0" marL="0">
              <a:buNone/>
            </a:pPr>
            <a:r>
              <a:rPr lang="en-US" sz="1400" dirty="0">
                <a:solidFill>
                  <a:schemeClr val="tx2"/>
                </a:solidFill>
              </a:rPr>
              <a:t>2 CGRM layers produce one 15-min step at a time</a:t>
            </a:r>
            <a:endParaRPr lang="en-US" sz="1400" dirty="0"/>
          </a:p>
        </p:txBody>
      </p:sp>
      <p:sp>
        <p:nvSpPr>
          <p:cNvPr id="16" name="dot-71"/>
          <p:cNvSpPr/>
          <p:nvPr/>
        </p:nvSpPr>
        <p:spPr>
          <a:xfrm>
            <a:off x="9784080" y="1463040"/>
            <a:ext cx="822960" cy="822960"/>
          </a:xfrm>
          <a:prstGeom prst="ellipse">
            <a:avLst/>
          </a:prstGeom>
          <a:solidFill>
            <a:schemeClr val="accent1"/>
          </a:solidFill>
          <a:ln w="25400">
            <a:solidFill>
              <a:schemeClr val="bg1"/>
            </a:solidFill>
            <a:prstDash val="solid"/>
          </a:ln>
        </p:spPr>
      </p:sp>
      <p:sp>
        <p:nvSpPr>
          <p:cNvPr id="17" name="dotlabel-72"/>
          <p:cNvSpPr txBox="1"/>
          <p:nvPr/>
        </p:nvSpPr>
        <p:spPr>
          <a:xfrm>
            <a:off x="9784080" y="1463040"/>
            <a:ext cx="822960" cy="822960"/>
          </a:xfrm>
          <a:prstGeom prst="rect">
            <a:avLst/>
          </a:prstGeom>
          <a:noFill/>
          <a:ln/>
        </p:spPr>
        <p:txBody>
          <a:bodyPr wrap="square" lIns="0" tIns="0" rIns="0" bIns="0" rtlCol="0" anchor="ctr"/>
          <a:lstStyle/>
          <a:p>
            <a:pPr algn="ctr" indent="0" marL="0">
              <a:buNone/>
            </a:pPr>
            <a:r>
              <a:rPr lang="en-US" sz="2200" b="1" dirty="0">
                <a:solidFill>
                  <a:schemeClr val="tx1"/>
                </a:solidFill>
              </a:rPr>
              <a:t>4</a:t>
            </a:r>
            <a:endParaRPr lang="en-US" sz="2200" dirty="0"/>
          </a:p>
        </p:txBody>
      </p:sp>
      <p:sp>
        <p:nvSpPr>
          <p:cNvPr id="18" name="flow-t-73"/>
          <p:cNvSpPr txBox="1"/>
          <p:nvPr/>
        </p:nvSpPr>
        <p:spPr>
          <a:xfrm>
            <a:off x="9052560" y="2423160"/>
            <a:ext cx="2286000" cy="411480"/>
          </a:xfrm>
          <a:prstGeom prst="rect">
            <a:avLst/>
          </a:prstGeom>
          <a:noFill/>
          <a:ln/>
        </p:spPr>
        <p:txBody>
          <a:bodyPr wrap="square" lIns="0" tIns="0" rIns="0" bIns="0" rtlCol="0" anchor="ctr"/>
          <a:lstStyle/>
          <a:p>
            <a:pPr algn="ctr" indent="0" marL="0">
              <a:buNone/>
            </a:pPr>
            <a:r>
              <a:rPr lang="en-US" sz="1800" b="1" dirty="0">
                <a:solidFill>
                  <a:schemeClr val="tx1"/>
                </a:solidFill>
              </a:rPr>
              <a:t>Next hour</a:t>
            </a:r>
            <a:endParaRPr lang="en-US" sz="1800" dirty="0"/>
          </a:p>
        </p:txBody>
      </p:sp>
      <p:sp>
        <p:nvSpPr>
          <p:cNvPr id="19" name="flow-d-74"/>
          <p:cNvSpPr txBox="1"/>
          <p:nvPr/>
        </p:nvSpPr>
        <p:spPr>
          <a:xfrm>
            <a:off x="9052560" y="2834640"/>
            <a:ext cx="2286000" cy="731520"/>
          </a:xfrm>
          <a:prstGeom prst="rect">
            <a:avLst/>
          </a:prstGeom>
          <a:noFill/>
          <a:ln/>
        </p:spPr>
        <p:txBody>
          <a:bodyPr wrap="square" lIns="0" tIns="0" rIns="0" bIns="0" rtlCol="0" anchor="ctr"/>
          <a:lstStyle/>
          <a:p>
            <a:pPr algn="ctr" indent="0" marL="0">
              <a:buNone/>
            </a:pPr>
            <a:r>
              <a:rPr lang="en-US" sz="1400" dirty="0">
                <a:solidFill>
                  <a:schemeClr val="tx2"/>
                </a:solidFill>
              </a:rPr>
              <a:t>4 forecasts: 15, 30, 45, 60 min ahead</a:t>
            </a:r>
            <a:endParaRPr lang="en-US" sz="1400" dirty="0"/>
          </a:p>
        </p:txBody>
      </p:sp>
      <p:sp>
        <p:nvSpPr>
          <p:cNvPr id="20" name="card-75"/>
          <p:cNvSpPr/>
          <p:nvPr/>
        </p:nvSpPr>
        <p:spPr>
          <a:xfrm>
            <a:off x="548640" y="3886200"/>
            <a:ext cx="5440680" cy="2240280"/>
          </a:xfrm>
          <a:prstGeom prst="roundRect">
            <a:avLst>
              <a:gd name="adj" fmla="val 3265"/>
            </a:avLst>
          </a:prstGeom>
          <a:solidFill>
            <a:schemeClr val="bg2"/>
          </a:solidFill>
          <a:ln w="12700">
            <a:solidFill>
              <a:schemeClr val="bg2"/>
            </a:solidFill>
            <a:prstDash val="solid"/>
          </a:ln>
        </p:spPr>
      </p:sp>
      <p:sp>
        <p:nvSpPr>
          <p:cNvPr id="21" name="dot-76"/>
          <p:cNvSpPr/>
          <p:nvPr/>
        </p:nvSpPr>
        <p:spPr>
          <a:xfrm>
            <a:off x="731520" y="4087368"/>
            <a:ext cx="237744" cy="237744"/>
          </a:xfrm>
          <a:prstGeom prst="ellipse">
            <a:avLst/>
          </a:prstGeom>
          <a:solidFill>
            <a:schemeClr val="accent2"/>
          </a:solidFill>
          <a:ln w="25400">
            <a:solidFill>
              <a:schemeClr val="bg1"/>
            </a:solidFill>
            <a:prstDash val="solid"/>
          </a:ln>
        </p:spPr>
      </p:sp>
      <p:sp>
        <p:nvSpPr>
          <p:cNvPr id="22" name="cardtitle-77"/>
          <p:cNvSpPr txBox="1"/>
          <p:nvPr/>
        </p:nvSpPr>
        <p:spPr>
          <a:xfrm>
            <a:off x="1060704" y="3995928"/>
            <a:ext cx="4800600" cy="420624"/>
          </a:xfrm>
          <a:prstGeom prst="rect">
            <a:avLst/>
          </a:prstGeom>
          <a:noFill/>
          <a:ln/>
        </p:spPr>
        <p:txBody>
          <a:bodyPr wrap="square" lIns="0" tIns="0" rIns="0" bIns="0" rtlCol="0" anchor="ctr"/>
          <a:lstStyle/>
          <a:p>
            <a:pPr indent="0" marL="0">
              <a:buNone/>
            </a:pPr>
            <a:r>
              <a:rPr lang="en-US" sz="1600" b="1" dirty="0">
                <a:solidFill>
                  <a:schemeClr val="tx1"/>
                </a:solidFill>
              </a:rPr>
              <a:t>Inside a CGRM: GC-GRU (local)</a:t>
            </a:r>
            <a:endParaRPr lang="en-US" sz="1600" dirty="0"/>
          </a:p>
        </p:txBody>
      </p:sp>
      <p:sp>
        <p:nvSpPr>
          <p:cNvPr id="23" name="cardbody-78"/>
          <p:cNvSpPr txBox="1"/>
          <p:nvPr/>
        </p:nvSpPr>
        <p:spPr>
          <a:xfrm>
            <a:off x="731520" y="4453128"/>
            <a:ext cx="5074920" cy="1563624"/>
          </a:xfrm>
          <a:prstGeom prst="rect">
            <a:avLst/>
          </a:prstGeom>
          <a:noFill/>
          <a:ln/>
        </p:spPr>
        <p:txBody>
          <a:bodyPr wrap="square" lIns="0" tIns="0" rIns="0" bIns="0" rtlCol="0" anchor="t"/>
          <a:lstStyle/>
          <a:p>
            <a:pPr indent="0" marL="0">
              <a:buNone/>
            </a:pPr>
            <a:r>
              <a:rPr lang="en-US" sz="1600" dirty="0">
                <a:solidFill>
                  <a:schemeClr val="tx1"/>
                </a:solidFill>
              </a:rPr>
              <a:t>A gated recurrent unit whose gates use graph convolution: each station mixes its own state with its neighbours' in all three graphs, every time step.</a:t>
            </a:r>
            <a:endParaRPr lang="en-US" sz="1600" dirty="0"/>
          </a:p>
        </p:txBody>
      </p:sp>
      <p:sp>
        <p:nvSpPr>
          <p:cNvPr id="24" name="card-79"/>
          <p:cNvSpPr/>
          <p:nvPr/>
        </p:nvSpPr>
        <p:spPr>
          <a:xfrm>
            <a:off x="6172200" y="3886200"/>
            <a:ext cx="5440680" cy="2240280"/>
          </a:xfrm>
          <a:prstGeom prst="roundRect">
            <a:avLst>
              <a:gd name="adj" fmla="val 3265"/>
            </a:avLst>
          </a:prstGeom>
          <a:solidFill>
            <a:schemeClr val="bg2"/>
          </a:solidFill>
          <a:ln w="12700">
            <a:solidFill>
              <a:schemeClr val="bg2"/>
            </a:solidFill>
            <a:prstDash val="solid"/>
          </a:ln>
        </p:spPr>
      </p:sp>
      <p:sp>
        <p:nvSpPr>
          <p:cNvPr id="25" name="dot-80"/>
          <p:cNvSpPr/>
          <p:nvPr/>
        </p:nvSpPr>
        <p:spPr>
          <a:xfrm>
            <a:off x="6355080" y="4087368"/>
            <a:ext cx="237744" cy="237744"/>
          </a:xfrm>
          <a:prstGeom prst="ellipse">
            <a:avLst/>
          </a:prstGeom>
          <a:solidFill>
            <a:schemeClr val="accent3"/>
          </a:solidFill>
          <a:ln w="25400">
            <a:solidFill>
              <a:schemeClr val="bg1"/>
            </a:solidFill>
            <a:prstDash val="solid"/>
          </a:ln>
        </p:spPr>
      </p:sp>
      <p:sp>
        <p:nvSpPr>
          <p:cNvPr id="26" name="cardtitle-81"/>
          <p:cNvSpPr txBox="1"/>
          <p:nvPr/>
        </p:nvSpPr>
        <p:spPr>
          <a:xfrm>
            <a:off x="6684264" y="3995928"/>
            <a:ext cx="4800600" cy="420624"/>
          </a:xfrm>
          <a:prstGeom prst="rect">
            <a:avLst/>
          </a:prstGeom>
          <a:noFill/>
          <a:ln/>
        </p:spPr>
        <p:txBody>
          <a:bodyPr wrap="square" lIns="0" tIns="0" rIns="0" bIns="0" rtlCol="0" anchor="ctr"/>
          <a:lstStyle/>
          <a:p>
            <a:pPr indent="0" marL="0">
              <a:buNone/>
            </a:pPr>
            <a:r>
              <a:rPr lang="en-US" sz="1600" b="1" dirty="0">
                <a:solidFill>
                  <a:schemeClr val="tx1"/>
                </a:solidFill>
              </a:rPr>
              <a:t>Inside a CGRM: FC-GRU (global)</a:t>
            </a:r>
            <a:endParaRPr lang="en-US" sz="1600" dirty="0"/>
          </a:p>
        </p:txBody>
      </p:sp>
      <p:sp>
        <p:nvSpPr>
          <p:cNvPr id="27" name="cardbody-82"/>
          <p:cNvSpPr txBox="1"/>
          <p:nvPr/>
        </p:nvSpPr>
        <p:spPr>
          <a:xfrm>
            <a:off x="6355080" y="4453128"/>
            <a:ext cx="5074920" cy="1563624"/>
          </a:xfrm>
          <a:prstGeom prst="rect">
            <a:avLst/>
          </a:prstGeom>
          <a:noFill/>
          <a:ln/>
        </p:spPr>
        <p:txBody>
          <a:bodyPr wrap="square" lIns="0" tIns="0" rIns="0" bIns="0" rtlCol="0" anchor="t"/>
          <a:lstStyle/>
          <a:p>
            <a:pPr indent="0" marL="0">
              <a:buNone/>
            </a:pPr>
            <a:r>
              <a:rPr lang="en-US" sz="1600" dirty="0">
                <a:solidFill>
                  <a:schemeClr val="tx1"/>
                </a:solidFill>
              </a:rPr>
              <a:t>A fully-connected GRU over all stations at once captures the city-wide trend; its output is fused with the local GC-GRU state.</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Two benchmark datasets released with the paper</a:t>
            </a:r>
            <a:endParaRPr lang="en-US" sz="3200" dirty="0"/>
          </a:p>
        </p:txBody>
      </p:sp>
      <p:sp>
        <p:nvSpPr>
          <p:cNvPr id="3" name="card-83"/>
          <p:cNvSpPr/>
          <p:nvPr/>
        </p:nvSpPr>
        <p:spPr>
          <a:xfrm>
            <a:off x="548640" y="1417320"/>
            <a:ext cx="5440680" cy="3108960"/>
          </a:xfrm>
          <a:prstGeom prst="roundRect">
            <a:avLst>
              <a:gd name="adj" fmla="val 2353"/>
            </a:avLst>
          </a:prstGeom>
          <a:solidFill>
            <a:schemeClr val="bg2"/>
          </a:solidFill>
          <a:ln w="12700">
            <a:solidFill>
              <a:schemeClr val="bg2"/>
            </a:solidFill>
            <a:prstDash val="solid"/>
          </a:ln>
        </p:spPr>
      </p:sp>
      <p:sp>
        <p:nvSpPr>
          <p:cNvPr id="4" name="dot-84"/>
          <p:cNvSpPr/>
          <p:nvPr/>
        </p:nvSpPr>
        <p:spPr>
          <a:xfrm>
            <a:off x="731520" y="1618488"/>
            <a:ext cx="237744" cy="237744"/>
          </a:xfrm>
          <a:prstGeom prst="ellipse">
            <a:avLst/>
          </a:prstGeom>
          <a:solidFill>
            <a:schemeClr val="accent1"/>
          </a:solidFill>
          <a:ln w="25400">
            <a:solidFill>
              <a:schemeClr val="bg1"/>
            </a:solidFill>
            <a:prstDash val="solid"/>
          </a:ln>
        </p:spPr>
      </p:sp>
      <p:sp>
        <p:nvSpPr>
          <p:cNvPr id="5" name="cardtitle-85"/>
          <p:cNvSpPr txBox="1"/>
          <p:nvPr/>
        </p:nvSpPr>
        <p:spPr>
          <a:xfrm>
            <a:off x="1060704" y="1527048"/>
            <a:ext cx="4800600" cy="420624"/>
          </a:xfrm>
          <a:prstGeom prst="rect">
            <a:avLst/>
          </a:prstGeom>
          <a:noFill/>
          <a:ln/>
        </p:spPr>
        <p:txBody>
          <a:bodyPr wrap="square" lIns="0" tIns="0" rIns="0" bIns="0" rtlCol="0" anchor="ctr"/>
          <a:lstStyle/>
          <a:p>
            <a:pPr indent="0" marL="0">
              <a:buNone/>
            </a:pPr>
            <a:r>
              <a:rPr lang="en-US" sz="1600" b="1" dirty="0">
                <a:solidFill>
                  <a:schemeClr val="tx1"/>
                </a:solidFill>
              </a:rPr>
              <a:t>SHMetro — Shanghai</a:t>
            </a:r>
            <a:endParaRPr lang="en-US" sz="1600" dirty="0"/>
          </a:p>
        </p:txBody>
      </p:sp>
      <p:sp>
        <p:nvSpPr>
          <p:cNvPr id="6" name="cardbody-86"/>
          <p:cNvSpPr txBox="1"/>
          <p:nvPr/>
        </p:nvSpPr>
        <p:spPr>
          <a:xfrm>
            <a:off x="731520" y="1984248"/>
            <a:ext cx="5074920" cy="243230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288 stations, 958 physical edges</a:t>
            </a:r>
            <a:endParaRPr lang="en-US" sz="1600" dirty="0"/>
          </a:p>
          <a:p>
            <a:pPr marL="342900" indent="-342900">
              <a:spcAft>
                <a:spcPts val="400"/>
              </a:spcAft>
              <a:buSzPct val="100000"/>
              <a:buChar char="•"/>
            </a:pPr>
            <a:r>
              <a:rPr lang="en-US" sz="1600" dirty="0">
                <a:solidFill>
                  <a:schemeClr val="tx1"/>
                </a:solidFill>
              </a:rPr>
              <a:t>811.8 M transactions, Jul–Sep 2016</a:t>
            </a:r>
            <a:endParaRPr lang="en-US" sz="1600" dirty="0"/>
          </a:p>
          <a:p>
            <a:pPr marL="342900" indent="-342900">
              <a:spcAft>
                <a:spcPts val="400"/>
              </a:spcAft>
              <a:buSzPct val="100000"/>
              <a:buChar char="•"/>
            </a:pPr>
            <a:r>
              <a:rPr lang="en-US" sz="1600" dirty="0">
                <a:solidFill>
                  <a:schemeClr val="tx1"/>
                </a:solidFill>
              </a:rPr>
              <a:t>Train Jul 1–Aug 31 · Val Sep 1–9 · Test Sep 10–30</a:t>
            </a:r>
            <a:endParaRPr lang="en-US" sz="1600" dirty="0"/>
          </a:p>
          <a:p>
            <a:pPr marL="342900" indent="-342900">
              <a:spcAft>
                <a:spcPts val="400"/>
              </a:spcAft>
              <a:buSzPct val="100000"/>
              <a:buChar char="•"/>
            </a:pPr>
            <a:r>
              <a:rPr lang="en-US" sz="1600" dirty="0">
                <a:solidFill>
                  <a:schemeClr val="tx1"/>
                </a:solidFill>
              </a:rPr>
              <a:t>Test period includes a holiday (Sep 15–17)</a:t>
            </a:r>
            <a:endParaRPr lang="en-US" sz="1600" dirty="0"/>
          </a:p>
        </p:txBody>
      </p:sp>
      <p:sp>
        <p:nvSpPr>
          <p:cNvPr id="7" name="card-87"/>
          <p:cNvSpPr/>
          <p:nvPr/>
        </p:nvSpPr>
        <p:spPr>
          <a:xfrm>
            <a:off x="6172200" y="1417320"/>
            <a:ext cx="5440680" cy="3108960"/>
          </a:xfrm>
          <a:prstGeom prst="roundRect">
            <a:avLst>
              <a:gd name="adj" fmla="val 2353"/>
            </a:avLst>
          </a:prstGeom>
          <a:solidFill>
            <a:schemeClr val="bg2"/>
          </a:solidFill>
          <a:ln w="12700">
            <a:solidFill>
              <a:schemeClr val="bg2"/>
            </a:solidFill>
            <a:prstDash val="solid"/>
          </a:ln>
        </p:spPr>
      </p:sp>
      <p:sp>
        <p:nvSpPr>
          <p:cNvPr id="8" name="dot-88"/>
          <p:cNvSpPr/>
          <p:nvPr/>
        </p:nvSpPr>
        <p:spPr>
          <a:xfrm>
            <a:off x="6355080" y="1618488"/>
            <a:ext cx="237744" cy="237744"/>
          </a:xfrm>
          <a:prstGeom prst="ellipse">
            <a:avLst/>
          </a:prstGeom>
          <a:solidFill>
            <a:schemeClr val="accent2"/>
          </a:solidFill>
          <a:ln w="25400">
            <a:solidFill>
              <a:schemeClr val="bg1"/>
            </a:solidFill>
            <a:prstDash val="solid"/>
          </a:ln>
        </p:spPr>
      </p:sp>
      <p:sp>
        <p:nvSpPr>
          <p:cNvPr id="9" name="cardtitle-89"/>
          <p:cNvSpPr txBox="1"/>
          <p:nvPr/>
        </p:nvSpPr>
        <p:spPr>
          <a:xfrm>
            <a:off x="6684264" y="1527048"/>
            <a:ext cx="4800600" cy="420624"/>
          </a:xfrm>
          <a:prstGeom prst="rect">
            <a:avLst/>
          </a:prstGeom>
          <a:noFill/>
          <a:ln/>
        </p:spPr>
        <p:txBody>
          <a:bodyPr wrap="square" lIns="0" tIns="0" rIns="0" bIns="0" rtlCol="0" anchor="ctr"/>
          <a:lstStyle/>
          <a:p>
            <a:pPr indent="0" marL="0">
              <a:buNone/>
            </a:pPr>
            <a:r>
              <a:rPr lang="en-US" sz="1600" b="1" dirty="0">
                <a:solidFill>
                  <a:schemeClr val="tx1"/>
                </a:solidFill>
              </a:rPr>
              <a:t>HZMetro — Hangzhou</a:t>
            </a:r>
            <a:endParaRPr lang="en-US" sz="1600" dirty="0"/>
          </a:p>
        </p:txBody>
      </p:sp>
      <p:sp>
        <p:nvSpPr>
          <p:cNvPr id="10" name="cardbody-90"/>
          <p:cNvSpPr txBox="1"/>
          <p:nvPr/>
        </p:nvSpPr>
        <p:spPr>
          <a:xfrm>
            <a:off x="6355080" y="1984248"/>
            <a:ext cx="5074920" cy="243230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80 stations, 248 physical edges</a:t>
            </a:r>
            <a:endParaRPr lang="en-US" sz="1600" dirty="0"/>
          </a:p>
          <a:p>
            <a:pPr marL="342900" indent="-342900">
              <a:spcAft>
                <a:spcPts val="400"/>
              </a:spcAft>
              <a:buSzPct val="100000"/>
              <a:buChar char="•"/>
            </a:pPr>
            <a:r>
              <a:rPr lang="en-US" sz="1600" dirty="0">
                <a:solidFill>
                  <a:schemeClr val="tx1"/>
                </a:solidFill>
              </a:rPr>
              <a:t>2.35 M trips per day, January 2019</a:t>
            </a:r>
            <a:endParaRPr lang="en-US" sz="1600" dirty="0"/>
          </a:p>
          <a:p>
            <a:pPr marL="342900" indent="-342900">
              <a:spcAft>
                <a:spcPts val="400"/>
              </a:spcAft>
              <a:buSzPct val="100000"/>
              <a:buChar char="•"/>
            </a:pPr>
            <a:r>
              <a:rPr lang="en-US" sz="1600" dirty="0">
                <a:solidFill>
                  <a:schemeClr val="tx1"/>
                </a:solidFill>
              </a:rPr>
              <a:t>Train Jan 1–18 · Val Jan 19–20 · Test Jan 21–25</a:t>
            </a:r>
            <a:endParaRPr lang="en-US" sz="1600" dirty="0"/>
          </a:p>
          <a:p>
            <a:pPr marL="342900" indent="-342900">
              <a:spcAft>
                <a:spcPts val="400"/>
              </a:spcAft>
              <a:buSzPct val="100000"/>
              <a:buChar char="•"/>
            </a:pPr>
            <a:r>
              <a:rPr lang="en-US" sz="1600" dirty="0">
                <a:solidFill>
                  <a:schemeClr val="tx1"/>
                </a:solidFill>
              </a:rPr>
              <a:t>Validation days are a weekend; test days are weekdays</a:t>
            </a:r>
            <a:endParaRPr lang="en-US" sz="1600" dirty="0"/>
          </a:p>
        </p:txBody>
      </p:sp>
      <p:sp>
        <p:nvSpPr>
          <p:cNvPr id="11" name="ds-note"/>
          <p:cNvSpPr txBox="1"/>
          <p:nvPr/>
        </p:nvSpPr>
        <p:spPr>
          <a:xfrm>
            <a:off x="548640" y="4800600"/>
            <a:ext cx="11064240" cy="914400"/>
          </a:xfrm>
          <a:prstGeom prst="rect">
            <a:avLst/>
          </a:prstGeom>
          <a:noFill/>
          <a:ln/>
        </p:spPr>
        <p:txBody>
          <a:bodyPr wrap="square" lIns="0" tIns="0" rIns="0" bIns="0" rtlCol="0" anchor="ctr"/>
          <a:lstStyle/>
          <a:p>
            <a:pPr indent="0" marL="0">
              <a:buNone/>
            </a:pPr>
            <a:r>
              <a:rPr lang="en-US" sz="1600" dirty="0">
                <a:solidFill>
                  <a:schemeClr val="tx1"/>
                </a:solidFill>
              </a:rPr>
              <a:t>Service hours 05:30–23:30 → 73 slots of 15 minutes per day, 66 forecast windows per day. Splits are by date, so the model is always tested on days after the ones it trained on.</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Paper result: PVCGN beat all compared methods</a:t>
            </a:r>
            <a:endParaRPr lang="en-US" sz="3200" dirty="0"/>
          </a:p>
        </p:txBody>
      </p:sp>
      <p:graphicFrame>
        <p:nvGraphicFramePr>
          <p:cNvPr id="3" name="paper-chart" descr=""/>
          <p:cNvGraphicFramePr/>
          <p:nvPr/>
        </p:nvGraphicFramePr>
        <p:xfrm>
          <a:off x="548640" y="1325880"/>
          <a:ext cx="7589520" cy="4846320"/>
        </p:xfrm>
        <a:graphic xmlns:a="http://schemas.openxmlformats.org/drawingml/2006/main">
          <a:graphicData uri="http://schemas.openxmlformats.org/drawingml/2006/chart">
            <c:chart xmlns:c="http://schemas.openxmlformats.org/drawingml/2006/chart" r:id="rId1"/>
          </a:graphicData>
        </a:graphic>
      </p:graphicFrame>
      <p:sp>
        <p:nvSpPr>
          <p:cNvPr id="4" name="card-91"/>
          <p:cNvSpPr/>
          <p:nvPr/>
        </p:nvSpPr>
        <p:spPr>
          <a:xfrm>
            <a:off x="8412480" y="1417320"/>
            <a:ext cx="3200400" cy="4480560"/>
          </a:xfrm>
          <a:prstGeom prst="roundRect">
            <a:avLst>
              <a:gd name="adj" fmla="val 2286"/>
            </a:avLst>
          </a:prstGeom>
          <a:solidFill>
            <a:schemeClr val="bg2"/>
          </a:solidFill>
          <a:ln w="12700">
            <a:solidFill>
              <a:schemeClr val="bg2"/>
            </a:solidFill>
            <a:prstDash val="solid"/>
          </a:ln>
        </p:spPr>
      </p:sp>
      <p:sp>
        <p:nvSpPr>
          <p:cNvPr id="5" name="dot-92"/>
          <p:cNvSpPr/>
          <p:nvPr/>
        </p:nvSpPr>
        <p:spPr>
          <a:xfrm>
            <a:off x="8595360" y="1618488"/>
            <a:ext cx="237744" cy="237744"/>
          </a:xfrm>
          <a:prstGeom prst="ellipse">
            <a:avLst/>
          </a:prstGeom>
          <a:solidFill>
            <a:schemeClr val="accent2"/>
          </a:solidFill>
          <a:ln w="25400">
            <a:solidFill>
              <a:schemeClr val="bg1"/>
            </a:solidFill>
            <a:prstDash val="solid"/>
          </a:ln>
        </p:spPr>
      </p:sp>
      <p:sp>
        <p:nvSpPr>
          <p:cNvPr id="6" name="cardtitle-93"/>
          <p:cNvSpPr txBox="1"/>
          <p:nvPr/>
        </p:nvSpPr>
        <p:spPr>
          <a:xfrm>
            <a:off x="8924544" y="1527048"/>
            <a:ext cx="2560320" cy="420624"/>
          </a:xfrm>
          <a:prstGeom prst="rect">
            <a:avLst/>
          </a:prstGeom>
          <a:noFill/>
          <a:ln/>
        </p:spPr>
        <p:txBody>
          <a:bodyPr wrap="square" lIns="0" tIns="0" rIns="0" bIns="0" rtlCol="0" anchor="ctr"/>
          <a:lstStyle/>
          <a:p>
            <a:pPr indent="0" marL="0">
              <a:buNone/>
            </a:pPr>
            <a:r>
              <a:rPr lang="en-US" sz="1600" b="1" dirty="0">
                <a:solidFill>
                  <a:schemeClr val="tx1"/>
                </a:solidFill>
              </a:rPr>
              <a:t>What the paper reports</a:t>
            </a:r>
            <a:endParaRPr lang="en-US" sz="1600" dirty="0"/>
          </a:p>
        </p:txBody>
      </p:sp>
      <p:sp>
        <p:nvSpPr>
          <p:cNvPr id="7" name="cardbody-94"/>
          <p:cNvSpPr txBox="1"/>
          <p:nvPr/>
        </p:nvSpPr>
        <p:spPr>
          <a:xfrm>
            <a:off x="8595360" y="1984248"/>
            <a:ext cx="2834640" cy="380390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Best MAE, RMSE and MAPE on both cities at all 4 horizons</a:t>
            </a:r>
            <a:endParaRPr lang="en-US" sz="1600" dirty="0"/>
          </a:p>
          <a:p>
            <a:pPr marL="342900" indent="-342900">
              <a:spcAft>
                <a:spcPts val="400"/>
              </a:spcAft>
              <a:buSzPct val="100000"/>
              <a:buChar char="•"/>
            </a:pPr>
            <a:r>
              <a:rPr lang="en-US" sz="1600" dirty="0">
                <a:solidFill>
                  <a:schemeClr val="tx1"/>
                </a:solidFill>
              </a:rPr>
              <a:t>Also best at rush hours and at the busiest stations</a:t>
            </a:r>
            <a:endParaRPr lang="en-US" sz="1600" dirty="0"/>
          </a:p>
          <a:p>
            <a:pPr marL="342900" indent="-342900">
              <a:spcAft>
                <a:spcPts val="400"/>
              </a:spcAft>
              <a:buSzPct val="100000"/>
              <a:buChar char="•"/>
            </a:pPr>
            <a:r>
              <a:rPr lang="en-US" sz="1600" dirty="0">
                <a:solidFill>
                  <a:schemeClr val="tx1"/>
                </a:solidFill>
              </a:rPr>
              <a:t>Numbers from Table III of the paper</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2377440" y="2377440"/>
            <a:ext cx="9144000" cy="1097280"/>
          </a:xfrm>
          <a:prstGeom prst="rect">
            <a:avLst/>
          </a:prstGeom>
          <a:noFill/>
          <a:ln/>
        </p:spPr>
        <p:txBody>
          <a:bodyPr wrap="square"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The research gap</a:t>
            </a:r>
            <a:endParaRPr lang="en-US" sz="4000" dirty="0"/>
          </a:p>
        </p:txBody>
      </p:sp>
      <p:sp>
        <p:nvSpPr>
          <p:cNvPr id="3" name="Text 0"/>
          <p:cNvSpPr/>
          <p:nvPr>
            <p:ph idx="101" type="body" hasCustomPrompt="1"/>
          </p:nvPr>
        </p:nvSpPr>
        <p:spPr>
          <a:xfrm>
            <a:off x="2377440" y="3474720"/>
            <a:ext cx="9144000" cy="914400"/>
          </a:xfrm>
          <a:prstGeom prst="rect">
            <a:avLst/>
          </a:prstGeom>
          <a:noFill/>
          <a:ln/>
        </p:spPr>
        <p:txBody>
          <a:bodyPr wrap="square" rtlCol="0" anchor="t"/>
          <a:lstStyle/>
          <a:p>
            <a:pPr algn="l" indent="0" marL="0">
              <a:buNone/>
            </a:pPr>
            <a:r>
              <a:rPr lang="en-US" sz="1800" dirty="0">
                <a:solidFill>
                  <a:schemeClr val="accent6"/>
                </a:solidFill>
              </a:rPr>
              <a:t>PVCGN never looks at the clock, the calendar or earlier days</a:t>
            </a:r>
            <a:endParaRPr lang="en-US" sz="1800" dirty="0"/>
          </a:p>
        </p:txBody>
      </p:sp>
      <p:sp>
        <p:nvSpPr>
          <p:cNvPr id="4" name="dot-95"/>
          <p:cNvSpPr/>
          <p:nvPr/>
        </p:nvSpPr>
        <p:spPr>
          <a:xfrm>
            <a:off x="822960" y="2514600"/>
            <a:ext cx="1097280" cy="1097280"/>
          </a:xfrm>
          <a:prstGeom prst="ellipse">
            <a:avLst/>
          </a:prstGeom>
          <a:solidFill>
            <a:schemeClr val="accent1"/>
          </a:solidFill>
          <a:ln w="25400">
            <a:solidFill>
              <a:schemeClr val="bg1"/>
            </a:solidFill>
            <a:prstDash val="solid"/>
          </a:ln>
        </p:spPr>
      </p:sp>
      <p:sp>
        <p:nvSpPr>
          <p:cNvPr id="5" name="dotlabel-96"/>
          <p:cNvSpPr txBox="1"/>
          <p:nvPr/>
        </p:nvSpPr>
        <p:spPr>
          <a:xfrm>
            <a:off x="822960" y="2514600"/>
            <a:ext cx="1097280" cy="1097280"/>
          </a:xfrm>
          <a:prstGeom prst="rect">
            <a:avLst/>
          </a:prstGeom>
          <a:noFill/>
          <a:ln/>
        </p:spPr>
        <p:txBody>
          <a:bodyPr wrap="square" lIns="0" tIns="0" rIns="0" bIns="0" rtlCol="0" anchor="ctr"/>
          <a:lstStyle/>
          <a:p>
            <a:pPr algn="ctr" indent="0" marL="0">
              <a:buNone/>
            </a:pPr>
            <a:r>
              <a:rPr lang="en-US" sz="3200" b="1" dirty="0">
                <a:solidFill>
                  <a:schemeClr val="tx1"/>
                </a:solidFill>
              </a:rPr>
              <a:t>2</a:t>
            </a:r>
            <a:endParaRPr lang="en-US"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Gaps we found — and the one we chose</a:t>
            </a:r>
            <a:endParaRPr lang="en-US" sz="3200" dirty="0"/>
          </a:p>
        </p:txBody>
      </p:sp>
      <p:sp>
        <p:nvSpPr>
          <p:cNvPr id="3" name="card-97"/>
          <p:cNvSpPr/>
          <p:nvPr/>
        </p:nvSpPr>
        <p:spPr>
          <a:xfrm>
            <a:off x="548640" y="1371600"/>
            <a:ext cx="5440680" cy="2240280"/>
          </a:xfrm>
          <a:prstGeom prst="roundRect">
            <a:avLst>
              <a:gd name="adj" fmla="val 3265"/>
            </a:avLst>
          </a:prstGeom>
          <a:solidFill>
            <a:schemeClr val="accent5"/>
          </a:solidFill>
          <a:ln w="12700">
            <a:solidFill>
              <a:schemeClr val="accent5"/>
            </a:solidFill>
            <a:prstDash val="solid"/>
          </a:ln>
        </p:spPr>
      </p:sp>
      <p:sp>
        <p:nvSpPr>
          <p:cNvPr id="4" name="dot-98"/>
          <p:cNvSpPr/>
          <p:nvPr/>
        </p:nvSpPr>
        <p:spPr>
          <a:xfrm>
            <a:off x="731520" y="1572768"/>
            <a:ext cx="237744" cy="237744"/>
          </a:xfrm>
          <a:prstGeom prst="ellipse">
            <a:avLst/>
          </a:prstGeom>
          <a:solidFill>
            <a:schemeClr val="accent1"/>
          </a:solidFill>
          <a:ln w="25400">
            <a:solidFill>
              <a:schemeClr val="bg1"/>
            </a:solidFill>
            <a:prstDash val="solid"/>
          </a:ln>
        </p:spPr>
      </p:sp>
      <p:sp>
        <p:nvSpPr>
          <p:cNvPr id="5" name="cardtitle-99"/>
          <p:cNvSpPr txBox="1"/>
          <p:nvPr/>
        </p:nvSpPr>
        <p:spPr>
          <a:xfrm>
            <a:off x="1060704" y="1481328"/>
            <a:ext cx="4800600" cy="420624"/>
          </a:xfrm>
          <a:prstGeom prst="rect">
            <a:avLst/>
          </a:prstGeom>
          <a:noFill/>
          <a:ln/>
        </p:spPr>
        <p:txBody>
          <a:bodyPr wrap="square" lIns="0" tIns="0" rIns="0" bIns="0" rtlCol="0" anchor="ctr"/>
          <a:lstStyle/>
          <a:p>
            <a:pPr indent="0" marL="0">
              <a:buNone/>
            </a:pPr>
            <a:r>
              <a:rPr lang="en-US" sz="1600" b="1" dirty="0">
                <a:solidFill>
                  <a:schemeClr val="bg1"/>
                </a:solidFill>
              </a:rPr>
              <a:t>Gap 1 · CHOSEN</a:t>
            </a:r>
            <a:endParaRPr lang="en-US" sz="1600" dirty="0"/>
          </a:p>
        </p:txBody>
      </p:sp>
      <p:sp>
        <p:nvSpPr>
          <p:cNvPr id="6" name="cardbody-100"/>
          <p:cNvSpPr txBox="1"/>
          <p:nvPr/>
        </p:nvSpPr>
        <p:spPr>
          <a:xfrm>
            <a:off x="731520" y="1938528"/>
            <a:ext cx="5074920" cy="1563624"/>
          </a:xfrm>
          <a:prstGeom prst="rect">
            <a:avLst/>
          </a:prstGeom>
          <a:noFill/>
          <a:ln/>
        </p:spPr>
        <p:txBody>
          <a:bodyPr wrap="square" lIns="0" tIns="0" rIns="0" bIns="0" rtlCol="0" anchor="t"/>
          <a:lstStyle/>
          <a:p>
            <a:pPr indent="0" marL="0">
              <a:buNone/>
            </a:pPr>
            <a:r>
              <a:rPr lang="en-US" sz="1600" dirty="0">
                <a:solidFill>
                  <a:schemeClr val="bg1"/>
                </a:solidFill>
              </a:rPr>
              <a:t>No periodic or calendar context: PVCGN sees only the last hour, never the time of day, weekday/holiday, or earlier days.</a:t>
            </a:r>
            <a:endParaRPr lang="en-US" sz="1600" dirty="0"/>
          </a:p>
        </p:txBody>
      </p:sp>
      <p:sp>
        <p:nvSpPr>
          <p:cNvPr id="7" name="card-101"/>
          <p:cNvSpPr/>
          <p:nvPr/>
        </p:nvSpPr>
        <p:spPr>
          <a:xfrm>
            <a:off x="6172200" y="1371600"/>
            <a:ext cx="5440680" cy="2240280"/>
          </a:xfrm>
          <a:prstGeom prst="roundRect">
            <a:avLst>
              <a:gd name="adj" fmla="val 3265"/>
            </a:avLst>
          </a:prstGeom>
          <a:solidFill>
            <a:schemeClr val="bg2"/>
          </a:solidFill>
          <a:ln w="12700">
            <a:solidFill>
              <a:schemeClr val="bg2"/>
            </a:solidFill>
            <a:prstDash val="solid"/>
          </a:ln>
        </p:spPr>
      </p:sp>
      <p:sp>
        <p:nvSpPr>
          <p:cNvPr id="8" name="dot-102"/>
          <p:cNvSpPr/>
          <p:nvPr/>
        </p:nvSpPr>
        <p:spPr>
          <a:xfrm>
            <a:off x="6355080" y="1572768"/>
            <a:ext cx="237744" cy="237744"/>
          </a:xfrm>
          <a:prstGeom prst="ellipse">
            <a:avLst/>
          </a:prstGeom>
          <a:solidFill>
            <a:schemeClr val="accent4"/>
          </a:solidFill>
          <a:ln w="25400">
            <a:solidFill>
              <a:schemeClr val="bg1"/>
            </a:solidFill>
            <a:prstDash val="solid"/>
          </a:ln>
        </p:spPr>
      </p:sp>
      <p:sp>
        <p:nvSpPr>
          <p:cNvPr id="9" name="cardtitle-103"/>
          <p:cNvSpPr txBox="1"/>
          <p:nvPr/>
        </p:nvSpPr>
        <p:spPr>
          <a:xfrm>
            <a:off x="6684264" y="1481328"/>
            <a:ext cx="4800600" cy="420624"/>
          </a:xfrm>
          <a:prstGeom prst="rect">
            <a:avLst/>
          </a:prstGeom>
          <a:noFill/>
          <a:ln/>
        </p:spPr>
        <p:txBody>
          <a:bodyPr wrap="square" lIns="0" tIns="0" rIns="0" bIns="0" rtlCol="0" anchor="ctr"/>
          <a:lstStyle/>
          <a:p>
            <a:pPr indent="0" marL="0">
              <a:buNone/>
            </a:pPr>
            <a:r>
              <a:rPr lang="en-US" sz="1600" b="1" dirty="0">
                <a:solidFill>
                  <a:schemeClr val="tx1"/>
                </a:solidFill>
              </a:rPr>
              <a:t>Gap 2 · future work</a:t>
            </a:r>
            <a:endParaRPr lang="en-US" sz="1600" dirty="0"/>
          </a:p>
        </p:txBody>
      </p:sp>
      <p:sp>
        <p:nvSpPr>
          <p:cNvPr id="10" name="cardbody-104"/>
          <p:cNvSpPr txBox="1"/>
          <p:nvPr/>
        </p:nvSpPr>
        <p:spPr>
          <a:xfrm>
            <a:off x="6355080" y="1938528"/>
            <a:ext cx="5074920" cy="1563624"/>
          </a:xfrm>
          <a:prstGeom prst="rect">
            <a:avLst/>
          </a:prstGeom>
          <a:noFill/>
          <a:ln/>
        </p:spPr>
        <p:txBody>
          <a:bodyPr wrap="square" lIns="0" tIns="0" rIns="0" bIns="0" rtlCol="0" anchor="t"/>
          <a:lstStyle/>
          <a:p>
            <a:pPr indent="0" marL="0">
              <a:buNone/>
            </a:pPr>
            <a:r>
              <a:rPr lang="en-US" sz="1600" dirty="0">
                <a:solidFill>
                  <a:schemeClr val="tx1"/>
                </a:solidFill>
              </a:rPr>
              <a:t>Similarity and correlation graphs are fixed all day, though which stations behave alike changes between peaks.</a:t>
            </a:r>
            <a:endParaRPr lang="en-US" sz="1600" dirty="0"/>
          </a:p>
        </p:txBody>
      </p:sp>
      <p:sp>
        <p:nvSpPr>
          <p:cNvPr id="11" name="card-105"/>
          <p:cNvSpPr/>
          <p:nvPr/>
        </p:nvSpPr>
        <p:spPr>
          <a:xfrm>
            <a:off x="548640" y="3794760"/>
            <a:ext cx="5440680" cy="2240280"/>
          </a:xfrm>
          <a:prstGeom prst="roundRect">
            <a:avLst>
              <a:gd name="adj" fmla="val 3265"/>
            </a:avLst>
          </a:prstGeom>
          <a:solidFill>
            <a:schemeClr val="bg2"/>
          </a:solidFill>
          <a:ln w="12700">
            <a:solidFill>
              <a:schemeClr val="bg2"/>
            </a:solidFill>
            <a:prstDash val="solid"/>
          </a:ln>
        </p:spPr>
      </p:sp>
      <p:sp>
        <p:nvSpPr>
          <p:cNvPr id="12" name="dot-106"/>
          <p:cNvSpPr/>
          <p:nvPr/>
        </p:nvSpPr>
        <p:spPr>
          <a:xfrm>
            <a:off x="731520" y="3995928"/>
            <a:ext cx="237744" cy="237744"/>
          </a:xfrm>
          <a:prstGeom prst="ellipse">
            <a:avLst/>
          </a:prstGeom>
          <a:solidFill>
            <a:schemeClr val="accent4"/>
          </a:solidFill>
          <a:ln w="25400">
            <a:solidFill>
              <a:schemeClr val="bg1"/>
            </a:solidFill>
            <a:prstDash val="solid"/>
          </a:ln>
        </p:spPr>
      </p:sp>
      <p:sp>
        <p:nvSpPr>
          <p:cNvPr id="13" name="cardtitle-107"/>
          <p:cNvSpPr txBox="1"/>
          <p:nvPr/>
        </p:nvSpPr>
        <p:spPr>
          <a:xfrm>
            <a:off x="1060704" y="3904488"/>
            <a:ext cx="4800600" cy="420624"/>
          </a:xfrm>
          <a:prstGeom prst="rect">
            <a:avLst/>
          </a:prstGeom>
          <a:noFill/>
          <a:ln/>
        </p:spPr>
        <p:txBody>
          <a:bodyPr wrap="square" lIns="0" tIns="0" rIns="0" bIns="0" rtlCol="0" anchor="ctr"/>
          <a:lstStyle/>
          <a:p>
            <a:pPr indent="0" marL="0">
              <a:buNone/>
            </a:pPr>
            <a:r>
              <a:rPr lang="en-US" sz="1600" b="1" dirty="0">
                <a:solidFill>
                  <a:schemeClr val="tx1"/>
                </a:solidFill>
              </a:rPr>
              <a:t>Gap 3 · future work</a:t>
            </a:r>
            <a:endParaRPr lang="en-US" sz="1600" dirty="0"/>
          </a:p>
        </p:txBody>
      </p:sp>
      <p:sp>
        <p:nvSpPr>
          <p:cNvPr id="14" name="cardbody-108"/>
          <p:cNvSpPr txBox="1"/>
          <p:nvPr/>
        </p:nvSpPr>
        <p:spPr>
          <a:xfrm>
            <a:off x="731520" y="4361688"/>
            <a:ext cx="5074920" cy="1563624"/>
          </a:xfrm>
          <a:prstGeom prst="rect">
            <a:avLst/>
          </a:prstGeom>
          <a:noFill/>
          <a:ln/>
        </p:spPr>
        <p:txBody>
          <a:bodyPr wrap="square" lIns="0" tIns="0" rIns="0" bIns="0" rtlCol="0" anchor="t"/>
          <a:lstStyle/>
          <a:p>
            <a:pPr indent="0" marL="0">
              <a:buNone/>
            </a:pPr>
            <a:r>
              <a:rPr lang="en-US" sz="1600" dirty="0">
                <a:solidFill>
                  <a:schemeClr val="tx1"/>
                </a:solidFill>
              </a:rPr>
              <a:t>Point forecasts only: no prediction intervals, although busy stations are far noisier.</a:t>
            </a:r>
            <a:endParaRPr lang="en-US" sz="1600" dirty="0"/>
          </a:p>
        </p:txBody>
      </p:sp>
      <p:sp>
        <p:nvSpPr>
          <p:cNvPr id="15" name="card-109"/>
          <p:cNvSpPr/>
          <p:nvPr/>
        </p:nvSpPr>
        <p:spPr>
          <a:xfrm>
            <a:off x="6172200" y="3794760"/>
            <a:ext cx="5440680" cy="2240280"/>
          </a:xfrm>
          <a:prstGeom prst="roundRect">
            <a:avLst>
              <a:gd name="adj" fmla="val 3265"/>
            </a:avLst>
          </a:prstGeom>
          <a:solidFill>
            <a:schemeClr val="bg2"/>
          </a:solidFill>
          <a:ln w="12700">
            <a:solidFill>
              <a:schemeClr val="bg2"/>
            </a:solidFill>
            <a:prstDash val="solid"/>
          </a:ln>
        </p:spPr>
      </p:sp>
      <p:sp>
        <p:nvSpPr>
          <p:cNvPr id="16" name="dot-110"/>
          <p:cNvSpPr/>
          <p:nvPr/>
        </p:nvSpPr>
        <p:spPr>
          <a:xfrm>
            <a:off x="6355080" y="3995928"/>
            <a:ext cx="237744" cy="237744"/>
          </a:xfrm>
          <a:prstGeom prst="ellipse">
            <a:avLst/>
          </a:prstGeom>
          <a:solidFill>
            <a:schemeClr val="accent4"/>
          </a:solidFill>
          <a:ln w="25400">
            <a:solidFill>
              <a:schemeClr val="bg1"/>
            </a:solidFill>
            <a:prstDash val="solid"/>
          </a:ln>
        </p:spPr>
      </p:sp>
      <p:sp>
        <p:nvSpPr>
          <p:cNvPr id="17" name="cardtitle-111"/>
          <p:cNvSpPr txBox="1"/>
          <p:nvPr/>
        </p:nvSpPr>
        <p:spPr>
          <a:xfrm>
            <a:off x="6684264" y="3904488"/>
            <a:ext cx="4800600" cy="420624"/>
          </a:xfrm>
          <a:prstGeom prst="rect">
            <a:avLst/>
          </a:prstGeom>
          <a:noFill/>
          <a:ln/>
        </p:spPr>
        <p:txBody>
          <a:bodyPr wrap="square" lIns="0" tIns="0" rIns="0" bIns="0" rtlCol="0" anchor="ctr"/>
          <a:lstStyle/>
          <a:p>
            <a:pPr indent="0" marL="0">
              <a:buNone/>
            </a:pPr>
            <a:r>
              <a:rPr lang="en-US" sz="1600" b="1" dirty="0">
                <a:solidFill>
                  <a:schemeClr val="tx1"/>
                </a:solidFill>
              </a:rPr>
              <a:t>Gap 4 · handled in our tests</a:t>
            </a:r>
            <a:endParaRPr lang="en-US" sz="1600" dirty="0"/>
          </a:p>
        </p:txBody>
      </p:sp>
      <p:sp>
        <p:nvSpPr>
          <p:cNvPr id="18" name="cardbody-112"/>
          <p:cNvSpPr txBox="1"/>
          <p:nvPr/>
        </p:nvSpPr>
        <p:spPr>
          <a:xfrm>
            <a:off x="6355080" y="4361688"/>
            <a:ext cx="5074920" cy="1563624"/>
          </a:xfrm>
          <a:prstGeom prst="rect">
            <a:avLst/>
          </a:prstGeom>
          <a:noFill/>
          <a:ln/>
        </p:spPr>
        <p:txBody>
          <a:bodyPr wrap="square" lIns="0" tIns="0" rIns="0" bIns="0" rtlCol="0" anchor="t"/>
          <a:lstStyle/>
          <a:p>
            <a:pPr indent="0" marL="0">
              <a:buNone/>
            </a:pPr>
            <a:r>
              <a:rPr lang="en-US" sz="1600" dirty="0">
                <a:solidFill>
                  <a:schemeClr val="tx1"/>
                </a:solidFill>
              </a:rPr>
              <a:t>Missing baselines (same-time-last-week, boosting with periodic features), single runs, holidays not analysed.</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Evidence: past days predict far better than one hour ago</a:t>
            </a:r>
            <a:endParaRPr lang="en-US" sz="3200" dirty="0"/>
          </a:p>
        </p:txBody>
      </p:sp>
      <p:graphicFrame>
        <p:nvGraphicFramePr>
          <p:cNvPr id="3" name="evidence-chart" descr=""/>
          <p:cNvGraphicFramePr/>
          <p:nvPr/>
        </p:nvGraphicFramePr>
        <p:xfrm>
          <a:off x="548640" y="132588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4" name="card-113"/>
          <p:cNvSpPr/>
          <p:nvPr/>
        </p:nvSpPr>
        <p:spPr>
          <a:xfrm>
            <a:off x="7772400" y="1417320"/>
            <a:ext cx="3840480" cy="2103120"/>
          </a:xfrm>
          <a:prstGeom prst="roundRect">
            <a:avLst>
              <a:gd name="adj" fmla="val 3478"/>
            </a:avLst>
          </a:prstGeom>
          <a:solidFill>
            <a:schemeClr val="bg2"/>
          </a:solidFill>
          <a:ln w="12700">
            <a:solidFill>
              <a:schemeClr val="bg2"/>
            </a:solidFill>
            <a:prstDash val="solid"/>
          </a:ln>
        </p:spPr>
      </p:sp>
      <p:sp>
        <p:nvSpPr>
          <p:cNvPr id="5" name="dot-114"/>
          <p:cNvSpPr/>
          <p:nvPr/>
        </p:nvSpPr>
        <p:spPr>
          <a:xfrm>
            <a:off x="7955280" y="1618488"/>
            <a:ext cx="237744" cy="237744"/>
          </a:xfrm>
          <a:prstGeom prst="ellipse">
            <a:avLst/>
          </a:prstGeom>
          <a:solidFill>
            <a:schemeClr val="accent3"/>
          </a:solidFill>
          <a:ln w="25400">
            <a:solidFill>
              <a:schemeClr val="bg1"/>
            </a:solidFill>
            <a:prstDash val="solid"/>
          </a:ln>
        </p:spPr>
      </p:sp>
      <p:sp>
        <p:nvSpPr>
          <p:cNvPr id="6" name="cardtitle-115"/>
          <p:cNvSpPr txBox="1"/>
          <p:nvPr/>
        </p:nvSpPr>
        <p:spPr>
          <a:xfrm>
            <a:off x="8284464" y="1527048"/>
            <a:ext cx="3200400" cy="420624"/>
          </a:xfrm>
          <a:prstGeom prst="rect">
            <a:avLst/>
          </a:prstGeom>
          <a:noFill/>
          <a:ln/>
        </p:spPr>
        <p:txBody>
          <a:bodyPr wrap="square" lIns="0" tIns="0" rIns="0" bIns="0" rtlCol="0" anchor="ctr"/>
          <a:lstStyle/>
          <a:p>
            <a:pPr indent="0" marL="0">
              <a:buNone/>
            </a:pPr>
            <a:r>
              <a:rPr lang="en-US" sz="1600" b="1" dirty="0">
                <a:solidFill>
                  <a:schemeClr val="tx1"/>
                </a:solidFill>
              </a:rPr>
              <a:t>Why this matters</a:t>
            </a:r>
            <a:endParaRPr lang="en-US" sz="1600" dirty="0"/>
          </a:p>
        </p:txBody>
      </p:sp>
      <p:sp>
        <p:nvSpPr>
          <p:cNvPr id="7" name="cardbody-116"/>
          <p:cNvSpPr txBox="1"/>
          <p:nvPr/>
        </p:nvSpPr>
        <p:spPr>
          <a:xfrm>
            <a:off x="7955280" y="1984248"/>
            <a:ext cx="3474720" cy="1426464"/>
          </a:xfrm>
          <a:prstGeom prst="rect">
            <a:avLst/>
          </a:prstGeom>
          <a:noFill/>
          <a:ln/>
        </p:spPr>
        <p:txBody>
          <a:bodyPr wrap="square" lIns="0" tIns="0" rIns="0" bIns="0" rtlCol="0" anchor="t"/>
          <a:lstStyle/>
          <a:p>
            <a:pPr indent="0" marL="0">
              <a:buNone/>
            </a:pPr>
            <a:r>
              <a:rPr lang="en-US" sz="1600" dirty="0">
                <a:solidFill>
                  <a:schemeClr val="tx1"/>
                </a:solidFill>
              </a:rPr>
              <a:t>To forecast 60 minutes ahead, PVCGN's newest input is already an hour old (r ≈ 0.66–0.72). The same slot last week is much closer (r ≈ 0.95).</a:t>
            </a:r>
            <a:endParaRPr lang="en-US" sz="1600" dirty="0"/>
          </a:p>
        </p:txBody>
      </p:sp>
      <p:sp>
        <p:nvSpPr>
          <p:cNvPr id="8" name="card-117"/>
          <p:cNvSpPr/>
          <p:nvPr/>
        </p:nvSpPr>
        <p:spPr>
          <a:xfrm>
            <a:off x="7772400" y="3703320"/>
            <a:ext cx="3840480" cy="2286000"/>
          </a:xfrm>
          <a:prstGeom prst="roundRect">
            <a:avLst>
              <a:gd name="adj" fmla="val 3200"/>
            </a:avLst>
          </a:prstGeom>
          <a:solidFill>
            <a:schemeClr val="bg2"/>
          </a:solidFill>
          <a:ln w="12700">
            <a:solidFill>
              <a:schemeClr val="bg2"/>
            </a:solidFill>
            <a:prstDash val="solid"/>
          </a:ln>
        </p:spPr>
      </p:sp>
      <p:sp>
        <p:nvSpPr>
          <p:cNvPr id="9" name="dot-118"/>
          <p:cNvSpPr/>
          <p:nvPr/>
        </p:nvSpPr>
        <p:spPr>
          <a:xfrm>
            <a:off x="7955280" y="3904488"/>
            <a:ext cx="237744" cy="237744"/>
          </a:xfrm>
          <a:prstGeom prst="ellipse">
            <a:avLst/>
          </a:prstGeom>
          <a:solidFill>
            <a:schemeClr val="accent2"/>
          </a:solidFill>
          <a:ln w="25400">
            <a:solidFill>
              <a:schemeClr val="bg1"/>
            </a:solidFill>
            <a:prstDash val="solid"/>
          </a:ln>
        </p:spPr>
      </p:sp>
      <p:sp>
        <p:nvSpPr>
          <p:cNvPr id="10" name="cardtitle-119"/>
          <p:cNvSpPr txBox="1"/>
          <p:nvPr/>
        </p:nvSpPr>
        <p:spPr>
          <a:xfrm>
            <a:off x="8284464" y="3813048"/>
            <a:ext cx="3200400" cy="420624"/>
          </a:xfrm>
          <a:prstGeom prst="rect">
            <a:avLst/>
          </a:prstGeom>
          <a:noFill/>
          <a:ln/>
        </p:spPr>
        <p:txBody>
          <a:bodyPr wrap="square" lIns="0" tIns="0" rIns="0" bIns="0" rtlCol="0" anchor="ctr"/>
          <a:lstStyle/>
          <a:p>
            <a:pPr indent="0" marL="0">
              <a:buNone/>
            </a:pPr>
            <a:r>
              <a:rPr lang="en-US" sz="1600" b="1" dirty="0">
                <a:solidFill>
                  <a:schemeClr val="tx1"/>
                </a:solidFill>
              </a:rPr>
              <a:t>And on training data</a:t>
            </a:r>
            <a:endParaRPr lang="en-US" sz="1600" dirty="0"/>
          </a:p>
        </p:txBody>
      </p:sp>
      <p:sp>
        <p:nvSpPr>
          <p:cNvPr id="11" name="cardbody-120"/>
          <p:cNvSpPr txBox="1"/>
          <p:nvPr/>
        </p:nvSpPr>
        <p:spPr>
          <a:xfrm>
            <a:off x="7955280" y="4270248"/>
            <a:ext cx="3474720" cy="1609344"/>
          </a:xfrm>
          <a:prstGeom prst="rect">
            <a:avLst/>
          </a:prstGeom>
          <a:noFill/>
          <a:ln/>
        </p:spPr>
        <p:txBody>
          <a:bodyPr wrap="square" lIns="0" tIns="0" rIns="0" bIns="0" rtlCol="0" anchor="t"/>
          <a:lstStyle/>
          <a:p>
            <a:pPr indent="0" marL="0">
              <a:buNone/>
            </a:pPr>
            <a:r>
              <a:rPr lang="en-US" sz="1600" dirty="0">
                <a:solidFill>
                  <a:schemeClr val="tx1"/>
                </a:solidFill>
              </a:rPr>
              <a:t>Same slot on the last comparable day vs. ridership 60 min ahead: r = 0.96 (HZ), 0.99 (SH). The last observation: r = 0.70 / 0.66.</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2377440" y="2377440"/>
            <a:ext cx="9144000" cy="1097280"/>
          </a:xfrm>
          <a:prstGeom prst="rect">
            <a:avLst/>
          </a:prstGeom>
          <a:noFill/>
          <a:ln/>
        </p:spPr>
        <p:txBody>
          <a:bodyPr wrap="square"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Our solution: PT-PVCGN</a:t>
            </a:r>
            <a:endParaRPr lang="en-US" sz="4000" dirty="0"/>
          </a:p>
        </p:txBody>
      </p:sp>
      <p:sp>
        <p:nvSpPr>
          <p:cNvPr id="3" name="Text 0"/>
          <p:cNvSpPr/>
          <p:nvPr>
            <p:ph idx="101" type="body" hasCustomPrompt="1"/>
          </p:nvPr>
        </p:nvSpPr>
        <p:spPr>
          <a:xfrm>
            <a:off x="2377440" y="3474720"/>
            <a:ext cx="9144000" cy="914400"/>
          </a:xfrm>
          <a:prstGeom prst="rect">
            <a:avLst/>
          </a:prstGeom>
          <a:noFill/>
          <a:ln/>
        </p:spPr>
        <p:txBody>
          <a:bodyPr wrap="square" rtlCol="0" anchor="t"/>
          <a:lstStyle/>
          <a:p>
            <a:pPr algn="l" indent="0" marL="0">
              <a:buNone/>
            </a:pPr>
            <a:r>
              <a:rPr lang="en-US" sz="1800" dirty="0">
                <a:solidFill>
                  <a:schemeClr val="accent6"/>
                </a:solidFill>
              </a:rPr>
              <a:t>PVCGN + Periodic inputs + Time (calendar) context</a:t>
            </a:r>
            <a:endParaRPr lang="en-US" sz="1800" dirty="0"/>
          </a:p>
        </p:txBody>
      </p:sp>
      <p:sp>
        <p:nvSpPr>
          <p:cNvPr id="4" name="dot-121"/>
          <p:cNvSpPr/>
          <p:nvPr/>
        </p:nvSpPr>
        <p:spPr>
          <a:xfrm>
            <a:off x="822960" y="2514600"/>
            <a:ext cx="1097280" cy="1097280"/>
          </a:xfrm>
          <a:prstGeom prst="ellipse">
            <a:avLst/>
          </a:prstGeom>
          <a:solidFill>
            <a:schemeClr val="accent2"/>
          </a:solidFill>
          <a:ln w="25400">
            <a:solidFill>
              <a:schemeClr val="bg1"/>
            </a:solidFill>
            <a:prstDash val="solid"/>
          </a:ln>
        </p:spPr>
      </p:sp>
      <p:sp>
        <p:nvSpPr>
          <p:cNvPr id="5" name="dotlabel-122"/>
          <p:cNvSpPr txBox="1"/>
          <p:nvPr/>
        </p:nvSpPr>
        <p:spPr>
          <a:xfrm>
            <a:off x="822960" y="2514600"/>
            <a:ext cx="1097280" cy="1097280"/>
          </a:xfrm>
          <a:prstGeom prst="rect">
            <a:avLst/>
          </a:prstGeom>
          <a:noFill/>
          <a:ln/>
        </p:spPr>
        <p:txBody>
          <a:bodyPr wrap="square" lIns="0" tIns="0" rIns="0" bIns="0" rtlCol="0" anchor="ctr"/>
          <a:lstStyle/>
          <a:p>
            <a:pPr algn="ctr" indent="0" marL="0">
              <a:buNone/>
            </a:pPr>
            <a:r>
              <a:rPr lang="en-US" sz="3200" b="1" dirty="0">
                <a:solidFill>
                  <a:schemeClr val="bg1"/>
                </a:solidFill>
              </a:rPr>
              <a:t>3</a:t>
            </a:r>
            <a:endParaRPr lang="en-US" sz="3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PT-PVCGN adds two switchable parts to PVCGN</a:t>
            </a:r>
            <a:endParaRPr lang="en-US" sz="3200" dirty="0"/>
          </a:p>
        </p:txBody>
      </p:sp>
      <p:sp>
        <p:nvSpPr>
          <p:cNvPr id="3" name="card-123"/>
          <p:cNvSpPr/>
          <p:nvPr/>
        </p:nvSpPr>
        <p:spPr>
          <a:xfrm>
            <a:off x="548640" y="1371600"/>
            <a:ext cx="5440680" cy="2514600"/>
          </a:xfrm>
          <a:prstGeom prst="roundRect">
            <a:avLst>
              <a:gd name="adj" fmla="val 2909"/>
            </a:avLst>
          </a:prstGeom>
          <a:solidFill>
            <a:schemeClr val="bg2"/>
          </a:solidFill>
          <a:ln w="12700">
            <a:solidFill>
              <a:schemeClr val="bg2"/>
            </a:solidFill>
            <a:prstDash val="solid"/>
          </a:ln>
        </p:spPr>
      </p:sp>
      <p:sp>
        <p:nvSpPr>
          <p:cNvPr id="4" name="dot-124"/>
          <p:cNvSpPr/>
          <p:nvPr/>
        </p:nvSpPr>
        <p:spPr>
          <a:xfrm>
            <a:off x="731520" y="1572768"/>
            <a:ext cx="237744" cy="237744"/>
          </a:xfrm>
          <a:prstGeom prst="ellipse">
            <a:avLst/>
          </a:prstGeom>
          <a:solidFill>
            <a:schemeClr val="accent1"/>
          </a:solidFill>
          <a:ln w="25400">
            <a:solidFill>
              <a:schemeClr val="bg1"/>
            </a:solidFill>
            <a:prstDash val="solid"/>
          </a:ln>
        </p:spPr>
      </p:sp>
      <p:sp>
        <p:nvSpPr>
          <p:cNvPr id="5" name="cardtitle-125"/>
          <p:cNvSpPr txBox="1"/>
          <p:nvPr/>
        </p:nvSpPr>
        <p:spPr>
          <a:xfrm>
            <a:off x="1060704" y="1481328"/>
            <a:ext cx="4800600" cy="420624"/>
          </a:xfrm>
          <a:prstGeom prst="rect">
            <a:avLst/>
          </a:prstGeom>
          <a:noFill/>
          <a:ln/>
        </p:spPr>
        <p:txBody>
          <a:bodyPr wrap="square" lIns="0" tIns="0" rIns="0" bIns="0" rtlCol="0" anchor="ctr"/>
          <a:lstStyle/>
          <a:p>
            <a:pPr indent="0" marL="0">
              <a:buNone/>
            </a:pPr>
            <a:r>
              <a:rPr lang="en-US" sz="1600" b="1" dirty="0">
                <a:solidFill>
                  <a:schemeClr val="tx1"/>
                </a:solidFill>
              </a:rPr>
              <a:t>P — periodic reference inputs</a:t>
            </a:r>
            <a:endParaRPr lang="en-US" sz="1600" dirty="0"/>
          </a:p>
        </p:txBody>
      </p:sp>
      <p:sp>
        <p:nvSpPr>
          <p:cNvPr id="6" name="cardbody-126"/>
          <p:cNvSpPr txBox="1"/>
          <p:nvPr/>
        </p:nvSpPr>
        <p:spPr>
          <a:xfrm>
            <a:off x="731520" y="1938528"/>
            <a:ext cx="5074920" cy="183794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Same time slots on the most recent day of the same type (working / non-working)</a:t>
            </a:r>
            <a:endParaRPr lang="en-US" sz="1600" dirty="0"/>
          </a:p>
          <a:p>
            <a:pPr marL="342900" indent="-342900">
              <a:spcAft>
                <a:spcPts val="400"/>
              </a:spcAft>
              <a:buSzPct val="100000"/>
              <a:buChar char="•"/>
            </a:pPr>
            <a:r>
              <a:rPr lang="en-US" sz="1600" dirty="0">
                <a:solidFill>
                  <a:schemeClr val="tx1"/>
                </a:solidFill>
              </a:rPr>
              <a:t>…and on the same weekday one week earlier</a:t>
            </a:r>
            <a:endParaRPr lang="en-US" sz="1600" dirty="0"/>
          </a:p>
          <a:p>
            <a:pPr marL="342900" indent="-342900">
              <a:spcAft>
                <a:spcPts val="400"/>
              </a:spcAft>
              <a:buSzPct val="100000"/>
              <a:buChar char="•"/>
            </a:pPr>
            <a:r>
              <a:rPr lang="en-US" sz="1600" dirty="0">
                <a:solidFill>
                  <a:schemeClr val="tx1"/>
                </a:solidFill>
              </a:rPr>
              <a:t>Only past days: no future information</a:t>
            </a:r>
            <a:endParaRPr lang="en-US" sz="1600" dirty="0"/>
          </a:p>
        </p:txBody>
      </p:sp>
      <p:sp>
        <p:nvSpPr>
          <p:cNvPr id="7" name="card-127"/>
          <p:cNvSpPr/>
          <p:nvPr/>
        </p:nvSpPr>
        <p:spPr>
          <a:xfrm>
            <a:off x="6172200" y="1371600"/>
            <a:ext cx="5440680" cy="2514600"/>
          </a:xfrm>
          <a:prstGeom prst="roundRect">
            <a:avLst>
              <a:gd name="adj" fmla="val 2909"/>
            </a:avLst>
          </a:prstGeom>
          <a:solidFill>
            <a:schemeClr val="bg2"/>
          </a:solidFill>
          <a:ln w="12700">
            <a:solidFill>
              <a:schemeClr val="bg2"/>
            </a:solidFill>
            <a:prstDash val="solid"/>
          </a:ln>
        </p:spPr>
      </p:sp>
      <p:sp>
        <p:nvSpPr>
          <p:cNvPr id="8" name="dot-128"/>
          <p:cNvSpPr/>
          <p:nvPr/>
        </p:nvSpPr>
        <p:spPr>
          <a:xfrm>
            <a:off x="6355080" y="1572768"/>
            <a:ext cx="237744" cy="237744"/>
          </a:xfrm>
          <a:prstGeom prst="ellipse">
            <a:avLst/>
          </a:prstGeom>
          <a:solidFill>
            <a:schemeClr val="accent2"/>
          </a:solidFill>
          <a:ln w="25400">
            <a:solidFill>
              <a:schemeClr val="bg1"/>
            </a:solidFill>
            <a:prstDash val="solid"/>
          </a:ln>
        </p:spPr>
      </p:sp>
      <p:sp>
        <p:nvSpPr>
          <p:cNvPr id="9" name="cardtitle-129"/>
          <p:cNvSpPr txBox="1"/>
          <p:nvPr/>
        </p:nvSpPr>
        <p:spPr>
          <a:xfrm>
            <a:off x="6684264" y="1481328"/>
            <a:ext cx="4800600" cy="420624"/>
          </a:xfrm>
          <a:prstGeom prst="rect">
            <a:avLst/>
          </a:prstGeom>
          <a:noFill/>
          <a:ln/>
        </p:spPr>
        <p:txBody>
          <a:bodyPr wrap="square" lIns="0" tIns="0" rIns="0" bIns="0" rtlCol="0" anchor="ctr"/>
          <a:lstStyle/>
          <a:p>
            <a:pPr indent="0" marL="0">
              <a:buNone/>
            </a:pPr>
            <a:r>
              <a:rPr lang="en-US" sz="1600" b="1" dirty="0">
                <a:solidFill>
                  <a:schemeClr val="tx1"/>
                </a:solidFill>
              </a:rPr>
              <a:t>T — calendar context</a:t>
            </a:r>
            <a:endParaRPr lang="en-US" sz="1600" dirty="0"/>
          </a:p>
        </p:txBody>
      </p:sp>
      <p:sp>
        <p:nvSpPr>
          <p:cNvPr id="10" name="cardbody-130"/>
          <p:cNvSpPr txBox="1"/>
          <p:nvPr/>
        </p:nvSpPr>
        <p:spPr>
          <a:xfrm>
            <a:off x="6355080" y="1938528"/>
            <a:ext cx="5074920" cy="183794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Learned embeddings of time of day, day of week and working day</a:t>
            </a:r>
            <a:endParaRPr lang="en-US" sz="1600" dirty="0"/>
          </a:p>
          <a:p>
            <a:pPr marL="342900" indent="-342900">
              <a:spcAft>
                <a:spcPts val="400"/>
              </a:spcAft>
              <a:buSzPct val="100000"/>
              <a:buChar char="•"/>
            </a:pPr>
            <a:r>
              <a:rPr lang="en-US" sz="1600" dirty="0">
                <a:solidFill>
                  <a:schemeClr val="tx1"/>
                </a:solidFill>
              </a:rPr>
              <a:t>Official calendar: holidays and make-up working days (e.g. Sun 18 Sep 2016)</a:t>
            </a:r>
            <a:endParaRPr lang="en-US" sz="1600" dirty="0"/>
          </a:p>
        </p:txBody>
      </p:sp>
      <p:sp>
        <p:nvSpPr>
          <p:cNvPr id="11" name="ladder-line"/>
          <p:cNvSpPr/>
          <p:nvPr/>
        </p:nvSpPr>
        <p:spPr>
          <a:xfrm>
            <a:off x="2194560" y="4892040"/>
            <a:ext cx="7680960" cy="0"/>
          </a:xfrm>
          <a:prstGeom prst="line">
            <a:avLst/>
          </a:prstGeom>
          <a:noFill/>
          <a:ln w="76200">
            <a:solidFill>
              <a:schemeClr val="accent2"/>
            </a:solidFill>
            <a:prstDash val="solid"/>
          </a:ln>
        </p:spPr>
      </p:sp>
      <p:sp>
        <p:nvSpPr>
          <p:cNvPr id="12" name="dot-131"/>
          <p:cNvSpPr/>
          <p:nvPr/>
        </p:nvSpPr>
        <p:spPr>
          <a:xfrm>
            <a:off x="1737360" y="4480560"/>
            <a:ext cx="822960" cy="822960"/>
          </a:xfrm>
          <a:prstGeom prst="ellipse">
            <a:avLst/>
          </a:prstGeom>
          <a:solidFill>
            <a:schemeClr val="accent4"/>
          </a:solidFill>
          <a:ln w="25400">
            <a:solidFill>
              <a:schemeClr val="bg1"/>
            </a:solidFill>
            <a:prstDash val="solid"/>
          </a:ln>
        </p:spPr>
      </p:sp>
      <p:sp>
        <p:nvSpPr>
          <p:cNvPr id="13" name="dotlabel-132"/>
          <p:cNvSpPr txBox="1"/>
          <p:nvPr/>
        </p:nvSpPr>
        <p:spPr>
          <a:xfrm>
            <a:off x="1737360" y="4480560"/>
            <a:ext cx="822960" cy="82296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14" name="lad-t-133"/>
          <p:cNvSpPr txBox="1"/>
          <p:nvPr/>
        </p:nvSpPr>
        <p:spPr>
          <a:xfrm>
            <a:off x="2651760" y="4434840"/>
            <a:ext cx="2468880" cy="457200"/>
          </a:xfrm>
          <a:prstGeom prst="rect">
            <a:avLst/>
          </a:prstGeom>
          <a:noFill/>
          <a:ln/>
        </p:spPr>
        <p:txBody>
          <a:bodyPr wrap="square" lIns="0" tIns="0" rIns="0" bIns="0" rtlCol="0" anchor="ctr"/>
          <a:lstStyle/>
          <a:p>
            <a:pPr indent="0" marL="0">
              <a:buNone/>
            </a:pPr>
            <a:r>
              <a:rPr lang="en-US" sz="1800" b="1" dirty="0">
                <a:solidFill>
                  <a:schemeClr val="tx1"/>
                </a:solidFill>
              </a:rPr>
              <a:t>PVCGN</a:t>
            </a:r>
            <a:endParaRPr lang="en-US" sz="1800" dirty="0"/>
          </a:p>
        </p:txBody>
      </p:sp>
      <p:sp>
        <p:nvSpPr>
          <p:cNvPr id="15" name="lad-d-134"/>
          <p:cNvSpPr txBox="1"/>
          <p:nvPr/>
        </p:nvSpPr>
        <p:spPr>
          <a:xfrm>
            <a:off x="2651760" y="4892040"/>
            <a:ext cx="2468880" cy="411480"/>
          </a:xfrm>
          <a:prstGeom prst="rect">
            <a:avLst/>
          </a:prstGeom>
          <a:noFill/>
          <a:ln/>
        </p:spPr>
        <p:txBody>
          <a:bodyPr wrap="square" lIns="0" tIns="0" rIns="0" bIns="0" rtlCol="0" anchor="ctr"/>
          <a:lstStyle/>
          <a:p>
            <a:pPr indent="0" marL="0">
              <a:buNone/>
            </a:pPr>
            <a:r>
              <a:rPr lang="en-US" sz="1400" dirty="0">
                <a:solidFill>
                  <a:schemeClr val="tx2"/>
                </a:solidFill>
              </a:rPr>
              <a:t>published model</a:t>
            </a:r>
            <a:endParaRPr lang="en-US" sz="1400" dirty="0"/>
          </a:p>
        </p:txBody>
      </p:sp>
      <p:sp>
        <p:nvSpPr>
          <p:cNvPr id="16" name="dot-135"/>
          <p:cNvSpPr/>
          <p:nvPr/>
        </p:nvSpPr>
        <p:spPr>
          <a:xfrm>
            <a:off x="5577840" y="4480560"/>
            <a:ext cx="822960" cy="822960"/>
          </a:xfrm>
          <a:prstGeom prst="ellipse">
            <a:avLst/>
          </a:prstGeom>
          <a:solidFill>
            <a:schemeClr val="accent4"/>
          </a:solidFill>
          <a:ln w="25400">
            <a:solidFill>
              <a:schemeClr val="bg1"/>
            </a:solidFill>
            <a:prstDash val="solid"/>
          </a:ln>
        </p:spPr>
      </p:sp>
      <p:sp>
        <p:nvSpPr>
          <p:cNvPr id="17" name="dotlabel-136"/>
          <p:cNvSpPr txBox="1"/>
          <p:nvPr/>
        </p:nvSpPr>
        <p:spPr>
          <a:xfrm>
            <a:off x="5577840" y="4480560"/>
            <a:ext cx="822960" cy="82296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8" name="lad-t-137"/>
          <p:cNvSpPr txBox="1"/>
          <p:nvPr/>
        </p:nvSpPr>
        <p:spPr>
          <a:xfrm>
            <a:off x="6492240" y="4434840"/>
            <a:ext cx="2468880" cy="457200"/>
          </a:xfrm>
          <a:prstGeom prst="rect">
            <a:avLst/>
          </a:prstGeom>
          <a:noFill/>
          <a:ln/>
        </p:spPr>
        <p:txBody>
          <a:bodyPr wrap="square" lIns="0" tIns="0" rIns="0" bIns="0" rtlCol="0" anchor="ctr"/>
          <a:lstStyle/>
          <a:p>
            <a:pPr indent="0" marL="0">
              <a:buNone/>
            </a:pPr>
            <a:r>
              <a:rPr lang="en-US" sz="1800" b="1" dirty="0">
                <a:solidFill>
                  <a:schemeClr val="tx1"/>
                </a:solidFill>
              </a:rPr>
              <a:t>+ P</a:t>
            </a:r>
            <a:endParaRPr lang="en-US" sz="1800" dirty="0"/>
          </a:p>
        </p:txBody>
      </p:sp>
      <p:sp>
        <p:nvSpPr>
          <p:cNvPr id="19" name="lad-d-138"/>
          <p:cNvSpPr txBox="1"/>
          <p:nvPr/>
        </p:nvSpPr>
        <p:spPr>
          <a:xfrm>
            <a:off x="6492240" y="4892040"/>
            <a:ext cx="2468880" cy="411480"/>
          </a:xfrm>
          <a:prstGeom prst="rect">
            <a:avLst/>
          </a:prstGeom>
          <a:noFill/>
          <a:ln/>
        </p:spPr>
        <p:txBody>
          <a:bodyPr wrap="square" lIns="0" tIns="0" rIns="0" bIns="0" rtlCol="0" anchor="ctr"/>
          <a:lstStyle/>
          <a:p>
            <a:pPr indent="0" marL="0">
              <a:buNone/>
            </a:pPr>
            <a:r>
              <a:rPr lang="en-US" sz="1400" dirty="0">
                <a:solidFill>
                  <a:schemeClr val="tx2"/>
                </a:solidFill>
              </a:rPr>
              <a:t>periodic inputs</a:t>
            </a:r>
            <a:endParaRPr lang="en-US" sz="1400" dirty="0"/>
          </a:p>
        </p:txBody>
      </p:sp>
      <p:sp>
        <p:nvSpPr>
          <p:cNvPr id="20" name="dot-139"/>
          <p:cNvSpPr/>
          <p:nvPr/>
        </p:nvSpPr>
        <p:spPr>
          <a:xfrm>
            <a:off x="9418320" y="4480560"/>
            <a:ext cx="822960" cy="822960"/>
          </a:xfrm>
          <a:prstGeom prst="ellipse">
            <a:avLst/>
          </a:prstGeom>
          <a:solidFill>
            <a:schemeClr val="accent2"/>
          </a:solidFill>
          <a:ln w="25400">
            <a:solidFill>
              <a:schemeClr val="bg1"/>
            </a:solidFill>
            <a:prstDash val="solid"/>
          </a:ln>
        </p:spPr>
      </p:sp>
      <p:sp>
        <p:nvSpPr>
          <p:cNvPr id="21" name="dotlabel-140"/>
          <p:cNvSpPr txBox="1"/>
          <p:nvPr/>
        </p:nvSpPr>
        <p:spPr>
          <a:xfrm>
            <a:off x="9418320" y="4480560"/>
            <a:ext cx="822960" cy="82296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2" name="lad-t-141"/>
          <p:cNvSpPr txBox="1"/>
          <p:nvPr/>
        </p:nvSpPr>
        <p:spPr>
          <a:xfrm>
            <a:off x="10332720" y="4434840"/>
            <a:ext cx="2468880" cy="457200"/>
          </a:xfrm>
          <a:prstGeom prst="rect">
            <a:avLst/>
          </a:prstGeom>
          <a:noFill/>
          <a:ln/>
        </p:spPr>
        <p:txBody>
          <a:bodyPr wrap="square" lIns="0" tIns="0" rIns="0" bIns="0" rtlCol="0" anchor="ctr"/>
          <a:lstStyle/>
          <a:p>
            <a:pPr indent="0" marL="0">
              <a:buNone/>
            </a:pPr>
            <a:r>
              <a:rPr lang="en-US" sz="1800" b="1" dirty="0">
                <a:solidFill>
                  <a:schemeClr val="tx1"/>
                </a:solidFill>
              </a:rPr>
              <a:t>+ P + T</a:t>
            </a:r>
            <a:endParaRPr lang="en-US" sz="1800" dirty="0"/>
          </a:p>
        </p:txBody>
      </p:sp>
      <p:sp>
        <p:nvSpPr>
          <p:cNvPr id="23" name="lad-d-142"/>
          <p:cNvSpPr txBox="1"/>
          <p:nvPr/>
        </p:nvSpPr>
        <p:spPr>
          <a:xfrm>
            <a:off x="10332720" y="4892040"/>
            <a:ext cx="2468880" cy="411480"/>
          </a:xfrm>
          <a:prstGeom prst="rect">
            <a:avLst/>
          </a:prstGeom>
          <a:noFill/>
          <a:ln/>
        </p:spPr>
        <p:txBody>
          <a:bodyPr wrap="square" lIns="0" tIns="0" rIns="0" bIns="0" rtlCol="0" anchor="ctr"/>
          <a:lstStyle/>
          <a:p>
            <a:pPr indent="0" marL="0">
              <a:buNone/>
            </a:pPr>
            <a:r>
              <a:rPr lang="en-US" sz="1400" dirty="0">
                <a:solidFill>
                  <a:schemeClr val="tx2"/>
                </a:solidFill>
              </a:rPr>
              <a:t>= PT-PVCGN</a:t>
            </a:r>
            <a:endParaRPr lang="en-US" sz="1400" dirty="0"/>
          </a:p>
        </p:txBody>
      </p:sp>
      <p:sp>
        <p:nvSpPr>
          <p:cNvPr id="24" name="ablation-note"/>
          <p:cNvSpPr txBox="1"/>
          <p:nvPr/>
        </p:nvSpPr>
        <p:spPr>
          <a:xfrm>
            <a:off x="548640" y="5532120"/>
            <a:ext cx="11064240" cy="685800"/>
          </a:xfrm>
          <a:prstGeom prst="rect">
            <a:avLst/>
          </a:prstGeom>
          <a:noFill/>
          <a:ln/>
        </p:spPr>
        <p:txBody>
          <a:bodyPr wrap="square" lIns="0" tIns="0" rIns="0" bIns="0" rtlCol="0" anchor="ctr"/>
          <a:lstStyle/>
          <a:p>
            <a:pPr indent="0" marL="0">
              <a:buNone/>
            </a:pPr>
            <a:r>
              <a:rPr lang="en-US" sz="1400" dirty="0">
                <a:solidFill>
                  <a:schemeClr val="tx2"/>
                </a:solidFill>
              </a:rPr>
              <a:t>Ablation study: train all three under identical settings to measure what each part adds. With P and T switched off the code is exactly PVCGN.</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Which models we use, and why</a:t>
            </a:r>
            <a:endParaRPr lang="en-US" sz="3200" dirty="0"/>
          </a:p>
        </p:txBody>
      </p:sp>
      <p:sp>
        <p:nvSpPr>
          <p:cNvPr id="3" name="card-143"/>
          <p:cNvSpPr/>
          <p:nvPr/>
        </p:nvSpPr>
        <p:spPr>
          <a:xfrm>
            <a:off x="548640" y="1371600"/>
            <a:ext cx="3566160" cy="2240280"/>
          </a:xfrm>
          <a:prstGeom prst="roundRect">
            <a:avLst>
              <a:gd name="adj" fmla="val 3265"/>
            </a:avLst>
          </a:prstGeom>
          <a:solidFill>
            <a:schemeClr val="bg2"/>
          </a:solidFill>
          <a:ln w="12700">
            <a:solidFill>
              <a:schemeClr val="bg2"/>
            </a:solidFill>
            <a:prstDash val="solid"/>
          </a:ln>
        </p:spPr>
      </p:sp>
      <p:sp>
        <p:nvSpPr>
          <p:cNvPr id="4" name="dot-144"/>
          <p:cNvSpPr/>
          <p:nvPr/>
        </p:nvSpPr>
        <p:spPr>
          <a:xfrm>
            <a:off x="731520" y="1572768"/>
            <a:ext cx="237744" cy="237744"/>
          </a:xfrm>
          <a:prstGeom prst="ellipse">
            <a:avLst/>
          </a:prstGeom>
          <a:solidFill>
            <a:schemeClr val="accent5"/>
          </a:solidFill>
          <a:ln w="25400">
            <a:solidFill>
              <a:schemeClr val="bg1"/>
            </a:solidFill>
            <a:prstDash val="solid"/>
          </a:ln>
        </p:spPr>
      </p:sp>
      <p:sp>
        <p:nvSpPr>
          <p:cNvPr id="5" name="cardtitle-145"/>
          <p:cNvSpPr txBox="1"/>
          <p:nvPr/>
        </p:nvSpPr>
        <p:spPr>
          <a:xfrm>
            <a:off x="1060704" y="148132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PVCGN (reproduced)</a:t>
            </a:r>
            <a:endParaRPr lang="en-US" sz="1600" dirty="0"/>
          </a:p>
        </p:txBody>
      </p:sp>
      <p:sp>
        <p:nvSpPr>
          <p:cNvPr id="6" name="cardbody-146"/>
          <p:cNvSpPr txBox="1"/>
          <p:nvPr/>
        </p:nvSpPr>
        <p:spPr>
          <a:xfrm>
            <a:off x="731520" y="1938528"/>
            <a:ext cx="3200400" cy="1563624"/>
          </a:xfrm>
          <a:prstGeom prst="rect">
            <a:avLst/>
          </a:prstGeom>
          <a:noFill/>
          <a:ln/>
        </p:spPr>
        <p:txBody>
          <a:bodyPr wrap="square" lIns="0" tIns="0" rIns="0" bIns="0" rtlCol="0" anchor="t"/>
          <a:lstStyle/>
          <a:p>
            <a:pPr indent="0" marL="0">
              <a:buNone/>
            </a:pPr>
            <a:r>
              <a:rPr lang="en-US" sz="1500" dirty="0">
                <a:solidFill>
                  <a:schemeClr val="tx1"/>
                </a:solidFill>
              </a:rPr>
              <a:t>The published state of the art on these datasets — the model we must beat. Re-built exactly so the comparison is fair.</a:t>
            </a:r>
            <a:endParaRPr lang="en-US" sz="1500" dirty="0"/>
          </a:p>
        </p:txBody>
      </p:sp>
      <p:sp>
        <p:nvSpPr>
          <p:cNvPr id="7" name="card-147"/>
          <p:cNvSpPr/>
          <p:nvPr/>
        </p:nvSpPr>
        <p:spPr>
          <a:xfrm>
            <a:off x="4297680" y="1371600"/>
            <a:ext cx="3566160" cy="2240280"/>
          </a:xfrm>
          <a:prstGeom prst="roundRect">
            <a:avLst>
              <a:gd name="adj" fmla="val 3265"/>
            </a:avLst>
          </a:prstGeom>
          <a:solidFill>
            <a:schemeClr val="bg2"/>
          </a:solidFill>
          <a:ln w="12700">
            <a:solidFill>
              <a:schemeClr val="bg2"/>
            </a:solidFill>
            <a:prstDash val="solid"/>
          </a:ln>
        </p:spPr>
      </p:sp>
      <p:sp>
        <p:nvSpPr>
          <p:cNvPr id="8" name="dot-148"/>
          <p:cNvSpPr/>
          <p:nvPr/>
        </p:nvSpPr>
        <p:spPr>
          <a:xfrm>
            <a:off x="4480560" y="1572768"/>
            <a:ext cx="237744" cy="237744"/>
          </a:xfrm>
          <a:prstGeom prst="ellipse">
            <a:avLst/>
          </a:prstGeom>
          <a:solidFill>
            <a:schemeClr val="accent2"/>
          </a:solidFill>
          <a:ln w="25400">
            <a:solidFill>
              <a:schemeClr val="bg1"/>
            </a:solidFill>
            <a:prstDash val="solid"/>
          </a:ln>
        </p:spPr>
      </p:sp>
      <p:sp>
        <p:nvSpPr>
          <p:cNvPr id="9" name="cardtitle-149"/>
          <p:cNvSpPr txBox="1"/>
          <p:nvPr/>
        </p:nvSpPr>
        <p:spPr>
          <a:xfrm>
            <a:off x="4809744" y="148132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PT-PVCGN (ours)</a:t>
            </a:r>
            <a:endParaRPr lang="en-US" sz="1600" dirty="0"/>
          </a:p>
        </p:txBody>
      </p:sp>
      <p:sp>
        <p:nvSpPr>
          <p:cNvPr id="10" name="cardbody-150"/>
          <p:cNvSpPr txBox="1"/>
          <p:nvPr/>
        </p:nvSpPr>
        <p:spPr>
          <a:xfrm>
            <a:off x="4480560" y="1938528"/>
            <a:ext cx="3200400" cy="1563624"/>
          </a:xfrm>
          <a:prstGeom prst="rect">
            <a:avLst/>
          </a:prstGeom>
          <a:noFill/>
          <a:ln/>
        </p:spPr>
        <p:txBody>
          <a:bodyPr wrap="square" lIns="0" tIns="0" rIns="0" bIns="0" rtlCol="0" anchor="t"/>
          <a:lstStyle/>
          <a:p>
            <a:pPr indent="0" marL="0">
              <a:buNone/>
            </a:pPr>
            <a:r>
              <a:rPr lang="en-US" sz="1500" dirty="0">
                <a:solidFill>
                  <a:schemeClr val="tx1"/>
                </a:solidFill>
              </a:rPr>
              <a:t>PVCGN + periodic inputs + calendar. Tests the research gap directly while keeping all of PVCGN's strengths.</a:t>
            </a:r>
            <a:endParaRPr lang="en-US" sz="1500" dirty="0"/>
          </a:p>
        </p:txBody>
      </p:sp>
      <p:sp>
        <p:nvSpPr>
          <p:cNvPr id="11" name="card-151"/>
          <p:cNvSpPr/>
          <p:nvPr/>
        </p:nvSpPr>
        <p:spPr>
          <a:xfrm>
            <a:off x="8046720" y="1371600"/>
            <a:ext cx="3566160" cy="2240280"/>
          </a:xfrm>
          <a:prstGeom prst="roundRect">
            <a:avLst>
              <a:gd name="adj" fmla="val 3265"/>
            </a:avLst>
          </a:prstGeom>
          <a:solidFill>
            <a:schemeClr val="bg2"/>
          </a:solidFill>
          <a:ln w="12700">
            <a:solidFill>
              <a:schemeClr val="bg2"/>
            </a:solidFill>
            <a:prstDash val="solid"/>
          </a:ln>
        </p:spPr>
      </p:sp>
      <p:sp>
        <p:nvSpPr>
          <p:cNvPr id="12" name="dot-152"/>
          <p:cNvSpPr/>
          <p:nvPr/>
        </p:nvSpPr>
        <p:spPr>
          <a:xfrm>
            <a:off x="8229600" y="1572768"/>
            <a:ext cx="237744" cy="237744"/>
          </a:xfrm>
          <a:prstGeom prst="ellipse">
            <a:avLst/>
          </a:prstGeom>
          <a:solidFill>
            <a:schemeClr val="accent2"/>
          </a:solidFill>
          <a:ln w="25400">
            <a:solidFill>
              <a:schemeClr val="bg1"/>
            </a:solidFill>
            <a:prstDash val="solid"/>
          </a:ln>
        </p:spPr>
      </p:sp>
      <p:sp>
        <p:nvSpPr>
          <p:cNvPr id="13" name="cardtitle-153"/>
          <p:cNvSpPr txBox="1"/>
          <p:nvPr/>
        </p:nvSpPr>
        <p:spPr>
          <a:xfrm>
            <a:off x="8558784" y="148132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+P only (ablation)</a:t>
            </a:r>
            <a:endParaRPr lang="en-US" sz="1600" dirty="0"/>
          </a:p>
        </p:txBody>
      </p:sp>
      <p:sp>
        <p:nvSpPr>
          <p:cNvPr id="14" name="cardbody-154"/>
          <p:cNvSpPr txBox="1"/>
          <p:nvPr/>
        </p:nvSpPr>
        <p:spPr>
          <a:xfrm>
            <a:off x="8229600" y="1938528"/>
            <a:ext cx="3200400" cy="1563624"/>
          </a:xfrm>
          <a:prstGeom prst="rect">
            <a:avLst/>
          </a:prstGeom>
          <a:noFill/>
          <a:ln/>
        </p:spPr>
        <p:txBody>
          <a:bodyPr wrap="square" lIns="0" tIns="0" rIns="0" bIns="0" rtlCol="0" anchor="t"/>
          <a:lstStyle/>
          <a:p>
            <a:pPr indent="0" marL="0">
              <a:buNone/>
            </a:pPr>
            <a:r>
              <a:rPr lang="en-US" sz="1500" dirty="0">
                <a:solidFill>
                  <a:schemeClr val="tx1"/>
                </a:solidFill>
              </a:rPr>
              <a:t>PVCGN + periodic inputs, without calendar. Separates what each addition contributes.</a:t>
            </a:r>
            <a:endParaRPr lang="en-US" sz="1500" dirty="0"/>
          </a:p>
        </p:txBody>
      </p:sp>
      <p:sp>
        <p:nvSpPr>
          <p:cNvPr id="15" name="card-155"/>
          <p:cNvSpPr/>
          <p:nvPr/>
        </p:nvSpPr>
        <p:spPr>
          <a:xfrm>
            <a:off x="548640" y="3794760"/>
            <a:ext cx="3566160" cy="2240280"/>
          </a:xfrm>
          <a:prstGeom prst="roundRect">
            <a:avLst>
              <a:gd name="adj" fmla="val 3265"/>
            </a:avLst>
          </a:prstGeom>
          <a:solidFill>
            <a:schemeClr val="bg2"/>
          </a:solidFill>
          <a:ln w="12700">
            <a:solidFill>
              <a:schemeClr val="bg2"/>
            </a:solidFill>
            <a:prstDash val="solid"/>
          </a:ln>
        </p:spPr>
      </p:sp>
      <p:sp>
        <p:nvSpPr>
          <p:cNvPr id="16" name="dot-156"/>
          <p:cNvSpPr/>
          <p:nvPr/>
        </p:nvSpPr>
        <p:spPr>
          <a:xfrm>
            <a:off x="731520" y="3995928"/>
            <a:ext cx="237744" cy="237744"/>
          </a:xfrm>
          <a:prstGeom prst="ellipse">
            <a:avLst/>
          </a:prstGeom>
          <a:solidFill>
            <a:schemeClr val="accent4"/>
          </a:solidFill>
          <a:ln w="25400">
            <a:solidFill>
              <a:schemeClr val="bg1"/>
            </a:solidFill>
            <a:prstDash val="solid"/>
          </a:ln>
        </p:spPr>
      </p:sp>
      <p:sp>
        <p:nvSpPr>
          <p:cNvPr id="17" name="cardtitle-157"/>
          <p:cNvSpPr txBox="1"/>
          <p:nvPr/>
        </p:nvSpPr>
        <p:spPr>
          <a:xfrm>
            <a:off x="1060704" y="390448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Simple baselines</a:t>
            </a:r>
            <a:endParaRPr lang="en-US" sz="1600" dirty="0"/>
          </a:p>
        </p:txBody>
      </p:sp>
      <p:sp>
        <p:nvSpPr>
          <p:cNvPr id="18" name="cardbody-158"/>
          <p:cNvSpPr txBox="1"/>
          <p:nvPr/>
        </p:nvSpPr>
        <p:spPr>
          <a:xfrm>
            <a:off x="731520" y="4361688"/>
            <a:ext cx="3200400" cy="1563624"/>
          </a:xfrm>
          <a:prstGeom prst="rect">
            <a:avLst/>
          </a:prstGeom>
          <a:noFill/>
          <a:ln/>
        </p:spPr>
        <p:txBody>
          <a:bodyPr wrap="square" lIns="0" tIns="0" rIns="0" bIns="0" rtlCol="0" anchor="t"/>
          <a:lstStyle/>
          <a:p>
            <a:pPr indent="0" marL="0">
              <a:buNone/>
            </a:pPr>
            <a:r>
              <a:rPr lang="en-US" sz="1500" dirty="0">
                <a:solidFill>
                  <a:schemeClr val="tx1"/>
                </a:solidFill>
              </a:rPr>
              <a:t>Persistence, seasonal naive, historical average. Show how much of the task is plain repetition.</a:t>
            </a:r>
            <a:endParaRPr lang="en-US" sz="1500" dirty="0"/>
          </a:p>
        </p:txBody>
      </p:sp>
      <p:sp>
        <p:nvSpPr>
          <p:cNvPr id="19" name="card-159"/>
          <p:cNvSpPr/>
          <p:nvPr/>
        </p:nvSpPr>
        <p:spPr>
          <a:xfrm>
            <a:off x="4297680" y="3794760"/>
            <a:ext cx="3566160" cy="2240280"/>
          </a:xfrm>
          <a:prstGeom prst="roundRect">
            <a:avLst>
              <a:gd name="adj" fmla="val 3265"/>
            </a:avLst>
          </a:prstGeom>
          <a:solidFill>
            <a:schemeClr val="bg2"/>
          </a:solidFill>
          <a:ln w="12700">
            <a:solidFill>
              <a:schemeClr val="bg2"/>
            </a:solidFill>
            <a:prstDash val="solid"/>
          </a:ln>
        </p:spPr>
      </p:sp>
      <p:sp>
        <p:nvSpPr>
          <p:cNvPr id="20" name="dot-160"/>
          <p:cNvSpPr/>
          <p:nvPr/>
        </p:nvSpPr>
        <p:spPr>
          <a:xfrm>
            <a:off x="4480560" y="3995928"/>
            <a:ext cx="237744" cy="237744"/>
          </a:xfrm>
          <a:prstGeom prst="ellipse">
            <a:avLst/>
          </a:prstGeom>
          <a:solidFill>
            <a:schemeClr val="accent4"/>
          </a:solidFill>
          <a:ln w="25400">
            <a:solidFill>
              <a:schemeClr val="bg1"/>
            </a:solidFill>
            <a:prstDash val="solid"/>
          </a:ln>
        </p:spPr>
      </p:sp>
      <p:sp>
        <p:nvSpPr>
          <p:cNvPr id="21" name="cardtitle-161"/>
          <p:cNvSpPr txBox="1"/>
          <p:nvPr/>
        </p:nvSpPr>
        <p:spPr>
          <a:xfrm>
            <a:off x="4809744" y="390448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Ridge · gradient boosting</a:t>
            </a:r>
            <a:endParaRPr lang="en-US" sz="1600" dirty="0"/>
          </a:p>
        </p:txBody>
      </p:sp>
      <p:sp>
        <p:nvSpPr>
          <p:cNvPr id="22" name="cardbody-162"/>
          <p:cNvSpPr txBox="1"/>
          <p:nvPr/>
        </p:nvSpPr>
        <p:spPr>
          <a:xfrm>
            <a:off x="4480560" y="4361688"/>
            <a:ext cx="3200400" cy="1563624"/>
          </a:xfrm>
          <a:prstGeom prst="rect">
            <a:avLst/>
          </a:prstGeom>
          <a:noFill/>
          <a:ln/>
        </p:spPr>
        <p:txBody>
          <a:bodyPr wrap="square" lIns="0" tIns="0" rIns="0" bIns="0" rtlCol="0" anchor="t"/>
          <a:lstStyle/>
          <a:p>
            <a:pPr indent="0" marL="0">
              <a:buNone/>
            </a:pPr>
            <a:r>
              <a:rPr lang="en-US" sz="1500" dirty="0">
                <a:solidFill>
                  <a:schemeClr val="tx1"/>
                </a:solidFill>
              </a:rPr>
              <a:t>Cheap models given the same periodic features. Show whether a deep graph model is worth its cost.</a:t>
            </a:r>
            <a:endParaRPr lang="en-US" sz="1500" dirty="0"/>
          </a:p>
        </p:txBody>
      </p:sp>
      <p:sp>
        <p:nvSpPr>
          <p:cNvPr id="23" name="card-163"/>
          <p:cNvSpPr/>
          <p:nvPr/>
        </p:nvSpPr>
        <p:spPr>
          <a:xfrm>
            <a:off x="8046720" y="3794760"/>
            <a:ext cx="3566160" cy="2240280"/>
          </a:xfrm>
          <a:prstGeom prst="roundRect">
            <a:avLst>
              <a:gd name="adj" fmla="val 3265"/>
            </a:avLst>
          </a:prstGeom>
          <a:solidFill>
            <a:schemeClr val="bg2"/>
          </a:solidFill>
          <a:ln w="12700">
            <a:solidFill>
              <a:schemeClr val="bg2"/>
            </a:solidFill>
            <a:prstDash val="solid"/>
          </a:ln>
        </p:spPr>
      </p:sp>
      <p:sp>
        <p:nvSpPr>
          <p:cNvPr id="24" name="dot-164"/>
          <p:cNvSpPr/>
          <p:nvPr/>
        </p:nvSpPr>
        <p:spPr>
          <a:xfrm>
            <a:off x="8229600" y="3995928"/>
            <a:ext cx="237744" cy="237744"/>
          </a:xfrm>
          <a:prstGeom prst="ellipse">
            <a:avLst/>
          </a:prstGeom>
          <a:solidFill>
            <a:schemeClr val="accent1"/>
          </a:solidFill>
          <a:ln w="25400">
            <a:solidFill>
              <a:schemeClr val="bg1"/>
            </a:solidFill>
            <a:prstDash val="solid"/>
          </a:ln>
        </p:spPr>
      </p:sp>
      <p:sp>
        <p:nvSpPr>
          <p:cNvPr id="25" name="cardtitle-165"/>
          <p:cNvSpPr txBox="1"/>
          <p:nvPr/>
        </p:nvSpPr>
        <p:spPr>
          <a:xfrm>
            <a:off x="8558784" y="390448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Why graph + GRU at all?</a:t>
            </a:r>
            <a:endParaRPr lang="en-US" sz="1600" dirty="0"/>
          </a:p>
        </p:txBody>
      </p:sp>
      <p:sp>
        <p:nvSpPr>
          <p:cNvPr id="26" name="cardbody-166"/>
          <p:cNvSpPr txBox="1"/>
          <p:nvPr/>
        </p:nvSpPr>
        <p:spPr>
          <a:xfrm>
            <a:off x="8229600" y="4361688"/>
            <a:ext cx="3200400" cy="1563624"/>
          </a:xfrm>
          <a:prstGeom prst="rect">
            <a:avLst/>
          </a:prstGeom>
          <a:noFill/>
          <a:ln/>
        </p:spPr>
        <p:txBody>
          <a:bodyPr wrap="square" lIns="0" tIns="0" rIns="0" bIns="0" rtlCol="0" anchor="t"/>
          <a:lstStyle/>
          <a:p>
            <a:pPr indent="0" marL="0">
              <a:buNone/>
            </a:pPr>
            <a:r>
              <a:rPr lang="en-US" sz="1500" dirty="0">
                <a:solidFill>
                  <a:schemeClr val="tx1"/>
                </a:solidFill>
              </a:rPr>
              <a:t>A metro is a graph (space) and ridership is a sequence (time): graph convolution handles space, a GRU handles time.</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How PT-PVCGN makes a forecast</a:t>
            </a:r>
            <a:endParaRPr lang="en-US" sz="3200" dirty="0"/>
          </a:p>
        </p:txBody>
      </p:sp>
      <p:sp>
        <p:nvSpPr>
          <p:cNvPr id="3" name="how-line"/>
          <p:cNvSpPr/>
          <p:nvPr/>
        </p:nvSpPr>
        <p:spPr>
          <a:xfrm>
            <a:off x="1143000" y="1783080"/>
            <a:ext cx="9509760" cy="0"/>
          </a:xfrm>
          <a:prstGeom prst="line">
            <a:avLst/>
          </a:prstGeom>
          <a:noFill/>
          <a:ln w="76200">
            <a:solidFill>
              <a:schemeClr val="accent2"/>
            </a:solidFill>
            <a:prstDash val="solid"/>
          </a:ln>
        </p:spPr>
      </p:sp>
      <p:sp>
        <p:nvSpPr>
          <p:cNvPr id="4" name="dot-167"/>
          <p:cNvSpPr/>
          <p:nvPr/>
        </p:nvSpPr>
        <p:spPr>
          <a:xfrm>
            <a:off x="1143000" y="1417320"/>
            <a:ext cx="731520" cy="731520"/>
          </a:xfrm>
          <a:prstGeom prst="ellipse">
            <a:avLst/>
          </a:prstGeom>
          <a:solidFill>
            <a:schemeClr val="accent2"/>
          </a:solidFill>
          <a:ln w="25400">
            <a:solidFill>
              <a:schemeClr val="bg1"/>
            </a:solidFill>
            <a:prstDash val="solid"/>
          </a:ln>
        </p:spPr>
      </p:sp>
      <p:sp>
        <p:nvSpPr>
          <p:cNvPr id="5" name="dotlabel-168"/>
          <p:cNvSpPr txBox="1"/>
          <p:nvPr/>
        </p:nvSpPr>
        <p:spPr>
          <a:xfrm>
            <a:off x="1143000" y="141732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how-t-169"/>
          <p:cNvSpPr txBox="1"/>
          <p:nvPr/>
        </p:nvSpPr>
        <p:spPr>
          <a:xfrm>
            <a:off x="457200" y="2286000"/>
            <a:ext cx="2103120" cy="411480"/>
          </a:xfrm>
          <a:prstGeom prst="rect">
            <a:avLst/>
          </a:prstGeom>
          <a:noFill/>
          <a:ln/>
        </p:spPr>
        <p:txBody>
          <a:bodyPr wrap="square" lIns="0" tIns="0" rIns="0" bIns="0" rtlCol="0" anchor="ctr"/>
          <a:lstStyle/>
          <a:p>
            <a:pPr algn="ctr" indent="0" marL="0">
              <a:buNone/>
            </a:pPr>
            <a:r>
              <a:rPr lang="en-US" sz="1600" b="1" dirty="0">
                <a:solidFill>
                  <a:schemeClr val="tx1"/>
                </a:solidFill>
              </a:rPr>
              <a:t>Inputs</a:t>
            </a:r>
            <a:endParaRPr lang="en-US" sz="1600" dirty="0"/>
          </a:p>
        </p:txBody>
      </p:sp>
      <p:sp>
        <p:nvSpPr>
          <p:cNvPr id="7" name="how-d-170"/>
          <p:cNvSpPr txBox="1"/>
          <p:nvPr/>
        </p:nvSpPr>
        <p:spPr>
          <a:xfrm>
            <a:off x="457200" y="2697480"/>
            <a:ext cx="2103120" cy="1737360"/>
          </a:xfrm>
          <a:prstGeom prst="rect">
            <a:avLst/>
          </a:prstGeom>
          <a:noFill/>
          <a:ln/>
        </p:spPr>
        <p:txBody>
          <a:bodyPr wrap="square" lIns="0" tIns="0" rIns="0" bIns="0" rtlCol="0" anchor="t"/>
          <a:lstStyle/>
          <a:p>
            <a:pPr algn="ctr" indent="0" marL="0">
              <a:buNone/>
            </a:pPr>
            <a:r>
              <a:rPr lang="en-US" sz="1400" dirty="0">
                <a:solidFill>
                  <a:schemeClr val="tx2"/>
                </a:solidFill>
              </a:rPr>
              <a:t>Each 15-min step, per station: in/out now, same slot on the reference day and last week, time-of-day and day-type codes</a:t>
            </a:r>
            <a:endParaRPr lang="en-US" sz="1400" dirty="0"/>
          </a:p>
        </p:txBody>
      </p:sp>
      <p:sp>
        <p:nvSpPr>
          <p:cNvPr id="8" name="dot-171"/>
          <p:cNvSpPr/>
          <p:nvPr/>
        </p:nvSpPr>
        <p:spPr>
          <a:xfrm>
            <a:off x="3429000" y="1417320"/>
            <a:ext cx="731520" cy="731520"/>
          </a:xfrm>
          <a:prstGeom prst="ellipse">
            <a:avLst/>
          </a:prstGeom>
          <a:solidFill>
            <a:schemeClr val="accent1"/>
          </a:solidFill>
          <a:ln w="25400">
            <a:solidFill>
              <a:schemeClr val="bg1"/>
            </a:solidFill>
            <a:prstDash val="solid"/>
          </a:ln>
        </p:spPr>
      </p:sp>
      <p:sp>
        <p:nvSpPr>
          <p:cNvPr id="9" name="dotlabel-172"/>
          <p:cNvSpPr txBox="1"/>
          <p:nvPr/>
        </p:nvSpPr>
        <p:spPr>
          <a:xfrm>
            <a:off x="3429000" y="1417320"/>
            <a:ext cx="731520" cy="73152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0" name="how-t-173"/>
          <p:cNvSpPr txBox="1"/>
          <p:nvPr/>
        </p:nvSpPr>
        <p:spPr>
          <a:xfrm>
            <a:off x="2743200" y="2286000"/>
            <a:ext cx="2103120" cy="411480"/>
          </a:xfrm>
          <a:prstGeom prst="rect">
            <a:avLst/>
          </a:prstGeom>
          <a:noFill/>
          <a:ln/>
        </p:spPr>
        <p:txBody>
          <a:bodyPr wrap="square" lIns="0" tIns="0" rIns="0" bIns="0" rtlCol="0" anchor="ctr"/>
          <a:lstStyle/>
          <a:p>
            <a:pPr algn="ctr" indent="0" marL="0">
              <a:buNone/>
            </a:pPr>
            <a:r>
              <a:rPr lang="en-US" sz="1600" b="1" dirty="0">
                <a:solidFill>
                  <a:schemeClr val="tx1"/>
                </a:solidFill>
              </a:rPr>
              <a:t>Graph convolution</a:t>
            </a:r>
            <a:endParaRPr lang="en-US" sz="1600" dirty="0"/>
          </a:p>
        </p:txBody>
      </p:sp>
      <p:sp>
        <p:nvSpPr>
          <p:cNvPr id="11" name="how-d-174"/>
          <p:cNvSpPr txBox="1"/>
          <p:nvPr/>
        </p:nvSpPr>
        <p:spPr>
          <a:xfrm>
            <a:off x="2743200" y="2697480"/>
            <a:ext cx="2103120" cy="1737360"/>
          </a:xfrm>
          <a:prstGeom prst="rect">
            <a:avLst/>
          </a:prstGeom>
          <a:noFill/>
          <a:ln/>
        </p:spPr>
        <p:txBody>
          <a:bodyPr wrap="square" lIns="0" tIns="0" rIns="0" bIns="0" rtlCol="0" anchor="t"/>
          <a:lstStyle/>
          <a:p>
            <a:pPr algn="ctr" indent="0" marL="0">
              <a:buNone/>
            </a:pPr>
            <a:r>
              <a:rPr lang="en-US" sz="1400" dirty="0">
                <a:solidFill>
                  <a:schemeClr val="tx2"/>
                </a:solidFill>
              </a:rPr>
              <a:t>Each station mixes its inputs with neighbours in the physical, similarity and correlation graphs</a:t>
            </a:r>
            <a:endParaRPr lang="en-US" sz="1400" dirty="0"/>
          </a:p>
        </p:txBody>
      </p:sp>
      <p:sp>
        <p:nvSpPr>
          <p:cNvPr id="12" name="dot-175"/>
          <p:cNvSpPr/>
          <p:nvPr/>
        </p:nvSpPr>
        <p:spPr>
          <a:xfrm>
            <a:off x="5715000" y="1417320"/>
            <a:ext cx="731520" cy="731520"/>
          </a:xfrm>
          <a:prstGeom prst="ellipse">
            <a:avLst/>
          </a:prstGeom>
          <a:solidFill>
            <a:schemeClr val="accent1"/>
          </a:solidFill>
          <a:ln w="25400">
            <a:solidFill>
              <a:schemeClr val="bg1"/>
            </a:solidFill>
            <a:prstDash val="solid"/>
          </a:ln>
        </p:spPr>
      </p:sp>
      <p:sp>
        <p:nvSpPr>
          <p:cNvPr id="13" name="dotlabel-176"/>
          <p:cNvSpPr txBox="1"/>
          <p:nvPr/>
        </p:nvSpPr>
        <p:spPr>
          <a:xfrm>
            <a:off x="5715000" y="1417320"/>
            <a:ext cx="731520" cy="73152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4" name="how-t-177"/>
          <p:cNvSpPr txBox="1"/>
          <p:nvPr/>
        </p:nvSpPr>
        <p:spPr>
          <a:xfrm>
            <a:off x="5029200" y="2286000"/>
            <a:ext cx="2103120" cy="411480"/>
          </a:xfrm>
          <a:prstGeom prst="rect">
            <a:avLst/>
          </a:prstGeom>
          <a:noFill/>
          <a:ln/>
        </p:spPr>
        <p:txBody>
          <a:bodyPr wrap="square" lIns="0" tIns="0" rIns="0" bIns="0" rtlCol="0" anchor="ctr"/>
          <a:lstStyle/>
          <a:p>
            <a:pPr algn="ctr" indent="0" marL="0">
              <a:buNone/>
            </a:pPr>
            <a:r>
              <a:rPr lang="en-US" sz="1600" b="1" dirty="0">
                <a:solidFill>
                  <a:schemeClr val="tx1"/>
                </a:solidFill>
              </a:rPr>
              <a:t>GC-GRU memory</a:t>
            </a:r>
            <a:endParaRPr lang="en-US" sz="1600" dirty="0"/>
          </a:p>
        </p:txBody>
      </p:sp>
      <p:sp>
        <p:nvSpPr>
          <p:cNvPr id="15" name="how-d-178"/>
          <p:cNvSpPr txBox="1"/>
          <p:nvPr/>
        </p:nvSpPr>
        <p:spPr>
          <a:xfrm>
            <a:off x="5029200" y="2697480"/>
            <a:ext cx="2103120" cy="1737360"/>
          </a:xfrm>
          <a:prstGeom prst="rect">
            <a:avLst/>
          </a:prstGeom>
          <a:noFill/>
          <a:ln/>
        </p:spPr>
        <p:txBody>
          <a:bodyPr wrap="square" lIns="0" tIns="0" rIns="0" bIns="0" rtlCol="0" anchor="t"/>
          <a:lstStyle/>
          <a:p>
            <a:pPr algn="ctr" indent="0" marL="0">
              <a:buNone/>
            </a:pPr>
            <a:r>
              <a:rPr lang="en-US" sz="1400" dirty="0">
                <a:solidFill>
                  <a:schemeClr val="tx2"/>
                </a:solidFill>
              </a:rPr>
              <a:t>Keeps 256 numbers per station, updated step by step over the last hour</a:t>
            </a:r>
            <a:endParaRPr lang="en-US" sz="1400" dirty="0"/>
          </a:p>
        </p:txBody>
      </p:sp>
      <p:sp>
        <p:nvSpPr>
          <p:cNvPr id="16" name="dot-179"/>
          <p:cNvSpPr/>
          <p:nvPr/>
        </p:nvSpPr>
        <p:spPr>
          <a:xfrm>
            <a:off x="8001000" y="1417320"/>
            <a:ext cx="731520" cy="731520"/>
          </a:xfrm>
          <a:prstGeom prst="ellipse">
            <a:avLst/>
          </a:prstGeom>
          <a:solidFill>
            <a:schemeClr val="accent1"/>
          </a:solidFill>
          <a:ln w="25400">
            <a:solidFill>
              <a:schemeClr val="bg1"/>
            </a:solidFill>
            <a:prstDash val="solid"/>
          </a:ln>
        </p:spPr>
      </p:sp>
      <p:sp>
        <p:nvSpPr>
          <p:cNvPr id="17" name="dotlabel-180"/>
          <p:cNvSpPr txBox="1"/>
          <p:nvPr/>
        </p:nvSpPr>
        <p:spPr>
          <a:xfrm>
            <a:off x="8001000" y="1417320"/>
            <a:ext cx="731520" cy="73152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18" name="how-t-181"/>
          <p:cNvSpPr txBox="1"/>
          <p:nvPr/>
        </p:nvSpPr>
        <p:spPr>
          <a:xfrm>
            <a:off x="7315200" y="2286000"/>
            <a:ext cx="2103120" cy="411480"/>
          </a:xfrm>
          <a:prstGeom prst="rect">
            <a:avLst/>
          </a:prstGeom>
          <a:noFill/>
          <a:ln/>
        </p:spPr>
        <p:txBody>
          <a:bodyPr wrap="square" lIns="0" tIns="0" rIns="0" bIns="0" rtlCol="0" anchor="ctr"/>
          <a:lstStyle/>
          <a:p>
            <a:pPr algn="ctr" indent="0" marL="0">
              <a:buNone/>
            </a:pPr>
            <a:r>
              <a:rPr lang="en-US" sz="1600" b="1" dirty="0">
                <a:solidFill>
                  <a:schemeClr val="tx1"/>
                </a:solidFill>
              </a:rPr>
              <a:t>FC-GRU (global)</a:t>
            </a:r>
            <a:endParaRPr lang="en-US" sz="1600" dirty="0"/>
          </a:p>
        </p:txBody>
      </p:sp>
      <p:sp>
        <p:nvSpPr>
          <p:cNvPr id="19" name="how-d-182"/>
          <p:cNvSpPr txBox="1"/>
          <p:nvPr/>
        </p:nvSpPr>
        <p:spPr>
          <a:xfrm>
            <a:off x="7315200" y="2697480"/>
            <a:ext cx="2103120" cy="1737360"/>
          </a:xfrm>
          <a:prstGeom prst="rect">
            <a:avLst/>
          </a:prstGeom>
          <a:noFill/>
          <a:ln/>
        </p:spPr>
        <p:txBody>
          <a:bodyPr wrap="square" lIns="0" tIns="0" rIns="0" bIns="0" rtlCol="0" anchor="t"/>
          <a:lstStyle/>
          <a:p>
            <a:pPr algn="ctr" indent="0" marL="0">
              <a:buNone/>
            </a:pPr>
            <a:r>
              <a:rPr lang="en-US" sz="1400" dirty="0">
                <a:solidFill>
                  <a:schemeClr val="tx2"/>
                </a:solidFill>
              </a:rPr>
              <a:t>Summarises the whole network and fuses the city-wide trend back in</a:t>
            </a:r>
            <a:endParaRPr lang="en-US" sz="1400" dirty="0"/>
          </a:p>
        </p:txBody>
      </p:sp>
      <p:sp>
        <p:nvSpPr>
          <p:cNvPr id="20" name="dot-183"/>
          <p:cNvSpPr/>
          <p:nvPr/>
        </p:nvSpPr>
        <p:spPr>
          <a:xfrm>
            <a:off x="10287000" y="1417320"/>
            <a:ext cx="731520" cy="731520"/>
          </a:xfrm>
          <a:prstGeom prst="ellipse">
            <a:avLst/>
          </a:prstGeom>
          <a:solidFill>
            <a:schemeClr val="accent2"/>
          </a:solidFill>
          <a:ln w="25400">
            <a:solidFill>
              <a:schemeClr val="bg1"/>
            </a:solidFill>
            <a:prstDash val="solid"/>
          </a:ln>
        </p:spPr>
      </p:sp>
      <p:sp>
        <p:nvSpPr>
          <p:cNvPr id="21" name="dotlabel-184"/>
          <p:cNvSpPr txBox="1"/>
          <p:nvPr/>
        </p:nvSpPr>
        <p:spPr>
          <a:xfrm>
            <a:off x="10287000" y="141732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2" name="how-t-185"/>
          <p:cNvSpPr txBox="1"/>
          <p:nvPr/>
        </p:nvSpPr>
        <p:spPr>
          <a:xfrm>
            <a:off x="9601200" y="2286000"/>
            <a:ext cx="2103120" cy="411480"/>
          </a:xfrm>
          <a:prstGeom prst="rect">
            <a:avLst/>
          </a:prstGeom>
          <a:noFill/>
          <a:ln/>
        </p:spPr>
        <p:txBody>
          <a:bodyPr wrap="square" lIns="0" tIns="0" rIns="0" bIns="0" rtlCol="0" anchor="ctr"/>
          <a:lstStyle/>
          <a:p>
            <a:pPr algn="ctr" indent="0" marL="0">
              <a:buNone/>
            </a:pPr>
            <a:r>
              <a:rPr lang="en-US" sz="1600" b="1" dirty="0">
                <a:solidFill>
                  <a:schemeClr val="tx1"/>
                </a:solidFill>
              </a:rPr>
              <a:t>Decoder</a:t>
            </a:r>
            <a:endParaRPr lang="en-US" sz="1600" dirty="0"/>
          </a:p>
        </p:txBody>
      </p:sp>
      <p:sp>
        <p:nvSpPr>
          <p:cNvPr id="23" name="how-d-186"/>
          <p:cNvSpPr txBox="1"/>
          <p:nvPr/>
        </p:nvSpPr>
        <p:spPr>
          <a:xfrm>
            <a:off x="9601200" y="2697480"/>
            <a:ext cx="2103120" cy="1737360"/>
          </a:xfrm>
          <a:prstGeom prst="rect">
            <a:avLst/>
          </a:prstGeom>
          <a:noFill/>
          <a:ln/>
        </p:spPr>
        <p:txBody>
          <a:bodyPr wrap="square" lIns="0" tIns="0" rIns="0" bIns="0" rtlCol="0" anchor="t"/>
          <a:lstStyle/>
          <a:p>
            <a:pPr algn="ctr" indent="0" marL="0">
              <a:buNone/>
            </a:pPr>
            <a:r>
              <a:rPr lang="en-US" sz="1400" dirty="0">
                <a:solidFill>
                  <a:schemeClr val="tx2"/>
                </a:solidFill>
              </a:rPr>
              <a:t>4 steps; each sees its target slot's reference values and time, then outputs in/out</a:t>
            </a:r>
            <a:endParaRPr lang="en-US" sz="1400" dirty="0"/>
          </a:p>
        </p:txBody>
      </p:sp>
      <p:sp>
        <p:nvSpPr>
          <p:cNvPr id="24" name="card-187"/>
          <p:cNvSpPr/>
          <p:nvPr/>
        </p:nvSpPr>
        <p:spPr>
          <a:xfrm>
            <a:off x="548640" y="4572000"/>
            <a:ext cx="11064240" cy="1554480"/>
          </a:xfrm>
          <a:prstGeom prst="roundRect">
            <a:avLst>
              <a:gd name="adj" fmla="val 4706"/>
            </a:avLst>
          </a:prstGeom>
          <a:solidFill>
            <a:schemeClr val="accent5"/>
          </a:solidFill>
          <a:ln w="12700">
            <a:solidFill>
              <a:schemeClr val="accent5"/>
            </a:solidFill>
            <a:prstDash val="solid"/>
          </a:ln>
        </p:spPr>
      </p:sp>
      <p:sp>
        <p:nvSpPr>
          <p:cNvPr id="25" name="dot-188"/>
          <p:cNvSpPr/>
          <p:nvPr/>
        </p:nvSpPr>
        <p:spPr>
          <a:xfrm>
            <a:off x="731520" y="4773168"/>
            <a:ext cx="237744" cy="237744"/>
          </a:xfrm>
          <a:prstGeom prst="ellipse">
            <a:avLst/>
          </a:prstGeom>
          <a:solidFill>
            <a:schemeClr val="accent1"/>
          </a:solidFill>
          <a:ln w="25400">
            <a:solidFill>
              <a:schemeClr val="bg1"/>
            </a:solidFill>
            <a:prstDash val="solid"/>
          </a:ln>
        </p:spPr>
      </p:sp>
      <p:sp>
        <p:nvSpPr>
          <p:cNvPr id="26" name="cardtitle-189"/>
          <p:cNvSpPr txBox="1"/>
          <p:nvPr/>
        </p:nvSpPr>
        <p:spPr>
          <a:xfrm>
            <a:off x="1060704" y="4681728"/>
            <a:ext cx="10424160" cy="420624"/>
          </a:xfrm>
          <a:prstGeom prst="rect">
            <a:avLst/>
          </a:prstGeom>
          <a:noFill/>
          <a:ln/>
        </p:spPr>
        <p:txBody>
          <a:bodyPr wrap="square" lIns="0" tIns="0" rIns="0" bIns="0" rtlCol="0" anchor="ctr"/>
          <a:lstStyle/>
          <a:p>
            <a:pPr indent="0" marL="0">
              <a:buNone/>
            </a:pPr>
            <a:r>
              <a:rPr lang="en-US" sz="1600" b="1" dirty="0">
                <a:solidFill>
                  <a:schemeClr val="bg1"/>
                </a:solidFill>
              </a:rPr>
              <a:t>The key idea</a:t>
            </a:r>
            <a:endParaRPr lang="en-US" sz="1600" dirty="0"/>
          </a:p>
        </p:txBody>
      </p:sp>
      <p:sp>
        <p:nvSpPr>
          <p:cNvPr id="27" name="cardbody-190"/>
          <p:cNvSpPr txBox="1"/>
          <p:nvPr/>
        </p:nvSpPr>
        <p:spPr>
          <a:xfrm>
            <a:off x="731520" y="5138928"/>
            <a:ext cx="10698480" cy="877824"/>
          </a:xfrm>
          <a:prstGeom prst="rect">
            <a:avLst/>
          </a:prstGeom>
          <a:noFill/>
          <a:ln/>
        </p:spPr>
        <p:txBody>
          <a:bodyPr wrap="square" lIns="0" tIns="0" rIns="0" bIns="0" rtlCol="0" anchor="t"/>
          <a:lstStyle/>
          <a:p>
            <a:pPr indent="0" marL="0">
              <a:buNone/>
            </a:pPr>
            <a:r>
              <a:rPr lang="en-US" sz="1600" dirty="0">
                <a:solidFill>
                  <a:schemeClr val="bg1"/>
                </a:solidFill>
              </a:rPr>
              <a:t>The model already knows what normally happens at, say, 08:45 on a working day, so it only has to learn how today differs. Steps 2–4 are unchanged PVCGN; our additions enter at steps 1 and 5.</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How the models are trained</a:t>
            </a:r>
            <a:endParaRPr lang="en-US" sz="3200" dirty="0"/>
          </a:p>
        </p:txBody>
      </p:sp>
      <p:sp>
        <p:nvSpPr>
          <p:cNvPr id="3" name="card-191"/>
          <p:cNvSpPr/>
          <p:nvPr/>
        </p:nvSpPr>
        <p:spPr>
          <a:xfrm>
            <a:off x="548640" y="1371600"/>
            <a:ext cx="3566160" cy="2240280"/>
          </a:xfrm>
          <a:prstGeom prst="roundRect">
            <a:avLst>
              <a:gd name="adj" fmla="val 3265"/>
            </a:avLst>
          </a:prstGeom>
          <a:solidFill>
            <a:schemeClr val="bg2"/>
          </a:solidFill>
          <a:ln w="12700">
            <a:solidFill>
              <a:schemeClr val="bg2"/>
            </a:solidFill>
            <a:prstDash val="solid"/>
          </a:ln>
        </p:spPr>
      </p:sp>
      <p:sp>
        <p:nvSpPr>
          <p:cNvPr id="4" name="dot-192"/>
          <p:cNvSpPr/>
          <p:nvPr/>
        </p:nvSpPr>
        <p:spPr>
          <a:xfrm>
            <a:off x="731520" y="1572768"/>
            <a:ext cx="237744" cy="237744"/>
          </a:xfrm>
          <a:prstGeom prst="ellipse">
            <a:avLst/>
          </a:prstGeom>
          <a:solidFill>
            <a:schemeClr val="accent1"/>
          </a:solidFill>
          <a:ln w="25400">
            <a:solidFill>
              <a:schemeClr val="bg1"/>
            </a:solidFill>
            <a:prstDash val="solid"/>
          </a:ln>
        </p:spPr>
      </p:sp>
      <p:sp>
        <p:nvSpPr>
          <p:cNvPr id="5" name="cardtitle-193"/>
          <p:cNvSpPr txBox="1"/>
          <p:nvPr/>
        </p:nvSpPr>
        <p:spPr>
          <a:xfrm>
            <a:off x="1060704" y="148132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Loss</a:t>
            </a:r>
            <a:endParaRPr lang="en-US" sz="1600" dirty="0"/>
          </a:p>
        </p:txBody>
      </p:sp>
      <p:sp>
        <p:nvSpPr>
          <p:cNvPr id="6" name="cardbody-194"/>
          <p:cNvSpPr txBox="1"/>
          <p:nvPr/>
        </p:nvSpPr>
        <p:spPr>
          <a:xfrm>
            <a:off x="731520" y="1938528"/>
            <a:ext cx="3200400" cy="1563624"/>
          </a:xfrm>
          <a:prstGeom prst="rect">
            <a:avLst/>
          </a:prstGeom>
          <a:noFill/>
          <a:ln/>
        </p:spPr>
        <p:txBody>
          <a:bodyPr wrap="square" lIns="0" tIns="0" rIns="0" bIns="0" rtlCol="0" anchor="t"/>
          <a:lstStyle/>
          <a:p>
            <a:pPr indent="0" marL="0">
              <a:buNone/>
            </a:pPr>
            <a:r>
              <a:rPr lang="en-US" sz="1500" dirty="0">
                <a:solidFill>
                  <a:schemeClr val="tx1"/>
                </a:solidFill>
              </a:rPr>
              <a:t>Mean absolute error on real passenger counts — the paper's main metric.</a:t>
            </a:r>
            <a:endParaRPr lang="en-US" sz="1500" dirty="0"/>
          </a:p>
        </p:txBody>
      </p:sp>
      <p:sp>
        <p:nvSpPr>
          <p:cNvPr id="7" name="card-195"/>
          <p:cNvSpPr/>
          <p:nvPr/>
        </p:nvSpPr>
        <p:spPr>
          <a:xfrm>
            <a:off x="4297680" y="1371600"/>
            <a:ext cx="3566160" cy="2240280"/>
          </a:xfrm>
          <a:prstGeom prst="roundRect">
            <a:avLst>
              <a:gd name="adj" fmla="val 3265"/>
            </a:avLst>
          </a:prstGeom>
          <a:solidFill>
            <a:schemeClr val="bg2"/>
          </a:solidFill>
          <a:ln w="12700">
            <a:solidFill>
              <a:schemeClr val="bg2"/>
            </a:solidFill>
            <a:prstDash val="solid"/>
          </a:ln>
        </p:spPr>
      </p:sp>
      <p:sp>
        <p:nvSpPr>
          <p:cNvPr id="8" name="dot-196"/>
          <p:cNvSpPr/>
          <p:nvPr/>
        </p:nvSpPr>
        <p:spPr>
          <a:xfrm>
            <a:off x="4480560" y="1572768"/>
            <a:ext cx="237744" cy="237744"/>
          </a:xfrm>
          <a:prstGeom prst="ellipse">
            <a:avLst/>
          </a:prstGeom>
          <a:solidFill>
            <a:schemeClr val="accent1"/>
          </a:solidFill>
          <a:ln w="25400">
            <a:solidFill>
              <a:schemeClr val="bg1"/>
            </a:solidFill>
            <a:prstDash val="solid"/>
          </a:ln>
        </p:spPr>
      </p:sp>
      <p:sp>
        <p:nvSpPr>
          <p:cNvPr id="9" name="cardtitle-197"/>
          <p:cNvSpPr txBox="1"/>
          <p:nvPr/>
        </p:nvSpPr>
        <p:spPr>
          <a:xfrm>
            <a:off x="4809744" y="148132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Optimiser</a:t>
            </a:r>
            <a:endParaRPr lang="en-US" sz="1600" dirty="0"/>
          </a:p>
        </p:txBody>
      </p:sp>
      <p:sp>
        <p:nvSpPr>
          <p:cNvPr id="10" name="cardbody-198"/>
          <p:cNvSpPr txBox="1"/>
          <p:nvPr/>
        </p:nvSpPr>
        <p:spPr>
          <a:xfrm>
            <a:off x="4480560" y="1938528"/>
            <a:ext cx="3200400" cy="1563624"/>
          </a:xfrm>
          <a:prstGeom prst="rect">
            <a:avLst/>
          </a:prstGeom>
          <a:noFill/>
          <a:ln/>
        </p:spPr>
        <p:txBody>
          <a:bodyPr wrap="square" lIns="0" tIns="0" rIns="0" bIns="0" rtlCol="0" anchor="t"/>
          <a:lstStyle/>
          <a:p>
            <a:pPr indent="0" marL="0">
              <a:buNone/>
            </a:pPr>
            <a:r>
              <a:rPr lang="en-US" sz="1500" dirty="0">
                <a:solidFill>
                  <a:schemeClr val="tx1"/>
                </a:solidFill>
              </a:rPr>
              <a:t>Adam, learning rate 0.001, cut ×10 at epochs 100 and 150 (paper schedule); gradient clipping at 5.</a:t>
            </a:r>
            <a:endParaRPr lang="en-US" sz="1500" dirty="0"/>
          </a:p>
        </p:txBody>
      </p:sp>
      <p:sp>
        <p:nvSpPr>
          <p:cNvPr id="11" name="card-199"/>
          <p:cNvSpPr/>
          <p:nvPr/>
        </p:nvSpPr>
        <p:spPr>
          <a:xfrm>
            <a:off x="8046720" y="1371600"/>
            <a:ext cx="3566160" cy="2240280"/>
          </a:xfrm>
          <a:prstGeom prst="roundRect">
            <a:avLst>
              <a:gd name="adj" fmla="val 3265"/>
            </a:avLst>
          </a:prstGeom>
          <a:solidFill>
            <a:schemeClr val="bg2"/>
          </a:solidFill>
          <a:ln w="12700">
            <a:solidFill>
              <a:schemeClr val="bg2"/>
            </a:solidFill>
            <a:prstDash val="solid"/>
          </a:ln>
        </p:spPr>
      </p:sp>
      <p:sp>
        <p:nvSpPr>
          <p:cNvPr id="12" name="dot-200"/>
          <p:cNvSpPr/>
          <p:nvPr/>
        </p:nvSpPr>
        <p:spPr>
          <a:xfrm>
            <a:off x="8229600" y="1572768"/>
            <a:ext cx="237744" cy="237744"/>
          </a:xfrm>
          <a:prstGeom prst="ellipse">
            <a:avLst/>
          </a:prstGeom>
          <a:solidFill>
            <a:schemeClr val="accent1"/>
          </a:solidFill>
          <a:ln w="25400">
            <a:solidFill>
              <a:schemeClr val="bg1"/>
            </a:solidFill>
            <a:prstDash val="solid"/>
          </a:ln>
        </p:spPr>
      </p:sp>
      <p:sp>
        <p:nvSpPr>
          <p:cNvPr id="13" name="cardtitle-201"/>
          <p:cNvSpPr txBox="1"/>
          <p:nvPr/>
        </p:nvSpPr>
        <p:spPr>
          <a:xfrm>
            <a:off x="8558784" y="148132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Curriculum learning</a:t>
            </a:r>
            <a:endParaRPr lang="en-US" sz="1600" dirty="0"/>
          </a:p>
        </p:txBody>
      </p:sp>
      <p:sp>
        <p:nvSpPr>
          <p:cNvPr id="14" name="cardbody-202"/>
          <p:cNvSpPr txBox="1"/>
          <p:nvPr/>
        </p:nvSpPr>
        <p:spPr>
          <a:xfrm>
            <a:off x="8229600" y="1938528"/>
            <a:ext cx="3200400" cy="1563624"/>
          </a:xfrm>
          <a:prstGeom prst="rect">
            <a:avLst/>
          </a:prstGeom>
          <a:noFill/>
          <a:ln/>
        </p:spPr>
        <p:txBody>
          <a:bodyPr wrap="square" lIns="0" tIns="0" rIns="0" bIns="0" rtlCol="0" anchor="t"/>
          <a:lstStyle/>
          <a:p>
            <a:pPr indent="0" marL="0">
              <a:buNone/>
            </a:pPr>
            <a:r>
              <a:rPr lang="en-US" sz="1500" dirty="0">
                <a:solidFill>
                  <a:schemeClr val="tx1"/>
                </a:solidFill>
              </a:rPr>
              <a:t>Early on, the decoder gets the true previous values; gradually it must use its own predictions.</a:t>
            </a:r>
            <a:endParaRPr lang="en-US" sz="1500" dirty="0"/>
          </a:p>
        </p:txBody>
      </p:sp>
      <p:sp>
        <p:nvSpPr>
          <p:cNvPr id="15" name="card-203"/>
          <p:cNvSpPr/>
          <p:nvPr/>
        </p:nvSpPr>
        <p:spPr>
          <a:xfrm>
            <a:off x="548640" y="3794760"/>
            <a:ext cx="3566160" cy="2240280"/>
          </a:xfrm>
          <a:prstGeom prst="roundRect">
            <a:avLst>
              <a:gd name="adj" fmla="val 3265"/>
            </a:avLst>
          </a:prstGeom>
          <a:solidFill>
            <a:schemeClr val="bg2"/>
          </a:solidFill>
          <a:ln w="12700">
            <a:solidFill>
              <a:schemeClr val="bg2"/>
            </a:solidFill>
            <a:prstDash val="solid"/>
          </a:ln>
        </p:spPr>
      </p:sp>
      <p:sp>
        <p:nvSpPr>
          <p:cNvPr id="16" name="dot-204"/>
          <p:cNvSpPr/>
          <p:nvPr/>
        </p:nvSpPr>
        <p:spPr>
          <a:xfrm>
            <a:off x="731520" y="3995928"/>
            <a:ext cx="237744" cy="237744"/>
          </a:xfrm>
          <a:prstGeom prst="ellipse">
            <a:avLst/>
          </a:prstGeom>
          <a:solidFill>
            <a:schemeClr val="accent2"/>
          </a:solidFill>
          <a:ln w="25400">
            <a:solidFill>
              <a:schemeClr val="bg1"/>
            </a:solidFill>
            <a:prstDash val="solid"/>
          </a:ln>
        </p:spPr>
      </p:sp>
      <p:sp>
        <p:nvSpPr>
          <p:cNvPr id="17" name="cardtitle-205"/>
          <p:cNvSpPr txBox="1"/>
          <p:nvPr/>
        </p:nvSpPr>
        <p:spPr>
          <a:xfrm>
            <a:off x="1060704" y="390448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Picking the model</a:t>
            </a:r>
            <a:endParaRPr lang="en-US" sz="1600" dirty="0"/>
          </a:p>
        </p:txBody>
      </p:sp>
      <p:sp>
        <p:nvSpPr>
          <p:cNvPr id="18" name="cardbody-206"/>
          <p:cNvSpPr txBox="1"/>
          <p:nvPr/>
        </p:nvSpPr>
        <p:spPr>
          <a:xfrm>
            <a:off x="731520" y="4361688"/>
            <a:ext cx="3200400" cy="1563624"/>
          </a:xfrm>
          <a:prstGeom prst="rect">
            <a:avLst/>
          </a:prstGeom>
          <a:noFill/>
          <a:ln/>
        </p:spPr>
        <p:txBody>
          <a:bodyPr wrap="square" lIns="0" tIns="0" rIns="0" bIns="0" rtlCol="0" anchor="t"/>
          <a:lstStyle/>
          <a:p>
            <a:pPr indent="0" marL="0">
              <a:buNone/>
            </a:pPr>
            <a:r>
              <a:rPr lang="en-US" sz="1500" dirty="0">
                <a:solidFill>
                  <a:schemeClr val="tx1"/>
                </a:solidFill>
              </a:rPr>
              <a:t>Validation MAE after every epoch; keep the best; stop after 50 epochs without improvement.</a:t>
            </a:r>
            <a:endParaRPr lang="en-US" sz="1500" dirty="0"/>
          </a:p>
        </p:txBody>
      </p:sp>
      <p:sp>
        <p:nvSpPr>
          <p:cNvPr id="19" name="card-207"/>
          <p:cNvSpPr/>
          <p:nvPr/>
        </p:nvSpPr>
        <p:spPr>
          <a:xfrm>
            <a:off x="4297680" y="3794760"/>
            <a:ext cx="3566160" cy="2240280"/>
          </a:xfrm>
          <a:prstGeom prst="roundRect">
            <a:avLst>
              <a:gd name="adj" fmla="val 3265"/>
            </a:avLst>
          </a:prstGeom>
          <a:solidFill>
            <a:schemeClr val="bg2"/>
          </a:solidFill>
          <a:ln w="12700">
            <a:solidFill>
              <a:schemeClr val="bg2"/>
            </a:solidFill>
            <a:prstDash val="solid"/>
          </a:ln>
        </p:spPr>
      </p:sp>
      <p:sp>
        <p:nvSpPr>
          <p:cNvPr id="20" name="dot-208"/>
          <p:cNvSpPr/>
          <p:nvPr/>
        </p:nvSpPr>
        <p:spPr>
          <a:xfrm>
            <a:off x="4480560" y="3995928"/>
            <a:ext cx="237744" cy="237744"/>
          </a:xfrm>
          <a:prstGeom prst="ellipse">
            <a:avLst/>
          </a:prstGeom>
          <a:solidFill>
            <a:schemeClr val="accent2"/>
          </a:solidFill>
          <a:ln w="25400">
            <a:solidFill>
              <a:schemeClr val="bg1"/>
            </a:solidFill>
            <a:prstDash val="solid"/>
          </a:ln>
        </p:spPr>
      </p:sp>
      <p:sp>
        <p:nvSpPr>
          <p:cNvPr id="21" name="cardtitle-209"/>
          <p:cNvSpPr txBox="1"/>
          <p:nvPr/>
        </p:nvSpPr>
        <p:spPr>
          <a:xfrm>
            <a:off x="4809744" y="390448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Repeats</a:t>
            </a:r>
            <a:endParaRPr lang="en-US" sz="1600" dirty="0"/>
          </a:p>
        </p:txBody>
      </p:sp>
      <p:sp>
        <p:nvSpPr>
          <p:cNvPr id="22" name="cardbody-210"/>
          <p:cNvSpPr txBox="1"/>
          <p:nvPr/>
        </p:nvSpPr>
        <p:spPr>
          <a:xfrm>
            <a:off x="4480560" y="4361688"/>
            <a:ext cx="3200400" cy="1563624"/>
          </a:xfrm>
          <a:prstGeom prst="rect">
            <a:avLst/>
          </a:prstGeom>
          <a:noFill/>
          <a:ln/>
        </p:spPr>
        <p:txBody>
          <a:bodyPr wrap="square" lIns="0" tIns="0" rIns="0" bIns="0" rtlCol="0" anchor="t"/>
          <a:lstStyle/>
          <a:p>
            <a:pPr indent="0" marL="0">
              <a:buNone/>
            </a:pPr>
            <a:r>
              <a:rPr lang="en-US" sz="1500" dirty="0">
                <a:solidFill>
                  <a:schemeClr val="tx1"/>
                </a:solidFill>
              </a:rPr>
              <a:t>3 seeds per model on Hangzhou, 2 on Shanghai; results reported as mean ± std.</a:t>
            </a:r>
            <a:endParaRPr lang="en-US" sz="1500" dirty="0"/>
          </a:p>
        </p:txBody>
      </p:sp>
      <p:sp>
        <p:nvSpPr>
          <p:cNvPr id="23" name="card-211"/>
          <p:cNvSpPr/>
          <p:nvPr/>
        </p:nvSpPr>
        <p:spPr>
          <a:xfrm>
            <a:off x="8046720" y="3794760"/>
            <a:ext cx="3566160" cy="2240280"/>
          </a:xfrm>
          <a:prstGeom prst="roundRect">
            <a:avLst>
              <a:gd name="adj" fmla="val 3265"/>
            </a:avLst>
          </a:prstGeom>
          <a:solidFill>
            <a:schemeClr val="bg2"/>
          </a:solidFill>
          <a:ln w="12700">
            <a:solidFill>
              <a:schemeClr val="bg2"/>
            </a:solidFill>
            <a:prstDash val="solid"/>
          </a:ln>
        </p:spPr>
      </p:sp>
      <p:sp>
        <p:nvSpPr>
          <p:cNvPr id="24" name="dot-212"/>
          <p:cNvSpPr/>
          <p:nvPr/>
        </p:nvSpPr>
        <p:spPr>
          <a:xfrm>
            <a:off x="8229600" y="3995928"/>
            <a:ext cx="237744" cy="237744"/>
          </a:xfrm>
          <a:prstGeom prst="ellipse">
            <a:avLst/>
          </a:prstGeom>
          <a:solidFill>
            <a:schemeClr val="accent2"/>
          </a:solidFill>
          <a:ln w="25400">
            <a:solidFill>
              <a:schemeClr val="bg1"/>
            </a:solidFill>
            <a:prstDash val="solid"/>
          </a:ln>
        </p:spPr>
      </p:sp>
      <p:sp>
        <p:nvSpPr>
          <p:cNvPr id="25" name="cardtitle-213"/>
          <p:cNvSpPr txBox="1"/>
          <p:nvPr/>
        </p:nvSpPr>
        <p:spPr>
          <a:xfrm>
            <a:off x="8558784" y="390448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Budget</a:t>
            </a:r>
            <a:endParaRPr lang="en-US" sz="1600" dirty="0"/>
          </a:p>
        </p:txBody>
      </p:sp>
      <p:sp>
        <p:nvSpPr>
          <p:cNvPr id="26" name="cardbody-214"/>
          <p:cNvSpPr txBox="1"/>
          <p:nvPr/>
        </p:nvSpPr>
        <p:spPr>
          <a:xfrm>
            <a:off x="8229600" y="4361688"/>
            <a:ext cx="3200400" cy="1563624"/>
          </a:xfrm>
          <a:prstGeom prst="rect">
            <a:avLst/>
          </a:prstGeom>
          <a:noFill/>
          <a:ln/>
        </p:spPr>
        <p:txBody>
          <a:bodyPr wrap="square" lIns="0" tIns="0" rIns="0" bIns="0" rtlCol="0" anchor="t"/>
          <a:lstStyle/>
          <a:p>
            <a:pPr indent="0" marL="0">
              <a:buNone/>
            </a:pPr>
            <a:r>
              <a:rPr lang="en-US" sz="1500" dirty="0">
                <a:solidFill>
                  <a:schemeClr val="tx1"/>
                </a:solidFill>
              </a:rPr>
              <a:t>Hangzhou: 200 epochs for every model (~1–1.5 h per run). Shanghai: 30 epochs (~5–8 h per run).</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How we make the comparison fair</a:t>
            </a:r>
            <a:endParaRPr lang="en-US" sz="3200" dirty="0"/>
          </a:p>
        </p:txBody>
      </p:sp>
      <p:sp>
        <p:nvSpPr>
          <p:cNvPr id="3" name="gate-line"/>
          <p:cNvSpPr/>
          <p:nvPr/>
        </p:nvSpPr>
        <p:spPr>
          <a:xfrm>
            <a:off x="1188720" y="1828800"/>
            <a:ext cx="9875520" cy="0"/>
          </a:xfrm>
          <a:prstGeom prst="line">
            <a:avLst/>
          </a:prstGeom>
          <a:noFill/>
          <a:ln w="76200">
            <a:solidFill>
              <a:schemeClr val="accent1"/>
            </a:solidFill>
            <a:prstDash val="solid"/>
          </a:ln>
        </p:spPr>
      </p:sp>
      <p:sp>
        <p:nvSpPr>
          <p:cNvPr id="4" name="dot-215"/>
          <p:cNvSpPr/>
          <p:nvPr/>
        </p:nvSpPr>
        <p:spPr>
          <a:xfrm>
            <a:off x="777240" y="1417320"/>
            <a:ext cx="822960" cy="822960"/>
          </a:xfrm>
          <a:prstGeom prst="ellipse">
            <a:avLst/>
          </a:prstGeom>
          <a:solidFill>
            <a:schemeClr val="accent2"/>
          </a:solidFill>
          <a:ln w="25400">
            <a:solidFill>
              <a:schemeClr val="bg1"/>
            </a:solidFill>
            <a:prstDash val="solid"/>
          </a:ln>
        </p:spPr>
      </p:sp>
      <p:sp>
        <p:nvSpPr>
          <p:cNvPr id="5" name="dotlabel-216"/>
          <p:cNvSpPr txBox="1"/>
          <p:nvPr/>
        </p:nvSpPr>
        <p:spPr>
          <a:xfrm>
            <a:off x="777240" y="1417320"/>
            <a:ext cx="822960" cy="822960"/>
          </a:xfrm>
          <a:prstGeom prst="rect">
            <a:avLst/>
          </a:prstGeom>
          <a:noFill/>
          <a:ln/>
        </p:spPr>
        <p:txBody>
          <a:bodyPr wrap="square" lIns="0" tIns="0" rIns="0" bIns="0" rtlCol="0" anchor="ctr"/>
          <a:lstStyle/>
          <a:p>
            <a:pPr algn="ctr" indent="0" marL="0">
              <a:buNone/>
            </a:pPr>
            <a:r>
              <a:rPr lang="en-US" sz="2200" b="1" dirty="0">
                <a:solidFill>
                  <a:schemeClr val="bg1"/>
                </a:solidFill>
              </a:rPr>
              <a:t>A</a:t>
            </a:r>
            <a:endParaRPr lang="en-US" sz="2200" dirty="0"/>
          </a:p>
        </p:txBody>
      </p:sp>
      <p:sp>
        <p:nvSpPr>
          <p:cNvPr id="6" name="gate-t-217"/>
          <p:cNvSpPr txBox="1"/>
          <p:nvPr/>
        </p:nvSpPr>
        <p:spPr>
          <a:xfrm>
            <a:off x="228600" y="2331720"/>
            <a:ext cx="1920240" cy="411480"/>
          </a:xfrm>
          <a:prstGeom prst="rect">
            <a:avLst/>
          </a:prstGeom>
          <a:noFill/>
          <a:ln/>
        </p:spPr>
        <p:txBody>
          <a:bodyPr wrap="square" lIns="0" tIns="0" rIns="0" bIns="0" rtlCol="0" anchor="ctr"/>
          <a:lstStyle/>
          <a:p>
            <a:pPr algn="ctr" indent="0" marL="0">
              <a:buNone/>
            </a:pPr>
            <a:r>
              <a:rPr lang="en-US" sz="1600" b="1" dirty="0">
                <a:solidFill>
                  <a:schemeClr val="tx1"/>
                </a:solidFill>
              </a:rPr>
              <a:t>Problem defined</a:t>
            </a:r>
            <a:endParaRPr lang="en-US" sz="1600" dirty="0"/>
          </a:p>
        </p:txBody>
      </p:sp>
      <p:sp>
        <p:nvSpPr>
          <p:cNvPr id="7" name="gate-s-218"/>
          <p:cNvSpPr txBox="1"/>
          <p:nvPr/>
        </p:nvSpPr>
        <p:spPr>
          <a:xfrm>
            <a:off x="228600" y="2743200"/>
            <a:ext cx="1920240" cy="365760"/>
          </a:xfrm>
          <a:prstGeom prst="rect">
            <a:avLst/>
          </a:prstGeom>
          <a:noFill/>
          <a:ln/>
        </p:spPr>
        <p:txBody>
          <a:bodyPr wrap="square" lIns="0" tIns="0" rIns="0" bIns="0" rtlCol="0" anchor="ctr"/>
          <a:lstStyle/>
          <a:p>
            <a:pPr algn="ctr" indent="0" marL="0">
              <a:buNone/>
            </a:pPr>
            <a:r>
              <a:rPr lang="en-US" sz="1400" dirty="0">
                <a:solidFill>
                  <a:schemeClr val="tx2"/>
                </a:solidFill>
              </a:rPr>
              <a:t>passed</a:t>
            </a:r>
            <a:endParaRPr lang="en-US" sz="1400" dirty="0"/>
          </a:p>
        </p:txBody>
      </p:sp>
      <p:sp>
        <p:nvSpPr>
          <p:cNvPr id="8" name="dot-219"/>
          <p:cNvSpPr/>
          <p:nvPr/>
        </p:nvSpPr>
        <p:spPr>
          <a:xfrm>
            <a:off x="4069080" y="1417320"/>
            <a:ext cx="822960" cy="822960"/>
          </a:xfrm>
          <a:prstGeom prst="ellipse">
            <a:avLst/>
          </a:prstGeom>
          <a:solidFill>
            <a:schemeClr val="accent2"/>
          </a:solidFill>
          <a:ln w="25400">
            <a:solidFill>
              <a:schemeClr val="bg1"/>
            </a:solidFill>
            <a:prstDash val="solid"/>
          </a:ln>
        </p:spPr>
      </p:sp>
      <p:sp>
        <p:nvSpPr>
          <p:cNvPr id="9" name="dotlabel-220"/>
          <p:cNvSpPr txBox="1"/>
          <p:nvPr/>
        </p:nvSpPr>
        <p:spPr>
          <a:xfrm>
            <a:off x="4069080" y="1417320"/>
            <a:ext cx="822960" cy="822960"/>
          </a:xfrm>
          <a:prstGeom prst="rect">
            <a:avLst/>
          </a:prstGeom>
          <a:noFill/>
          <a:ln/>
        </p:spPr>
        <p:txBody>
          <a:bodyPr wrap="square" lIns="0" tIns="0" rIns="0" bIns="0" rtlCol="0" anchor="ctr"/>
          <a:lstStyle/>
          <a:p>
            <a:pPr algn="ctr" indent="0" marL="0">
              <a:buNone/>
            </a:pPr>
            <a:r>
              <a:rPr lang="en-US" sz="2200" b="1" dirty="0">
                <a:solidFill>
                  <a:schemeClr val="bg1"/>
                </a:solidFill>
              </a:rPr>
              <a:t>B</a:t>
            </a:r>
            <a:endParaRPr lang="en-US" sz="2200" dirty="0"/>
          </a:p>
        </p:txBody>
      </p:sp>
      <p:sp>
        <p:nvSpPr>
          <p:cNvPr id="10" name="gate-t-221"/>
          <p:cNvSpPr txBox="1"/>
          <p:nvPr/>
        </p:nvSpPr>
        <p:spPr>
          <a:xfrm>
            <a:off x="3520440" y="2331720"/>
            <a:ext cx="1920240" cy="411480"/>
          </a:xfrm>
          <a:prstGeom prst="rect">
            <a:avLst/>
          </a:prstGeom>
          <a:noFill/>
          <a:ln/>
        </p:spPr>
        <p:txBody>
          <a:bodyPr wrap="square" lIns="0" tIns="0" rIns="0" bIns="0" rtlCol="0" anchor="ctr"/>
          <a:lstStyle/>
          <a:p>
            <a:pPr algn="ctr" indent="0" marL="0">
              <a:buNone/>
            </a:pPr>
            <a:r>
              <a:rPr lang="en-US" sz="1600" b="1" dirty="0">
                <a:solidFill>
                  <a:schemeClr val="tx1"/>
                </a:solidFill>
              </a:rPr>
              <a:t>Data and plan ready</a:t>
            </a:r>
            <a:endParaRPr lang="en-US" sz="1600" dirty="0"/>
          </a:p>
        </p:txBody>
      </p:sp>
      <p:sp>
        <p:nvSpPr>
          <p:cNvPr id="11" name="gate-s-222"/>
          <p:cNvSpPr txBox="1"/>
          <p:nvPr/>
        </p:nvSpPr>
        <p:spPr>
          <a:xfrm>
            <a:off x="3520440" y="2743200"/>
            <a:ext cx="1920240" cy="365760"/>
          </a:xfrm>
          <a:prstGeom prst="rect">
            <a:avLst/>
          </a:prstGeom>
          <a:noFill/>
          <a:ln/>
        </p:spPr>
        <p:txBody>
          <a:bodyPr wrap="square" lIns="0" tIns="0" rIns="0" bIns="0" rtlCol="0" anchor="ctr"/>
          <a:lstStyle/>
          <a:p>
            <a:pPr algn="ctr" indent="0" marL="0">
              <a:buNone/>
            </a:pPr>
            <a:r>
              <a:rPr lang="en-US" sz="1400" dirty="0">
                <a:solidFill>
                  <a:schemeClr val="tx2"/>
                </a:solidFill>
              </a:rPr>
              <a:t>passed</a:t>
            </a:r>
            <a:endParaRPr lang="en-US" sz="1400" dirty="0"/>
          </a:p>
        </p:txBody>
      </p:sp>
      <p:sp>
        <p:nvSpPr>
          <p:cNvPr id="12" name="dot-223"/>
          <p:cNvSpPr/>
          <p:nvPr/>
        </p:nvSpPr>
        <p:spPr>
          <a:xfrm>
            <a:off x="7360920" y="1417320"/>
            <a:ext cx="822960" cy="822960"/>
          </a:xfrm>
          <a:prstGeom prst="ellipse">
            <a:avLst/>
          </a:prstGeom>
          <a:solidFill>
            <a:schemeClr val="accent2"/>
          </a:solidFill>
          <a:ln w="25400">
            <a:solidFill>
              <a:schemeClr val="bg1"/>
            </a:solidFill>
            <a:prstDash val="solid"/>
          </a:ln>
        </p:spPr>
      </p:sp>
      <p:sp>
        <p:nvSpPr>
          <p:cNvPr id="13" name="dotlabel-224"/>
          <p:cNvSpPr txBox="1"/>
          <p:nvPr/>
        </p:nvSpPr>
        <p:spPr>
          <a:xfrm>
            <a:off x="7360920" y="1417320"/>
            <a:ext cx="822960" cy="822960"/>
          </a:xfrm>
          <a:prstGeom prst="rect">
            <a:avLst/>
          </a:prstGeom>
          <a:noFill/>
          <a:ln/>
        </p:spPr>
        <p:txBody>
          <a:bodyPr wrap="square" lIns="0" tIns="0" rIns="0" bIns="0" rtlCol="0" anchor="ctr"/>
          <a:lstStyle/>
          <a:p>
            <a:pPr algn="ctr" indent="0" marL="0">
              <a:buNone/>
            </a:pPr>
            <a:r>
              <a:rPr lang="en-US" sz="2200" b="1" dirty="0">
                <a:solidFill>
                  <a:schemeClr val="bg1"/>
                </a:solidFill>
              </a:rPr>
              <a:t>C</a:t>
            </a:r>
            <a:endParaRPr lang="en-US" sz="2200" dirty="0"/>
          </a:p>
        </p:txBody>
      </p:sp>
      <p:sp>
        <p:nvSpPr>
          <p:cNvPr id="14" name="gate-t-225"/>
          <p:cNvSpPr txBox="1"/>
          <p:nvPr/>
        </p:nvSpPr>
        <p:spPr>
          <a:xfrm>
            <a:off x="6812280" y="2331720"/>
            <a:ext cx="1920240" cy="411480"/>
          </a:xfrm>
          <a:prstGeom prst="rect">
            <a:avLst/>
          </a:prstGeom>
          <a:noFill/>
          <a:ln/>
        </p:spPr>
        <p:txBody>
          <a:bodyPr wrap="square" lIns="0" tIns="0" rIns="0" bIns="0" rtlCol="0" anchor="ctr"/>
          <a:lstStyle/>
          <a:p>
            <a:pPr algn="ctr" indent="0" marL="0">
              <a:buNone/>
            </a:pPr>
            <a:r>
              <a:rPr lang="en-US" sz="1600" b="1" dirty="0">
                <a:solidFill>
                  <a:schemeClr val="tx1"/>
                </a:solidFill>
              </a:rPr>
              <a:t>Validation results</a:t>
            </a:r>
            <a:endParaRPr lang="en-US" sz="1600" dirty="0"/>
          </a:p>
        </p:txBody>
      </p:sp>
      <p:sp>
        <p:nvSpPr>
          <p:cNvPr id="15" name="gate-s-226"/>
          <p:cNvSpPr txBox="1"/>
          <p:nvPr/>
        </p:nvSpPr>
        <p:spPr>
          <a:xfrm>
            <a:off x="6812280" y="2743200"/>
            <a:ext cx="1920240" cy="365760"/>
          </a:xfrm>
          <a:prstGeom prst="rect">
            <a:avLst/>
          </a:prstGeom>
          <a:noFill/>
          <a:ln/>
        </p:spPr>
        <p:txBody>
          <a:bodyPr wrap="square" lIns="0" tIns="0" rIns="0" bIns="0" rtlCol="0" anchor="ctr"/>
          <a:lstStyle/>
          <a:p>
            <a:pPr algn="ctr" indent="0" marL="0">
              <a:buNone/>
            </a:pPr>
            <a:r>
              <a:rPr lang="en-US" sz="1400" dirty="0">
                <a:solidFill>
                  <a:schemeClr val="tx2"/>
                </a:solidFill>
              </a:rPr>
              <a:t>passed</a:t>
            </a:r>
            <a:endParaRPr lang="en-US" sz="1400" dirty="0"/>
          </a:p>
        </p:txBody>
      </p:sp>
      <p:sp>
        <p:nvSpPr>
          <p:cNvPr id="16" name="dot-227"/>
          <p:cNvSpPr/>
          <p:nvPr/>
        </p:nvSpPr>
        <p:spPr>
          <a:xfrm>
            <a:off x="10652760" y="1417320"/>
            <a:ext cx="822960" cy="822960"/>
          </a:xfrm>
          <a:prstGeom prst="ellipse">
            <a:avLst/>
          </a:prstGeom>
          <a:solidFill>
            <a:schemeClr val="accent2"/>
          </a:solidFill>
          <a:ln w="25400">
            <a:solidFill>
              <a:schemeClr val="bg1"/>
            </a:solidFill>
            <a:prstDash val="solid"/>
          </a:ln>
        </p:spPr>
      </p:sp>
      <p:sp>
        <p:nvSpPr>
          <p:cNvPr id="17" name="dotlabel-228"/>
          <p:cNvSpPr txBox="1"/>
          <p:nvPr/>
        </p:nvSpPr>
        <p:spPr>
          <a:xfrm>
            <a:off x="10652760" y="1417320"/>
            <a:ext cx="822960" cy="822960"/>
          </a:xfrm>
          <a:prstGeom prst="rect">
            <a:avLst/>
          </a:prstGeom>
          <a:noFill/>
          <a:ln/>
        </p:spPr>
        <p:txBody>
          <a:bodyPr wrap="square" lIns="0" tIns="0" rIns="0" bIns="0" rtlCol="0" anchor="ctr"/>
          <a:lstStyle/>
          <a:p>
            <a:pPr algn="ctr" indent="0" marL="0">
              <a:buNone/>
            </a:pPr>
            <a:r>
              <a:rPr lang="en-US" sz="2200" b="1" dirty="0">
                <a:solidFill>
                  <a:schemeClr val="bg1"/>
                </a:solidFill>
              </a:rPr>
              <a:t>D</a:t>
            </a:r>
            <a:endParaRPr lang="en-US" sz="2200" dirty="0"/>
          </a:p>
        </p:txBody>
      </p:sp>
      <p:sp>
        <p:nvSpPr>
          <p:cNvPr id="18" name="gate-t-229"/>
          <p:cNvSpPr txBox="1"/>
          <p:nvPr/>
        </p:nvSpPr>
        <p:spPr>
          <a:xfrm>
            <a:off x="10104120" y="2331720"/>
            <a:ext cx="1920240" cy="411480"/>
          </a:xfrm>
          <a:prstGeom prst="rect">
            <a:avLst/>
          </a:prstGeom>
          <a:noFill/>
          <a:ln/>
        </p:spPr>
        <p:txBody>
          <a:bodyPr wrap="square" lIns="0" tIns="0" rIns="0" bIns="0" rtlCol="0" anchor="ctr"/>
          <a:lstStyle/>
          <a:p>
            <a:pPr algn="ctr" indent="0" marL="0">
              <a:buNone/>
            </a:pPr>
            <a:r>
              <a:rPr lang="en-US" sz="1600" b="1" dirty="0">
                <a:solidFill>
                  <a:schemeClr val="tx1"/>
                </a:solidFill>
              </a:rPr>
              <a:t>Final test + report</a:t>
            </a:r>
            <a:endParaRPr lang="en-US" sz="1600" dirty="0"/>
          </a:p>
        </p:txBody>
      </p:sp>
      <p:sp>
        <p:nvSpPr>
          <p:cNvPr id="19" name="gate-s-230"/>
          <p:cNvSpPr txBox="1"/>
          <p:nvPr/>
        </p:nvSpPr>
        <p:spPr>
          <a:xfrm>
            <a:off x="10104120" y="2743200"/>
            <a:ext cx="1920240" cy="365760"/>
          </a:xfrm>
          <a:prstGeom prst="rect">
            <a:avLst/>
          </a:prstGeom>
          <a:noFill/>
          <a:ln/>
        </p:spPr>
        <p:txBody>
          <a:bodyPr wrap="square" lIns="0" tIns="0" rIns="0" bIns="0" rtlCol="0" anchor="ctr"/>
          <a:lstStyle/>
          <a:p>
            <a:pPr algn="ctr" indent="0" marL="0">
              <a:buNone/>
            </a:pPr>
            <a:r>
              <a:rPr lang="en-US" sz="1400" dirty="0">
                <a:solidFill>
                  <a:schemeClr val="tx2"/>
                </a:solidFill>
              </a:rPr>
              <a:t>passed</a:t>
            </a:r>
            <a:endParaRPr lang="en-US" sz="1400" dirty="0"/>
          </a:p>
        </p:txBody>
      </p:sp>
      <p:sp>
        <p:nvSpPr>
          <p:cNvPr id="20" name="card-231"/>
          <p:cNvSpPr/>
          <p:nvPr/>
        </p:nvSpPr>
        <p:spPr>
          <a:xfrm>
            <a:off x="548640" y="3429000"/>
            <a:ext cx="3566160" cy="2651760"/>
          </a:xfrm>
          <a:prstGeom prst="roundRect">
            <a:avLst>
              <a:gd name="adj" fmla="val 2759"/>
            </a:avLst>
          </a:prstGeom>
          <a:solidFill>
            <a:schemeClr val="bg2"/>
          </a:solidFill>
          <a:ln w="12700">
            <a:solidFill>
              <a:schemeClr val="bg2"/>
            </a:solidFill>
            <a:prstDash val="solid"/>
          </a:ln>
        </p:spPr>
      </p:sp>
      <p:sp>
        <p:nvSpPr>
          <p:cNvPr id="21" name="dot-232"/>
          <p:cNvSpPr/>
          <p:nvPr/>
        </p:nvSpPr>
        <p:spPr>
          <a:xfrm>
            <a:off x="731520" y="3630168"/>
            <a:ext cx="237744" cy="237744"/>
          </a:xfrm>
          <a:prstGeom prst="ellipse">
            <a:avLst/>
          </a:prstGeom>
          <a:solidFill>
            <a:schemeClr val="accent2"/>
          </a:solidFill>
          <a:ln w="25400">
            <a:solidFill>
              <a:schemeClr val="bg1"/>
            </a:solidFill>
            <a:prstDash val="solid"/>
          </a:ln>
        </p:spPr>
      </p:sp>
      <p:sp>
        <p:nvSpPr>
          <p:cNvPr id="22" name="cardtitle-233"/>
          <p:cNvSpPr txBox="1"/>
          <p:nvPr/>
        </p:nvSpPr>
        <p:spPr>
          <a:xfrm>
            <a:off x="1060704" y="353872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Same data, same metric</a:t>
            </a:r>
            <a:endParaRPr lang="en-US" sz="1600" dirty="0"/>
          </a:p>
        </p:txBody>
      </p:sp>
      <p:sp>
        <p:nvSpPr>
          <p:cNvPr id="23" name="cardbody-234"/>
          <p:cNvSpPr txBox="1"/>
          <p:nvPr/>
        </p:nvSpPr>
        <p:spPr>
          <a:xfrm>
            <a:off x="731520" y="3995928"/>
            <a:ext cx="3200400" cy="1975104"/>
          </a:xfrm>
          <a:prstGeom prst="rect">
            <a:avLst/>
          </a:prstGeom>
          <a:noFill/>
          <a:ln/>
        </p:spPr>
        <p:txBody>
          <a:bodyPr wrap="square" lIns="0" tIns="0" rIns="0" bIns="0" rtlCol="0" anchor="t"/>
          <a:lstStyle/>
          <a:p>
            <a:pPr indent="0" marL="0">
              <a:buNone/>
            </a:pPr>
            <a:r>
              <a:rPr lang="en-US" sz="1600" dirty="0">
                <a:solidFill>
                  <a:schemeClr val="tx1"/>
                </a:solidFill>
              </a:rPr>
              <a:t>Paper's exact date splits and its MAE / RMSE / MAPE code. PVCGN re-implemented and checked equal to the authors' code.</a:t>
            </a:r>
            <a:endParaRPr lang="en-US" sz="1600" dirty="0"/>
          </a:p>
        </p:txBody>
      </p:sp>
      <p:sp>
        <p:nvSpPr>
          <p:cNvPr id="24" name="card-235"/>
          <p:cNvSpPr/>
          <p:nvPr/>
        </p:nvSpPr>
        <p:spPr>
          <a:xfrm>
            <a:off x="4315968" y="3429000"/>
            <a:ext cx="3566160" cy="2651760"/>
          </a:xfrm>
          <a:prstGeom prst="roundRect">
            <a:avLst>
              <a:gd name="adj" fmla="val 2759"/>
            </a:avLst>
          </a:prstGeom>
          <a:solidFill>
            <a:schemeClr val="bg2"/>
          </a:solidFill>
          <a:ln w="12700">
            <a:solidFill>
              <a:schemeClr val="bg2"/>
            </a:solidFill>
            <a:prstDash val="solid"/>
          </a:ln>
        </p:spPr>
      </p:sp>
      <p:sp>
        <p:nvSpPr>
          <p:cNvPr id="25" name="dot-236"/>
          <p:cNvSpPr/>
          <p:nvPr/>
        </p:nvSpPr>
        <p:spPr>
          <a:xfrm>
            <a:off x="4498848" y="3630168"/>
            <a:ext cx="237744" cy="237744"/>
          </a:xfrm>
          <a:prstGeom prst="ellipse">
            <a:avLst/>
          </a:prstGeom>
          <a:solidFill>
            <a:schemeClr val="accent1"/>
          </a:solidFill>
          <a:ln w="25400">
            <a:solidFill>
              <a:schemeClr val="bg1"/>
            </a:solidFill>
            <a:prstDash val="solid"/>
          </a:ln>
        </p:spPr>
      </p:sp>
      <p:sp>
        <p:nvSpPr>
          <p:cNvPr id="26" name="cardtitle-237"/>
          <p:cNvSpPr txBox="1"/>
          <p:nvPr/>
        </p:nvSpPr>
        <p:spPr>
          <a:xfrm>
            <a:off x="4828032" y="353872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Strong baselines</a:t>
            </a:r>
            <a:endParaRPr lang="en-US" sz="1600" dirty="0"/>
          </a:p>
        </p:txBody>
      </p:sp>
      <p:sp>
        <p:nvSpPr>
          <p:cNvPr id="27" name="cardbody-238"/>
          <p:cNvSpPr txBox="1"/>
          <p:nvPr/>
        </p:nvSpPr>
        <p:spPr>
          <a:xfrm>
            <a:off x="4498848" y="3995928"/>
            <a:ext cx="3200400" cy="1975104"/>
          </a:xfrm>
          <a:prstGeom prst="rect">
            <a:avLst/>
          </a:prstGeom>
          <a:noFill/>
          <a:ln/>
        </p:spPr>
        <p:txBody>
          <a:bodyPr wrap="square" lIns="0" tIns="0" rIns="0" bIns="0" rtlCol="0" anchor="t"/>
          <a:lstStyle/>
          <a:p>
            <a:pPr indent="0" marL="0">
              <a:buNone/>
            </a:pPr>
            <a:r>
              <a:rPr lang="en-US" sz="1600" dirty="0">
                <a:solidFill>
                  <a:schemeClr val="tx1"/>
                </a:solidFill>
              </a:rPr>
              <a:t>Persistence, seasonal naive, historical average, ridge and gradient boosting with periodic features.</a:t>
            </a:r>
            <a:endParaRPr lang="en-US" sz="1600" dirty="0"/>
          </a:p>
        </p:txBody>
      </p:sp>
      <p:sp>
        <p:nvSpPr>
          <p:cNvPr id="28" name="card-239"/>
          <p:cNvSpPr/>
          <p:nvPr/>
        </p:nvSpPr>
        <p:spPr>
          <a:xfrm>
            <a:off x="8083296" y="3429000"/>
            <a:ext cx="3529584" cy="2651760"/>
          </a:xfrm>
          <a:prstGeom prst="roundRect">
            <a:avLst>
              <a:gd name="adj" fmla="val 2759"/>
            </a:avLst>
          </a:prstGeom>
          <a:solidFill>
            <a:schemeClr val="bg2"/>
          </a:solidFill>
          <a:ln w="12700">
            <a:solidFill>
              <a:schemeClr val="bg2"/>
            </a:solidFill>
            <a:prstDash val="solid"/>
          </a:ln>
        </p:spPr>
      </p:sp>
      <p:sp>
        <p:nvSpPr>
          <p:cNvPr id="29" name="dot-240"/>
          <p:cNvSpPr/>
          <p:nvPr/>
        </p:nvSpPr>
        <p:spPr>
          <a:xfrm>
            <a:off x="8266176" y="3630168"/>
            <a:ext cx="237744" cy="237744"/>
          </a:xfrm>
          <a:prstGeom prst="ellipse">
            <a:avLst/>
          </a:prstGeom>
          <a:solidFill>
            <a:schemeClr val="accent3"/>
          </a:solidFill>
          <a:ln w="25400">
            <a:solidFill>
              <a:schemeClr val="bg1"/>
            </a:solidFill>
            <a:prstDash val="solid"/>
          </a:ln>
        </p:spPr>
      </p:sp>
      <p:sp>
        <p:nvSpPr>
          <p:cNvPr id="30" name="cardtitle-241"/>
          <p:cNvSpPr txBox="1"/>
          <p:nvPr/>
        </p:nvSpPr>
        <p:spPr>
          <a:xfrm>
            <a:off x="8595360" y="3538728"/>
            <a:ext cx="2889504" cy="420624"/>
          </a:xfrm>
          <a:prstGeom prst="rect">
            <a:avLst/>
          </a:prstGeom>
          <a:noFill/>
          <a:ln/>
        </p:spPr>
        <p:txBody>
          <a:bodyPr wrap="square" lIns="0" tIns="0" rIns="0" bIns="0" rtlCol="0" anchor="ctr"/>
          <a:lstStyle/>
          <a:p>
            <a:pPr indent="0" marL="0">
              <a:buNone/>
            </a:pPr>
            <a:r>
              <a:rPr lang="en-US" sz="1600" b="1" dirty="0">
                <a:solidFill>
                  <a:schemeClr val="tx1"/>
                </a:solidFill>
              </a:rPr>
              <a:t>Test set used once</a:t>
            </a:r>
            <a:endParaRPr lang="en-US" sz="1600" dirty="0"/>
          </a:p>
        </p:txBody>
      </p:sp>
      <p:sp>
        <p:nvSpPr>
          <p:cNvPr id="31" name="cardbody-242"/>
          <p:cNvSpPr txBox="1"/>
          <p:nvPr/>
        </p:nvSpPr>
        <p:spPr>
          <a:xfrm>
            <a:off x="8266176" y="3995928"/>
            <a:ext cx="3163824" cy="1975104"/>
          </a:xfrm>
          <a:prstGeom prst="rect">
            <a:avLst/>
          </a:prstGeom>
          <a:noFill/>
          <a:ln/>
        </p:spPr>
        <p:txBody>
          <a:bodyPr wrap="square" lIns="0" tIns="0" rIns="0" bIns="0" rtlCol="0" anchor="t"/>
          <a:lstStyle/>
          <a:p>
            <a:pPr indent="0" marL="0">
              <a:buNone/>
            </a:pPr>
            <a:r>
              <a:rPr lang="en-US" sz="1600" dirty="0">
                <a:solidFill>
                  <a:schemeClr val="tx1"/>
                </a:solidFill>
              </a:rPr>
              <a:t>All choices made on validation. 2–3 seeds per model. Every result reported honestly, good or bad.</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2377440" y="2377440"/>
            <a:ext cx="9144000" cy="1097280"/>
          </a:xfrm>
          <a:prstGeom prst="rect">
            <a:avLst/>
          </a:prstGeom>
          <a:noFill/>
          <a:ln/>
        </p:spPr>
        <p:txBody>
          <a:bodyPr wrap="square"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Code walkthrough</a:t>
            </a:r>
            <a:endParaRPr lang="en-US" sz="4000" dirty="0"/>
          </a:p>
        </p:txBody>
      </p:sp>
      <p:sp>
        <p:nvSpPr>
          <p:cNvPr id="3" name="Text 0"/>
          <p:cNvSpPr/>
          <p:nvPr>
            <p:ph idx="101" type="body" hasCustomPrompt="1"/>
          </p:nvPr>
        </p:nvSpPr>
        <p:spPr>
          <a:xfrm>
            <a:off x="2377440" y="3474720"/>
            <a:ext cx="9144000" cy="914400"/>
          </a:xfrm>
          <a:prstGeom prst="rect">
            <a:avLst/>
          </a:prstGeom>
          <a:noFill/>
          <a:ln/>
        </p:spPr>
        <p:txBody>
          <a:bodyPr wrap="square" rtlCol="0" anchor="t"/>
          <a:lstStyle/>
          <a:p>
            <a:pPr algn="l" indent="0" marL="0">
              <a:buNone/>
            </a:pPr>
            <a:r>
              <a:rPr lang="en-US" sz="1800" dirty="0">
                <a:solidFill>
                  <a:schemeClr val="accent6"/>
                </a:solidFill>
              </a:rPr>
              <a:t>Every folder and file in Desktop/Minor, and why it exists</a:t>
            </a:r>
            <a:endParaRPr lang="en-US" sz="1800" dirty="0"/>
          </a:p>
        </p:txBody>
      </p:sp>
      <p:sp>
        <p:nvSpPr>
          <p:cNvPr id="4" name="dot-243"/>
          <p:cNvSpPr/>
          <p:nvPr/>
        </p:nvSpPr>
        <p:spPr>
          <a:xfrm>
            <a:off x="822960" y="2514600"/>
            <a:ext cx="1097280" cy="1097280"/>
          </a:xfrm>
          <a:prstGeom prst="ellipse">
            <a:avLst/>
          </a:prstGeom>
          <a:solidFill>
            <a:schemeClr val="accent1"/>
          </a:solidFill>
          <a:ln w="25400">
            <a:solidFill>
              <a:schemeClr val="bg1"/>
            </a:solidFill>
            <a:prstDash val="solid"/>
          </a:ln>
        </p:spPr>
      </p:sp>
      <p:sp>
        <p:nvSpPr>
          <p:cNvPr id="5" name="dotlabel-244"/>
          <p:cNvSpPr txBox="1"/>
          <p:nvPr/>
        </p:nvSpPr>
        <p:spPr>
          <a:xfrm>
            <a:off x="822960" y="2514600"/>
            <a:ext cx="1097280" cy="1097280"/>
          </a:xfrm>
          <a:prstGeom prst="rect">
            <a:avLst/>
          </a:prstGeom>
          <a:noFill/>
          <a:ln/>
        </p:spPr>
        <p:txBody>
          <a:bodyPr wrap="square" lIns="0" tIns="0" rIns="0" bIns="0" rtlCol="0" anchor="ctr"/>
          <a:lstStyle/>
          <a:p>
            <a:pPr algn="ctr" indent="0" marL="0">
              <a:buNone/>
            </a:pPr>
            <a:r>
              <a:rPr lang="en-US" sz="3200" b="1" dirty="0">
                <a:solidFill>
                  <a:schemeClr val="tx1"/>
                </a:solidFill>
              </a:rPr>
              <a:t>4</a:t>
            </a:r>
            <a:endParaRPr lang="en-US" sz="3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Tech stack</a:t>
            </a:r>
            <a:endParaRPr lang="en-US" sz="3200" dirty="0"/>
          </a:p>
        </p:txBody>
      </p:sp>
      <p:sp>
        <p:nvSpPr>
          <p:cNvPr id="3" name="card-245"/>
          <p:cNvSpPr/>
          <p:nvPr/>
        </p:nvSpPr>
        <p:spPr>
          <a:xfrm>
            <a:off x="548640" y="1325880"/>
            <a:ext cx="3566160" cy="1508760"/>
          </a:xfrm>
          <a:prstGeom prst="roundRect">
            <a:avLst>
              <a:gd name="adj" fmla="val 4848"/>
            </a:avLst>
          </a:prstGeom>
          <a:solidFill>
            <a:schemeClr val="bg2"/>
          </a:solidFill>
          <a:ln w="12700">
            <a:solidFill>
              <a:schemeClr val="bg2"/>
            </a:solidFill>
            <a:prstDash val="solid"/>
          </a:ln>
        </p:spPr>
      </p:sp>
      <p:sp>
        <p:nvSpPr>
          <p:cNvPr id="4" name="dot-246"/>
          <p:cNvSpPr/>
          <p:nvPr/>
        </p:nvSpPr>
        <p:spPr>
          <a:xfrm>
            <a:off x="731520" y="1527048"/>
            <a:ext cx="237744" cy="237744"/>
          </a:xfrm>
          <a:prstGeom prst="ellipse">
            <a:avLst/>
          </a:prstGeom>
          <a:solidFill>
            <a:schemeClr val="accent2"/>
          </a:solidFill>
          <a:ln w="25400">
            <a:solidFill>
              <a:schemeClr val="bg1"/>
            </a:solidFill>
            <a:prstDash val="solid"/>
          </a:ln>
        </p:spPr>
      </p:sp>
      <p:sp>
        <p:nvSpPr>
          <p:cNvPr id="5" name="cardtitle-247"/>
          <p:cNvSpPr txBox="1"/>
          <p:nvPr/>
        </p:nvSpPr>
        <p:spPr>
          <a:xfrm>
            <a:off x="1060704" y="143560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Python 3.14</a:t>
            </a:r>
            <a:endParaRPr lang="en-US" sz="1600" dirty="0"/>
          </a:p>
        </p:txBody>
      </p:sp>
      <p:sp>
        <p:nvSpPr>
          <p:cNvPr id="6" name="cardbody-248"/>
          <p:cNvSpPr txBox="1"/>
          <p:nvPr/>
        </p:nvSpPr>
        <p:spPr>
          <a:xfrm>
            <a:off x="731520" y="1892808"/>
            <a:ext cx="3200400" cy="832104"/>
          </a:xfrm>
          <a:prstGeom prst="rect">
            <a:avLst/>
          </a:prstGeom>
          <a:noFill/>
          <a:ln/>
        </p:spPr>
        <p:txBody>
          <a:bodyPr wrap="square" lIns="0" tIns="0" rIns="0" bIns="0" rtlCol="0" anchor="t"/>
          <a:lstStyle/>
          <a:p>
            <a:pPr indent="0" marL="0">
              <a:buNone/>
            </a:pPr>
            <a:r>
              <a:rPr lang="en-US" sz="1400" dirty="0">
                <a:solidFill>
                  <a:schemeClr val="tx1"/>
                </a:solidFill>
              </a:rPr>
              <a:t>The language for all data, model and analysis code.</a:t>
            </a:r>
            <a:endParaRPr lang="en-US" sz="1400" dirty="0"/>
          </a:p>
        </p:txBody>
      </p:sp>
      <p:sp>
        <p:nvSpPr>
          <p:cNvPr id="7" name="card-249"/>
          <p:cNvSpPr/>
          <p:nvPr/>
        </p:nvSpPr>
        <p:spPr>
          <a:xfrm>
            <a:off x="4297680" y="1325880"/>
            <a:ext cx="3566160" cy="1508760"/>
          </a:xfrm>
          <a:prstGeom prst="roundRect">
            <a:avLst>
              <a:gd name="adj" fmla="val 4848"/>
            </a:avLst>
          </a:prstGeom>
          <a:solidFill>
            <a:schemeClr val="bg2"/>
          </a:solidFill>
          <a:ln w="12700">
            <a:solidFill>
              <a:schemeClr val="bg2"/>
            </a:solidFill>
            <a:prstDash val="solid"/>
          </a:ln>
        </p:spPr>
      </p:sp>
      <p:sp>
        <p:nvSpPr>
          <p:cNvPr id="8" name="dot-250"/>
          <p:cNvSpPr/>
          <p:nvPr/>
        </p:nvSpPr>
        <p:spPr>
          <a:xfrm>
            <a:off x="4480560" y="1527048"/>
            <a:ext cx="237744" cy="237744"/>
          </a:xfrm>
          <a:prstGeom prst="ellipse">
            <a:avLst/>
          </a:prstGeom>
          <a:solidFill>
            <a:schemeClr val="accent2"/>
          </a:solidFill>
          <a:ln w="25400">
            <a:solidFill>
              <a:schemeClr val="bg1"/>
            </a:solidFill>
            <a:prstDash val="solid"/>
          </a:ln>
        </p:spPr>
      </p:sp>
      <p:sp>
        <p:nvSpPr>
          <p:cNvPr id="9" name="cardtitle-251"/>
          <p:cNvSpPr txBox="1"/>
          <p:nvPr/>
        </p:nvSpPr>
        <p:spPr>
          <a:xfrm>
            <a:off x="4809744" y="143560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PyTorch 2.14 + Apple MPS</a:t>
            </a:r>
            <a:endParaRPr lang="en-US" sz="1600" dirty="0"/>
          </a:p>
        </p:txBody>
      </p:sp>
      <p:sp>
        <p:nvSpPr>
          <p:cNvPr id="10" name="cardbody-252"/>
          <p:cNvSpPr txBox="1"/>
          <p:nvPr/>
        </p:nvSpPr>
        <p:spPr>
          <a:xfrm>
            <a:off x="4480560" y="1892808"/>
            <a:ext cx="3200400" cy="832104"/>
          </a:xfrm>
          <a:prstGeom prst="rect">
            <a:avLst/>
          </a:prstGeom>
          <a:noFill/>
          <a:ln/>
        </p:spPr>
        <p:txBody>
          <a:bodyPr wrap="square" lIns="0" tIns="0" rIns="0" bIns="0" rtlCol="0" anchor="t"/>
          <a:lstStyle/>
          <a:p>
            <a:pPr indent="0" marL="0">
              <a:buNone/>
            </a:pPr>
            <a:r>
              <a:rPr lang="en-US" sz="1400" dirty="0">
                <a:solidFill>
                  <a:schemeClr val="tx1"/>
                </a:solidFill>
              </a:rPr>
              <a:t>Builds and trains the neural networks on the Mac's built-in GPU.</a:t>
            </a:r>
            <a:endParaRPr lang="en-US" sz="1400" dirty="0"/>
          </a:p>
        </p:txBody>
      </p:sp>
      <p:sp>
        <p:nvSpPr>
          <p:cNvPr id="11" name="card-253"/>
          <p:cNvSpPr/>
          <p:nvPr/>
        </p:nvSpPr>
        <p:spPr>
          <a:xfrm>
            <a:off x="8046720" y="1325880"/>
            <a:ext cx="3566160" cy="1508760"/>
          </a:xfrm>
          <a:prstGeom prst="roundRect">
            <a:avLst>
              <a:gd name="adj" fmla="val 4848"/>
            </a:avLst>
          </a:prstGeom>
          <a:solidFill>
            <a:schemeClr val="bg2"/>
          </a:solidFill>
          <a:ln w="12700">
            <a:solidFill>
              <a:schemeClr val="bg2"/>
            </a:solidFill>
            <a:prstDash val="solid"/>
          </a:ln>
        </p:spPr>
      </p:sp>
      <p:sp>
        <p:nvSpPr>
          <p:cNvPr id="12" name="dot-254"/>
          <p:cNvSpPr/>
          <p:nvPr/>
        </p:nvSpPr>
        <p:spPr>
          <a:xfrm>
            <a:off x="8229600" y="1527048"/>
            <a:ext cx="237744" cy="237744"/>
          </a:xfrm>
          <a:prstGeom prst="ellipse">
            <a:avLst/>
          </a:prstGeom>
          <a:solidFill>
            <a:schemeClr val="accent1"/>
          </a:solidFill>
          <a:ln w="25400">
            <a:solidFill>
              <a:schemeClr val="bg1"/>
            </a:solidFill>
            <a:prstDash val="solid"/>
          </a:ln>
        </p:spPr>
      </p:sp>
      <p:sp>
        <p:nvSpPr>
          <p:cNvPr id="13" name="cardtitle-255"/>
          <p:cNvSpPr txBox="1"/>
          <p:nvPr/>
        </p:nvSpPr>
        <p:spPr>
          <a:xfrm>
            <a:off x="8558784" y="143560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NumPy 2.5 · pandas 3.1</a:t>
            </a:r>
            <a:endParaRPr lang="en-US" sz="1600" dirty="0"/>
          </a:p>
        </p:txBody>
      </p:sp>
      <p:sp>
        <p:nvSpPr>
          <p:cNvPr id="14" name="cardbody-256"/>
          <p:cNvSpPr txBox="1"/>
          <p:nvPr/>
        </p:nvSpPr>
        <p:spPr>
          <a:xfrm>
            <a:off x="8229600" y="1892808"/>
            <a:ext cx="3200400" cy="832104"/>
          </a:xfrm>
          <a:prstGeom prst="rect">
            <a:avLst/>
          </a:prstGeom>
          <a:noFill/>
          <a:ln/>
        </p:spPr>
        <p:txBody>
          <a:bodyPr wrap="square" lIns="0" tIns="0" rIns="0" bIns="0" rtlCol="0" anchor="t"/>
          <a:lstStyle/>
          <a:p>
            <a:pPr indent="0" marL="0">
              <a:buNone/>
            </a:pPr>
            <a:r>
              <a:rPr lang="en-US" sz="1400" dirty="0">
                <a:solidFill>
                  <a:schemeClr val="tx1"/>
                </a:solidFill>
              </a:rPr>
              <a:t>Arrays and tables: loading data, building features, computing metrics.</a:t>
            </a:r>
            <a:endParaRPr lang="en-US" sz="1400" dirty="0"/>
          </a:p>
        </p:txBody>
      </p:sp>
      <p:sp>
        <p:nvSpPr>
          <p:cNvPr id="15" name="card-257"/>
          <p:cNvSpPr/>
          <p:nvPr/>
        </p:nvSpPr>
        <p:spPr>
          <a:xfrm>
            <a:off x="548640" y="2971800"/>
            <a:ext cx="3566160" cy="1508760"/>
          </a:xfrm>
          <a:prstGeom prst="roundRect">
            <a:avLst>
              <a:gd name="adj" fmla="val 4848"/>
            </a:avLst>
          </a:prstGeom>
          <a:solidFill>
            <a:schemeClr val="bg2"/>
          </a:solidFill>
          <a:ln w="12700">
            <a:solidFill>
              <a:schemeClr val="bg2"/>
            </a:solidFill>
            <a:prstDash val="solid"/>
          </a:ln>
        </p:spPr>
      </p:sp>
      <p:sp>
        <p:nvSpPr>
          <p:cNvPr id="16" name="dot-258"/>
          <p:cNvSpPr/>
          <p:nvPr/>
        </p:nvSpPr>
        <p:spPr>
          <a:xfrm>
            <a:off x="731520" y="3172968"/>
            <a:ext cx="237744" cy="237744"/>
          </a:xfrm>
          <a:prstGeom prst="ellipse">
            <a:avLst/>
          </a:prstGeom>
          <a:solidFill>
            <a:schemeClr val="accent1"/>
          </a:solidFill>
          <a:ln w="25400">
            <a:solidFill>
              <a:schemeClr val="bg1"/>
            </a:solidFill>
            <a:prstDash val="solid"/>
          </a:ln>
        </p:spPr>
      </p:sp>
      <p:sp>
        <p:nvSpPr>
          <p:cNvPr id="17" name="cardtitle-259"/>
          <p:cNvSpPr txBox="1"/>
          <p:nvPr/>
        </p:nvSpPr>
        <p:spPr>
          <a:xfrm>
            <a:off x="1060704" y="308152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scikit-learn 1.9</a:t>
            </a:r>
            <a:endParaRPr lang="en-US" sz="1600" dirty="0"/>
          </a:p>
        </p:txBody>
      </p:sp>
      <p:sp>
        <p:nvSpPr>
          <p:cNvPr id="18" name="cardbody-260"/>
          <p:cNvSpPr txBox="1"/>
          <p:nvPr/>
        </p:nvSpPr>
        <p:spPr>
          <a:xfrm>
            <a:off x="731520" y="3538728"/>
            <a:ext cx="3200400" cy="832104"/>
          </a:xfrm>
          <a:prstGeom prst="rect">
            <a:avLst/>
          </a:prstGeom>
          <a:noFill/>
          <a:ln/>
        </p:spPr>
        <p:txBody>
          <a:bodyPr wrap="square" lIns="0" tIns="0" rIns="0" bIns="0" rtlCol="0" anchor="t"/>
          <a:lstStyle/>
          <a:p>
            <a:pPr indent="0" marL="0">
              <a:buNone/>
            </a:pPr>
            <a:r>
              <a:rPr lang="en-US" sz="1400" dirty="0">
                <a:solidFill>
                  <a:schemeClr val="tx1"/>
                </a:solidFill>
              </a:rPr>
              <a:t>Ridge regression and gradient-boosting baselines.</a:t>
            </a:r>
            <a:endParaRPr lang="en-US" sz="1400" dirty="0"/>
          </a:p>
        </p:txBody>
      </p:sp>
      <p:sp>
        <p:nvSpPr>
          <p:cNvPr id="19" name="card-261"/>
          <p:cNvSpPr/>
          <p:nvPr/>
        </p:nvSpPr>
        <p:spPr>
          <a:xfrm>
            <a:off x="4297680" y="2971800"/>
            <a:ext cx="3566160" cy="1508760"/>
          </a:xfrm>
          <a:prstGeom prst="roundRect">
            <a:avLst>
              <a:gd name="adj" fmla="val 4848"/>
            </a:avLst>
          </a:prstGeom>
          <a:solidFill>
            <a:schemeClr val="bg2"/>
          </a:solidFill>
          <a:ln w="12700">
            <a:solidFill>
              <a:schemeClr val="bg2"/>
            </a:solidFill>
            <a:prstDash val="solid"/>
          </a:ln>
        </p:spPr>
      </p:sp>
      <p:sp>
        <p:nvSpPr>
          <p:cNvPr id="20" name="dot-262"/>
          <p:cNvSpPr/>
          <p:nvPr/>
        </p:nvSpPr>
        <p:spPr>
          <a:xfrm>
            <a:off x="4480560" y="3172968"/>
            <a:ext cx="237744" cy="237744"/>
          </a:xfrm>
          <a:prstGeom prst="ellipse">
            <a:avLst/>
          </a:prstGeom>
          <a:solidFill>
            <a:schemeClr val="accent1"/>
          </a:solidFill>
          <a:ln w="25400">
            <a:solidFill>
              <a:schemeClr val="bg1"/>
            </a:solidFill>
            <a:prstDash val="solid"/>
          </a:ln>
        </p:spPr>
      </p:sp>
      <p:sp>
        <p:nvSpPr>
          <p:cNvPr id="21" name="cardtitle-263"/>
          <p:cNvSpPr txBox="1"/>
          <p:nvPr/>
        </p:nvSpPr>
        <p:spPr>
          <a:xfrm>
            <a:off x="4809744" y="308152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matplotlib 3.11</a:t>
            </a:r>
            <a:endParaRPr lang="en-US" sz="1600" dirty="0"/>
          </a:p>
        </p:txBody>
      </p:sp>
      <p:sp>
        <p:nvSpPr>
          <p:cNvPr id="22" name="cardbody-264"/>
          <p:cNvSpPr txBox="1"/>
          <p:nvPr/>
        </p:nvSpPr>
        <p:spPr>
          <a:xfrm>
            <a:off x="4480560" y="3538728"/>
            <a:ext cx="3200400" cy="832104"/>
          </a:xfrm>
          <a:prstGeom prst="rect">
            <a:avLst/>
          </a:prstGeom>
          <a:noFill/>
          <a:ln/>
        </p:spPr>
        <p:txBody>
          <a:bodyPr wrap="square" lIns="0" tIns="0" rIns="0" bIns="0" rtlCol="0" anchor="t"/>
          <a:lstStyle/>
          <a:p>
            <a:pPr indent="0" marL="0">
              <a:buNone/>
            </a:pPr>
            <a:r>
              <a:rPr lang="en-US" sz="1400" dirty="0">
                <a:solidFill>
                  <a:schemeClr val="tx1"/>
                </a:solidFill>
              </a:rPr>
              <a:t>Every analysis and results figure.</a:t>
            </a:r>
            <a:endParaRPr lang="en-US" sz="1400" dirty="0"/>
          </a:p>
        </p:txBody>
      </p:sp>
      <p:sp>
        <p:nvSpPr>
          <p:cNvPr id="23" name="card-265"/>
          <p:cNvSpPr/>
          <p:nvPr/>
        </p:nvSpPr>
        <p:spPr>
          <a:xfrm>
            <a:off x="8046720" y="2971800"/>
            <a:ext cx="3566160" cy="1508760"/>
          </a:xfrm>
          <a:prstGeom prst="roundRect">
            <a:avLst>
              <a:gd name="adj" fmla="val 4848"/>
            </a:avLst>
          </a:prstGeom>
          <a:solidFill>
            <a:schemeClr val="bg2"/>
          </a:solidFill>
          <a:ln w="12700">
            <a:solidFill>
              <a:schemeClr val="bg2"/>
            </a:solidFill>
            <a:prstDash val="solid"/>
          </a:ln>
        </p:spPr>
      </p:sp>
      <p:sp>
        <p:nvSpPr>
          <p:cNvPr id="24" name="dot-266"/>
          <p:cNvSpPr/>
          <p:nvPr/>
        </p:nvSpPr>
        <p:spPr>
          <a:xfrm>
            <a:off x="8229600" y="3172968"/>
            <a:ext cx="237744" cy="237744"/>
          </a:xfrm>
          <a:prstGeom prst="ellipse">
            <a:avLst/>
          </a:prstGeom>
          <a:solidFill>
            <a:schemeClr val="accent1"/>
          </a:solidFill>
          <a:ln w="25400">
            <a:solidFill>
              <a:schemeClr val="bg1"/>
            </a:solidFill>
            <a:prstDash val="solid"/>
          </a:ln>
        </p:spPr>
      </p:sp>
      <p:sp>
        <p:nvSpPr>
          <p:cNvPr id="25" name="cardtitle-267"/>
          <p:cNvSpPr txBox="1"/>
          <p:nvPr/>
        </p:nvSpPr>
        <p:spPr>
          <a:xfrm>
            <a:off x="8558784" y="308152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marimo 0.25</a:t>
            </a:r>
            <a:endParaRPr lang="en-US" sz="1600" dirty="0"/>
          </a:p>
        </p:txBody>
      </p:sp>
      <p:sp>
        <p:nvSpPr>
          <p:cNvPr id="26" name="cardbody-268"/>
          <p:cNvSpPr txBox="1"/>
          <p:nvPr/>
        </p:nvSpPr>
        <p:spPr>
          <a:xfrm>
            <a:off x="8229600" y="3538728"/>
            <a:ext cx="3200400" cy="832104"/>
          </a:xfrm>
          <a:prstGeom prst="rect">
            <a:avLst/>
          </a:prstGeom>
          <a:noFill/>
          <a:ln/>
        </p:spPr>
        <p:txBody>
          <a:bodyPr wrap="square" lIns="0" tIns="0" rIns="0" bIns="0" rtlCol="0" anchor="t"/>
          <a:lstStyle/>
          <a:p>
            <a:pPr indent="0" marL="0">
              <a:buNone/>
            </a:pPr>
            <a:r>
              <a:rPr lang="en-US" sz="1400" dirty="0">
                <a:solidFill>
                  <a:schemeClr val="tx1"/>
                </a:solidFill>
              </a:rPr>
              <a:t>Notebooks (01_eda, 02_prep, 03_model) that also run as plain scripts.</a:t>
            </a:r>
            <a:endParaRPr lang="en-US" sz="1400" dirty="0"/>
          </a:p>
        </p:txBody>
      </p:sp>
      <p:sp>
        <p:nvSpPr>
          <p:cNvPr id="27" name="card-269"/>
          <p:cNvSpPr/>
          <p:nvPr/>
        </p:nvSpPr>
        <p:spPr>
          <a:xfrm>
            <a:off x="548640" y="4617720"/>
            <a:ext cx="3566160" cy="1508760"/>
          </a:xfrm>
          <a:prstGeom prst="roundRect">
            <a:avLst>
              <a:gd name="adj" fmla="val 4848"/>
            </a:avLst>
          </a:prstGeom>
          <a:solidFill>
            <a:schemeClr val="bg2"/>
          </a:solidFill>
          <a:ln w="12700">
            <a:solidFill>
              <a:schemeClr val="bg2"/>
            </a:solidFill>
            <a:prstDash val="solid"/>
          </a:ln>
        </p:spPr>
      </p:sp>
      <p:sp>
        <p:nvSpPr>
          <p:cNvPr id="28" name="dot-270"/>
          <p:cNvSpPr/>
          <p:nvPr/>
        </p:nvSpPr>
        <p:spPr>
          <a:xfrm>
            <a:off x="731520" y="4818888"/>
            <a:ext cx="237744" cy="237744"/>
          </a:xfrm>
          <a:prstGeom prst="ellipse">
            <a:avLst/>
          </a:prstGeom>
          <a:solidFill>
            <a:schemeClr val="accent1"/>
          </a:solidFill>
          <a:ln w="25400">
            <a:solidFill>
              <a:schemeClr val="bg1"/>
            </a:solidFill>
            <a:prstDash val="solid"/>
          </a:ln>
        </p:spPr>
      </p:sp>
      <p:sp>
        <p:nvSpPr>
          <p:cNvPr id="29" name="cardtitle-271"/>
          <p:cNvSpPr txBox="1"/>
          <p:nvPr/>
        </p:nvSpPr>
        <p:spPr>
          <a:xfrm>
            <a:off x="1060704" y="472744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torch_geometric 2.8</a:t>
            </a:r>
            <a:endParaRPr lang="en-US" sz="1600" dirty="0"/>
          </a:p>
        </p:txBody>
      </p:sp>
      <p:sp>
        <p:nvSpPr>
          <p:cNvPr id="30" name="cardbody-272"/>
          <p:cNvSpPr txBox="1"/>
          <p:nvPr/>
        </p:nvSpPr>
        <p:spPr>
          <a:xfrm>
            <a:off x="731520" y="5184648"/>
            <a:ext cx="3200400" cy="832104"/>
          </a:xfrm>
          <a:prstGeom prst="rect">
            <a:avLst/>
          </a:prstGeom>
          <a:noFill/>
          <a:ln/>
        </p:spPr>
        <p:txBody>
          <a:bodyPr wrap="square" lIns="0" tIns="0" rIns="0" bIns="0" rtlCol="0" anchor="t"/>
          <a:lstStyle/>
          <a:p>
            <a:pPr indent="0" marL="0">
              <a:buNone/>
            </a:pPr>
            <a:r>
              <a:rPr lang="en-US" sz="1400" dirty="0">
                <a:solidFill>
                  <a:schemeClr val="tx1"/>
                </a:solidFill>
              </a:rPr>
              <a:t>Only to run the authors' original code in the equivalence test.</a:t>
            </a:r>
            <a:endParaRPr lang="en-US" sz="1400" dirty="0"/>
          </a:p>
        </p:txBody>
      </p:sp>
      <p:sp>
        <p:nvSpPr>
          <p:cNvPr id="31" name="card-273"/>
          <p:cNvSpPr/>
          <p:nvPr/>
        </p:nvSpPr>
        <p:spPr>
          <a:xfrm>
            <a:off x="4297680" y="4617720"/>
            <a:ext cx="3566160" cy="1508760"/>
          </a:xfrm>
          <a:prstGeom prst="roundRect">
            <a:avLst>
              <a:gd name="adj" fmla="val 4848"/>
            </a:avLst>
          </a:prstGeom>
          <a:solidFill>
            <a:schemeClr val="bg2"/>
          </a:solidFill>
          <a:ln w="12700">
            <a:solidFill>
              <a:schemeClr val="bg2"/>
            </a:solidFill>
            <a:prstDash val="solid"/>
          </a:ln>
        </p:spPr>
      </p:sp>
      <p:sp>
        <p:nvSpPr>
          <p:cNvPr id="32" name="dot-274"/>
          <p:cNvSpPr/>
          <p:nvPr/>
        </p:nvSpPr>
        <p:spPr>
          <a:xfrm>
            <a:off x="4480560" y="4818888"/>
            <a:ext cx="237744" cy="237744"/>
          </a:xfrm>
          <a:prstGeom prst="ellipse">
            <a:avLst/>
          </a:prstGeom>
          <a:solidFill>
            <a:schemeClr val="accent1"/>
          </a:solidFill>
          <a:ln w="25400">
            <a:solidFill>
              <a:schemeClr val="bg1"/>
            </a:solidFill>
            <a:prstDash val="solid"/>
          </a:ln>
        </p:spPr>
      </p:sp>
      <p:sp>
        <p:nvSpPr>
          <p:cNvPr id="33" name="cardtitle-275"/>
          <p:cNvSpPr txBox="1"/>
          <p:nvPr/>
        </p:nvSpPr>
        <p:spPr>
          <a:xfrm>
            <a:off x="4809744" y="472744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git</a:t>
            </a:r>
            <a:endParaRPr lang="en-US" sz="1600" dirty="0"/>
          </a:p>
        </p:txBody>
      </p:sp>
      <p:sp>
        <p:nvSpPr>
          <p:cNvPr id="34" name="cardbody-276"/>
          <p:cNvSpPr txBox="1"/>
          <p:nvPr/>
        </p:nvSpPr>
        <p:spPr>
          <a:xfrm>
            <a:off x="4480560" y="5184648"/>
            <a:ext cx="3200400" cy="832104"/>
          </a:xfrm>
          <a:prstGeom prst="rect">
            <a:avLst/>
          </a:prstGeom>
          <a:noFill/>
          <a:ln/>
        </p:spPr>
        <p:txBody>
          <a:bodyPr wrap="square" lIns="0" tIns="0" rIns="0" bIns="0" rtlCol="0" anchor="t"/>
          <a:lstStyle/>
          <a:p>
            <a:pPr indent="0" marL="0">
              <a:buNone/>
            </a:pPr>
            <a:r>
              <a:rPr lang="en-US" sz="1400" dirty="0">
                <a:solidFill>
                  <a:schemeClr val="tx1"/>
                </a:solidFill>
              </a:rPr>
              <a:t>Version history, with a checkpoint at every review gate.</a:t>
            </a:r>
            <a:endParaRPr lang="en-US" sz="1400" dirty="0"/>
          </a:p>
        </p:txBody>
      </p:sp>
      <p:sp>
        <p:nvSpPr>
          <p:cNvPr id="35" name="card-277"/>
          <p:cNvSpPr/>
          <p:nvPr/>
        </p:nvSpPr>
        <p:spPr>
          <a:xfrm>
            <a:off x="8046720" y="4617720"/>
            <a:ext cx="3566160" cy="1508760"/>
          </a:xfrm>
          <a:prstGeom prst="roundRect">
            <a:avLst>
              <a:gd name="adj" fmla="val 4848"/>
            </a:avLst>
          </a:prstGeom>
          <a:solidFill>
            <a:schemeClr val="bg2"/>
          </a:solidFill>
          <a:ln w="12700">
            <a:solidFill>
              <a:schemeClr val="bg2"/>
            </a:solidFill>
            <a:prstDash val="solid"/>
          </a:ln>
        </p:spPr>
      </p:sp>
      <p:sp>
        <p:nvSpPr>
          <p:cNvPr id="36" name="dot-278"/>
          <p:cNvSpPr/>
          <p:nvPr/>
        </p:nvSpPr>
        <p:spPr>
          <a:xfrm>
            <a:off x="8229600" y="4818888"/>
            <a:ext cx="237744" cy="237744"/>
          </a:xfrm>
          <a:prstGeom prst="ellipse">
            <a:avLst/>
          </a:prstGeom>
          <a:solidFill>
            <a:schemeClr val="accent1"/>
          </a:solidFill>
          <a:ln w="25400">
            <a:solidFill>
              <a:schemeClr val="bg1"/>
            </a:solidFill>
            <a:prstDash val="solid"/>
          </a:ln>
        </p:spPr>
      </p:sp>
      <p:sp>
        <p:nvSpPr>
          <p:cNvPr id="37" name="cardtitle-279"/>
          <p:cNvSpPr txBox="1"/>
          <p:nvPr/>
        </p:nvSpPr>
        <p:spPr>
          <a:xfrm>
            <a:off x="8558784" y="472744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LaTeX · Node + pptxgenjs</a:t>
            </a:r>
            <a:endParaRPr lang="en-US" sz="1600" dirty="0"/>
          </a:p>
        </p:txBody>
      </p:sp>
      <p:sp>
        <p:nvSpPr>
          <p:cNvPr id="38" name="cardbody-280"/>
          <p:cNvSpPr txBox="1"/>
          <p:nvPr/>
        </p:nvSpPr>
        <p:spPr>
          <a:xfrm>
            <a:off x="8229600" y="5184648"/>
            <a:ext cx="3200400" cy="832104"/>
          </a:xfrm>
          <a:prstGeom prst="rect">
            <a:avLst/>
          </a:prstGeom>
          <a:noFill/>
          <a:ln/>
        </p:spPr>
        <p:txBody>
          <a:bodyPr wrap="square" lIns="0" tIns="0" rIns="0" bIns="0" rtlCol="0" anchor="t"/>
          <a:lstStyle/>
          <a:p>
            <a:pPr indent="0" marL="0">
              <a:buNone/>
            </a:pPr>
            <a:r>
              <a:rPr lang="en-US" sz="1400" dirty="0">
                <a:solidFill>
                  <a:schemeClr val="tx1"/>
                </a:solidFill>
              </a:rPr>
              <a:t>The paper (IEEE template) and this presentation.</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Project folder map: Desktop/Minor</a:t>
            </a:r>
            <a:endParaRPr lang="en-US" sz="3200" dirty="0"/>
          </a:p>
        </p:txBody>
      </p:sp>
      <p:sp>
        <p:nvSpPr>
          <p:cNvPr id="3" name="card-281"/>
          <p:cNvSpPr/>
          <p:nvPr/>
        </p:nvSpPr>
        <p:spPr>
          <a:xfrm>
            <a:off x="548640" y="1371600"/>
            <a:ext cx="3566160" cy="2057400"/>
          </a:xfrm>
          <a:prstGeom prst="roundRect">
            <a:avLst>
              <a:gd name="adj" fmla="val 3556"/>
            </a:avLst>
          </a:prstGeom>
          <a:solidFill>
            <a:schemeClr val="bg2"/>
          </a:solidFill>
          <a:ln w="12700">
            <a:solidFill>
              <a:schemeClr val="bg2"/>
            </a:solidFill>
            <a:prstDash val="solid"/>
          </a:ln>
        </p:spPr>
      </p:sp>
      <p:sp>
        <p:nvSpPr>
          <p:cNvPr id="4" name="dot-282"/>
          <p:cNvSpPr/>
          <p:nvPr/>
        </p:nvSpPr>
        <p:spPr>
          <a:xfrm>
            <a:off x="731520" y="1572768"/>
            <a:ext cx="237744" cy="237744"/>
          </a:xfrm>
          <a:prstGeom prst="ellipse">
            <a:avLst/>
          </a:prstGeom>
          <a:solidFill>
            <a:schemeClr val="accent2"/>
          </a:solidFill>
          <a:ln w="25400">
            <a:solidFill>
              <a:schemeClr val="bg1"/>
            </a:solidFill>
            <a:prstDash val="solid"/>
          </a:ln>
        </p:spPr>
      </p:sp>
      <p:sp>
        <p:nvSpPr>
          <p:cNvPr id="5" name="cardtitle-283"/>
          <p:cNvSpPr txBox="1"/>
          <p:nvPr/>
        </p:nvSpPr>
        <p:spPr>
          <a:xfrm>
            <a:off x="1060704" y="1481328"/>
            <a:ext cx="2926080" cy="42062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metro/</a:t>
            </a:r>
            <a:endParaRPr lang="en-US" sz="1600" dirty="0"/>
          </a:p>
        </p:txBody>
      </p:sp>
      <p:sp>
        <p:nvSpPr>
          <p:cNvPr id="6" name="cardbody-284"/>
          <p:cNvSpPr txBox="1"/>
          <p:nvPr/>
        </p:nvSpPr>
        <p:spPr>
          <a:xfrm>
            <a:off x="731520" y="1938528"/>
            <a:ext cx="3200400" cy="1380744"/>
          </a:xfrm>
          <a:prstGeom prst="rect">
            <a:avLst/>
          </a:prstGeom>
          <a:noFill/>
          <a:ln/>
        </p:spPr>
        <p:txBody>
          <a:bodyPr wrap="square" lIns="0" tIns="0" rIns="0" bIns="0" rtlCol="0" anchor="t"/>
          <a:lstStyle/>
          <a:p>
            <a:pPr indent="0" marL="0">
              <a:buNone/>
            </a:pPr>
            <a:r>
              <a:rPr lang="en-US" sz="1600" dirty="0">
                <a:solidFill>
                  <a:schemeClr val="tx1"/>
                </a:solidFill>
              </a:rPr>
              <a:t>Our Python package: data loading, features, model, training, metrics, baselines.</a:t>
            </a:r>
            <a:endParaRPr lang="en-US" sz="1600" dirty="0"/>
          </a:p>
        </p:txBody>
      </p:sp>
      <p:sp>
        <p:nvSpPr>
          <p:cNvPr id="7" name="card-285"/>
          <p:cNvSpPr/>
          <p:nvPr/>
        </p:nvSpPr>
        <p:spPr>
          <a:xfrm>
            <a:off x="4297680" y="1371600"/>
            <a:ext cx="3566160" cy="2057400"/>
          </a:xfrm>
          <a:prstGeom prst="roundRect">
            <a:avLst>
              <a:gd name="adj" fmla="val 3556"/>
            </a:avLst>
          </a:prstGeom>
          <a:solidFill>
            <a:schemeClr val="bg2"/>
          </a:solidFill>
          <a:ln w="12700">
            <a:solidFill>
              <a:schemeClr val="bg2"/>
            </a:solidFill>
            <a:prstDash val="solid"/>
          </a:ln>
        </p:spPr>
      </p:sp>
      <p:sp>
        <p:nvSpPr>
          <p:cNvPr id="8" name="dot-286"/>
          <p:cNvSpPr/>
          <p:nvPr/>
        </p:nvSpPr>
        <p:spPr>
          <a:xfrm>
            <a:off x="4480560" y="1572768"/>
            <a:ext cx="237744" cy="237744"/>
          </a:xfrm>
          <a:prstGeom prst="ellipse">
            <a:avLst/>
          </a:prstGeom>
          <a:solidFill>
            <a:schemeClr val="accent2"/>
          </a:solidFill>
          <a:ln w="25400">
            <a:solidFill>
              <a:schemeClr val="bg1"/>
            </a:solidFill>
            <a:prstDash val="solid"/>
          </a:ln>
        </p:spPr>
      </p:sp>
      <p:sp>
        <p:nvSpPr>
          <p:cNvPr id="9" name="cardtitle-287"/>
          <p:cNvSpPr txBox="1"/>
          <p:nvPr/>
        </p:nvSpPr>
        <p:spPr>
          <a:xfrm>
            <a:off x="4809744" y="1481328"/>
            <a:ext cx="2926080" cy="42062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ml_pipeline/</a:t>
            </a:r>
            <a:endParaRPr lang="en-US" sz="1600" dirty="0"/>
          </a:p>
        </p:txBody>
      </p:sp>
      <p:sp>
        <p:nvSpPr>
          <p:cNvPr id="10" name="cardbody-288"/>
          <p:cNvSpPr txBox="1"/>
          <p:nvPr/>
        </p:nvSpPr>
        <p:spPr>
          <a:xfrm>
            <a:off x="4480560" y="1938528"/>
            <a:ext cx="3200400" cy="1380744"/>
          </a:xfrm>
          <a:prstGeom prst="rect">
            <a:avLst/>
          </a:prstGeom>
          <a:noFill/>
          <a:ln/>
        </p:spPr>
        <p:txBody>
          <a:bodyPr wrap="square" lIns="0" tIns="0" rIns="0" bIns="0" rtlCol="0" anchor="t"/>
          <a:lstStyle/>
          <a:p>
            <a:pPr indent="0" marL="0">
              <a:buNone/>
            </a:pPr>
            <a:r>
              <a:rPr lang="en-US" sz="1600" dirty="0">
                <a:solidFill>
                  <a:schemeClr val="tx1"/>
                </a:solidFill>
              </a:rPr>
              <a:t>The step-by-step workflow: notebooks, guard, progress log, figures, saved splits and run results.</a:t>
            </a:r>
            <a:endParaRPr lang="en-US" sz="1600" dirty="0"/>
          </a:p>
        </p:txBody>
      </p:sp>
      <p:sp>
        <p:nvSpPr>
          <p:cNvPr id="11" name="card-289"/>
          <p:cNvSpPr/>
          <p:nvPr/>
        </p:nvSpPr>
        <p:spPr>
          <a:xfrm>
            <a:off x="8046720" y="1371600"/>
            <a:ext cx="3566160" cy="2057400"/>
          </a:xfrm>
          <a:prstGeom prst="roundRect">
            <a:avLst>
              <a:gd name="adj" fmla="val 3556"/>
            </a:avLst>
          </a:prstGeom>
          <a:solidFill>
            <a:schemeClr val="bg2"/>
          </a:solidFill>
          <a:ln w="12700">
            <a:solidFill>
              <a:schemeClr val="bg2"/>
            </a:solidFill>
            <a:prstDash val="solid"/>
          </a:ln>
        </p:spPr>
      </p:sp>
      <p:sp>
        <p:nvSpPr>
          <p:cNvPr id="12" name="dot-290"/>
          <p:cNvSpPr/>
          <p:nvPr/>
        </p:nvSpPr>
        <p:spPr>
          <a:xfrm>
            <a:off x="8229600" y="1572768"/>
            <a:ext cx="237744" cy="237744"/>
          </a:xfrm>
          <a:prstGeom prst="ellipse">
            <a:avLst/>
          </a:prstGeom>
          <a:solidFill>
            <a:schemeClr val="accent1"/>
          </a:solidFill>
          <a:ln w="25400">
            <a:solidFill>
              <a:schemeClr val="bg1"/>
            </a:solidFill>
            <a:prstDash val="solid"/>
          </a:ln>
        </p:spPr>
      </p:sp>
      <p:sp>
        <p:nvSpPr>
          <p:cNvPr id="13" name="cardtitle-291"/>
          <p:cNvSpPr txBox="1"/>
          <p:nvPr/>
        </p:nvSpPr>
        <p:spPr>
          <a:xfrm>
            <a:off x="8558784" y="1481328"/>
            <a:ext cx="2926080" cy="42062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reference_PVCGN/</a:t>
            </a:r>
            <a:endParaRPr lang="en-US" sz="1600" dirty="0"/>
          </a:p>
        </p:txBody>
      </p:sp>
      <p:sp>
        <p:nvSpPr>
          <p:cNvPr id="14" name="cardbody-292"/>
          <p:cNvSpPr txBox="1"/>
          <p:nvPr/>
        </p:nvSpPr>
        <p:spPr>
          <a:xfrm>
            <a:off x="8229600" y="1938528"/>
            <a:ext cx="3200400" cy="1380744"/>
          </a:xfrm>
          <a:prstGeom prst="rect">
            <a:avLst/>
          </a:prstGeom>
          <a:noFill/>
          <a:ln/>
        </p:spPr>
        <p:txBody>
          <a:bodyPr wrap="square" lIns="0" tIns="0" rIns="0" bIns="0" rtlCol="0" anchor="t"/>
          <a:lstStyle/>
          <a:p>
            <a:pPr indent="0" marL="0">
              <a:buNone/>
            </a:pPr>
            <a:r>
              <a:rPr lang="en-US" sz="1600" dirty="0">
                <a:solidFill>
                  <a:schemeClr val="tx1"/>
                </a:solidFill>
              </a:rPr>
              <a:t>The authors' original code and data, cloned from GitHub. Not modified.</a:t>
            </a:r>
            <a:endParaRPr lang="en-US" sz="1600" dirty="0"/>
          </a:p>
        </p:txBody>
      </p:sp>
      <p:sp>
        <p:nvSpPr>
          <p:cNvPr id="15" name="card-293"/>
          <p:cNvSpPr/>
          <p:nvPr/>
        </p:nvSpPr>
        <p:spPr>
          <a:xfrm>
            <a:off x="548640" y="3611880"/>
            <a:ext cx="3566160" cy="2057400"/>
          </a:xfrm>
          <a:prstGeom prst="roundRect">
            <a:avLst>
              <a:gd name="adj" fmla="val 3556"/>
            </a:avLst>
          </a:prstGeom>
          <a:solidFill>
            <a:schemeClr val="bg2"/>
          </a:solidFill>
          <a:ln w="12700">
            <a:solidFill>
              <a:schemeClr val="bg2"/>
            </a:solidFill>
            <a:prstDash val="solid"/>
          </a:ln>
        </p:spPr>
      </p:sp>
      <p:sp>
        <p:nvSpPr>
          <p:cNvPr id="16" name="dot-294"/>
          <p:cNvSpPr/>
          <p:nvPr/>
        </p:nvSpPr>
        <p:spPr>
          <a:xfrm>
            <a:off x="731520" y="3813048"/>
            <a:ext cx="237744" cy="237744"/>
          </a:xfrm>
          <a:prstGeom prst="ellipse">
            <a:avLst/>
          </a:prstGeom>
          <a:solidFill>
            <a:schemeClr val="accent1"/>
          </a:solidFill>
          <a:ln w="25400">
            <a:solidFill>
              <a:schemeClr val="bg1"/>
            </a:solidFill>
            <a:prstDash val="solid"/>
          </a:ln>
        </p:spPr>
      </p:sp>
      <p:sp>
        <p:nvSpPr>
          <p:cNvPr id="17" name="cardtitle-295"/>
          <p:cNvSpPr txBox="1"/>
          <p:nvPr/>
        </p:nvSpPr>
        <p:spPr>
          <a:xfrm>
            <a:off x="1060704" y="3721608"/>
            <a:ext cx="2926080" cy="42062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tests/</a:t>
            </a:r>
            <a:endParaRPr lang="en-US" sz="1600" dirty="0"/>
          </a:p>
        </p:txBody>
      </p:sp>
      <p:sp>
        <p:nvSpPr>
          <p:cNvPr id="18" name="cardbody-296"/>
          <p:cNvSpPr txBox="1"/>
          <p:nvPr/>
        </p:nvSpPr>
        <p:spPr>
          <a:xfrm>
            <a:off x="731520" y="4178808"/>
            <a:ext cx="3200400" cy="1380744"/>
          </a:xfrm>
          <a:prstGeom prst="rect">
            <a:avLst/>
          </a:prstGeom>
          <a:noFill/>
          <a:ln/>
        </p:spPr>
        <p:txBody>
          <a:bodyPr wrap="square" lIns="0" tIns="0" rIns="0" bIns="0" rtlCol="0" anchor="t"/>
          <a:lstStyle/>
          <a:p>
            <a:pPr indent="0" marL="0">
              <a:buNone/>
            </a:pPr>
            <a:r>
              <a:rPr lang="en-US" sz="1600" dirty="0">
                <a:solidFill>
                  <a:schemeClr val="tx1"/>
                </a:solidFill>
              </a:rPr>
              <a:t>Automatic check that our PVCGN equals the authors' version.</a:t>
            </a:r>
            <a:endParaRPr lang="en-US" sz="1600" dirty="0"/>
          </a:p>
        </p:txBody>
      </p:sp>
      <p:sp>
        <p:nvSpPr>
          <p:cNvPr id="19" name="card-297"/>
          <p:cNvSpPr/>
          <p:nvPr/>
        </p:nvSpPr>
        <p:spPr>
          <a:xfrm>
            <a:off x="4297680" y="3611880"/>
            <a:ext cx="3566160" cy="2057400"/>
          </a:xfrm>
          <a:prstGeom prst="roundRect">
            <a:avLst>
              <a:gd name="adj" fmla="val 3556"/>
            </a:avLst>
          </a:prstGeom>
          <a:solidFill>
            <a:schemeClr val="bg2"/>
          </a:solidFill>
          <a:ln w="12700">
            <a:solidFill>
              <a:schemeClr val="bg2"/>
            </a:solidFill>
            <a:prstDash val="solid"/>
          </a:ln>
        </p:spPr>
      </p:sp>
      <p:sp>
        <p:nvSpPr>
          <p:cNvPr id="20" name="dot-298"/>
          <p:cNvSpPr/>
          <p:nvPr/>
        </p:nvSpPr>
        <p:spPr>
          <a:xfrm>
            <a:off x="4480560" y="3813048"/>
            <a:ext cx="237744" cy="237744"/>
          </a:xfrm>
          <a:prstGeom prst="ellipse">
            <a:avLst/>
          </a:prstGeom>
          <a:solidFill>
            <a:schemeClr val="accent1"/>
          </a:solidFill>
          <a:ln w="25400">
            <a:solidFill>
              <a:schemeClr val="bg1"/>
            </a:solidFill>
            <a:prstDash val="solid"/>
          </a:ln>
        </p:spPr>
      </p:sp>
      <p:sp>
        <p:nvSpPr>
          <p:cNvPr id="21" name="cardtitle-299"/>
          <p:cNvSpPr txBox="1"/>
          <p:nvPr/>
        </p:nvSpPr>
        <p:spPr>
          <a:xfrm>
            <a:off x="4809744" y="3721608"/>
            <a:ext cx="2926080" cy="42062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paper/</a:t>
            </a:r>
            <a:endParaRPr lang="en-US" sz="1600" dirty="0"/>
          </a:p>
        </p:txBody>
      </p:sp>
      <p:sp>
        <p:nvSpPr>
          <p:cNvPr id="22" name="cardbody-300"/>
          <p:cNvSpPr txBox="1"/>
          <p:nvPr/>
        </p:nvSpPr>
        <p:spPr>
          <a:xfrm>
            <a:off x="4480560" y="4178808"/>
            <a:ext cx="3200400" cy="1380744"/>
          </a:xfrm>
          <a:prstGeom prst="rect">
            <a:avLst/>
          </a:prstGeom>
          <a:noFill/>
          <a:ln/>
        </p:spPr>
        <p:txBody>
          <a:bodyPr wrap="square" lIns="0" tIns="0" rIns="0" bIns="0" rtlCol="0" anchor="t"/>
          <a:lstStyle/>
          <a:p>
            <a:pPr indent="0" marL="0">
              <a:buNone/>
            </a:pPr>
            <a:r>
              <a:rPr lang="en-US" sz="1600" dirty="0">
                <a:solidFill>
                  <a:schemeClr val="tx1"/>
                </a:solidFill>
              </a:rPr>
              <a:t>Draft of the new research paper (LaTeX) and its references.</a:t>
            </a:r>
            <a:endParaRPr lang="en-US" sz="1600" dirty="0"/>
          </a:p>
        </p:txBody>
      </p:sp>
      <p:sp>
        <p:nvSpPr>
          <p:cNvPr id="23" name="card-301"/>
          <p:cNvSpPr/>
          <p:nvPr/>
        </p:nvSpPr>
        <p:spPr>
          <a:xfrm>
            <a:off x="8046720" y="3611880"/>
            <a:ext cx="3566160" cy="2057400"/>
          </a:xfrm>
          <a:prstGeom prst="roundRect">
            <a:avLst>
              <a:gd name="adj" fmla="val 3556"/>
            </a:avLst>
          </a:prstGeom>
          <a:solidFill>
            <a:schemeClr val="bg2"/>
          </a:solidFill>
          <a:ln w="12700">
            <a:solidFill>
              <a:schemeClr val="bg2"/>
            </a:solidFill>
            <a:prstDash val="solid"/>
          </a:ln>
        </p:spPr>
      </p:sp>
      <p:sp>
        <p:nvSpPr>
          <p:cNvPr id="24" name="dot-302"/>
          <p:cNvSpPr/>
          <p:nvPr/>
        </p:nvSpPr>
        <p:spPr>
          <a:xfrm>
            <a:off x="8229600" y="3813048"/>
            <a:ext cx="237744" cy="237744"/>
          </a:xfrm>
          <a:prstGeom prst="ellipse">
            <a:avLst/>
          </a:prstGeom>
          <a:solidFill>
            <a:schemeClr val="accent1"/>
          </a:solidFill>
          <a:ln w="25400">
            <a:solidFill>
              <a:schemeClr val="bg1"/>
            </a:solidFill>
            <a:prstDash val="solid"/>
          </a:ln>
        </p:spPr>
      </p:sp>
      <p:sp>
        <p:nvSpPr>
          <p:cNvPr id="25" name="cardtitle-303"/>
          <p:cNvSpPr txBox="1"/>
          <p:nvPr/>
        </p:nvSpPr>
        <p:spPr>
          <a:xfrm>
            <a:off x="8558784" y="3721608"/>
            <a:ext cx="2926080" cy="42062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presentation/</a:t>
            </a:r>
            <a:endParaRPr lang="en-US" sz="1600" dirty="0"/>
          </a:p>
        </p:txBody>
      </p:sp>
      <p:sp>
        <p:nvSpPr>
          <p:cNvPr id="26" name="cardbody-304"/>
          <p:cNvSpPr txBox="1"/>
          <p:nvPr/>
        </p:nvSpPr>
        <p:spPr>
          <a:xfrm>
            <a:off x="8229600" y="4178808"/>
            <a:ext cx="3200400" cy="1380744"/>
          </a:xfrm>
          <a:prstGeom prst="rect">
            <a:avLst/>
          </a:prstGeom>
          <a:noFill/>
          <a:ln/>
        </p:spPr>
        <p:txBody>
          <a:bodyPr wrap="square" lIns="0" tIns="0" rIns="0" bIns="0" rtlCol="0" anchor="t"/>
          <a:lstStyle/>
          <a:p>
            <a:pPr indent="0" marL="0">
              <a:buNone/>
            </a:pPr>
            <a:r>
              <a:rPr lang="en-US" sz="1600" dirty="0">
                <a:solidFill>
                  <a:schemeClr val="tx1"/>
                </a:solidFill>
              </a:rPr>
              <a:t>This deck and the script that builds it.</a:t>
            </a:r>
            <a:endParaRPr lang="en-US" sz="1600" dirty="0"/>
          </a:p>
        </p:txBody>
      </p:sp>
      <p:sp>
        <p:nvSpPr>
          <p:cNvPr id="27" name="folders-note"/>
          <p:cNvSpPr txBox="1"/>
          <p:nvPr/>
        </p:nvSpPr>
        <p:spPr>
          <a:xfrm>
            <a:off x="548640" y="5852160"/>
            <a:ext cx="11064240" cy="457200"/>
          </a:xfrm>
          <a:prstGeom prst="rect">
            <a:avLst/>
          </a:prstGeom>
          <a:noFill/>
          <a:ln/>
        </p:spPr>
        <p:txBody>
          <a:bodyPr wrap="square" lIns="0" tIns="0" rIns="0" bIns="0" rtlCol="0" anchor="ctr"/>
          <a:lstStyle/>
          <a:p>
            <a:pPr indent="0" marL="0">
              <a:buNone/>
            </a:pPr>
            <a:r>
              <a:rPr lang="en-US" sz="1400" dirty="0">
                <a:solidFill>
                  <a:schemeClr val="tx2"/>
                </a:solidFill>
              </a:rPr>
              <a:t>Also at the top level: run_queue.sh (runs all training jobs), .gitignore, .venv/ (Python environment), checkpoints/ (saved model weights).</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How the files connect</a:t>
            </a:r>
            <a:endParaRPr lang="en-US" sz="3200" dirty="0"/>
          </a:p>
        </p:txBody>
      </p:sp>
      <p:sp>
        <p:nvSpPr>
          <p:cNvPr id="3" name="chain-line"/>
          <p:cNvSpPr/>
          <p:nvPr/>
        </p:nvSpPr>
        <p:spPr>
          <a:xfrm>
            <a:off x="1325880" y="2057400"/>
            <a:ext cx="9601200" cy="0"/>
          </a:xfrm>
          <a:prstGeom prst="line">
            <a:avLst/>
          </a:prstGeom>
          <a:noFill/>
          <a:ln w="76200">
            <a:solidFill>
              <a:schemeClr val="accent1"/>
            </a:solidFill>
            <a:prstDash val="solid"/>
          </a:ln>
        </p:spPr>
      </p:sp>
      <p:sp>
        <p:nvSpPr>
          <p:cNvPr id="4" name="dot-305"/>
          <p:cNvSpPr/>
          <p:nvPr/>
        </p:nvSpPr>
        <p:spPr>
          <a:xfrm>
            <a:off x="960120" y="1691640"/>
            <a:ext cx="731520" cy="731520"/>
          </a:xfrm>
          <a:prstGeom prst="ellipse">
            <a:avLst/>
          </a:prstGeom>
          <a:solidFill>
            <a:schemeClr val="accent1"/>
          </a:solidFill>
          <a:ln w="25400">
            <a:solidFill>
              <a:schemeClr val="bg1"/>
            </a:solidFill>
            <a:prstDash val="solid"/>
          </a:ln>
        </p:spPr>
      </p:sp>
      <p:sp>
        <p:nvSpPr>
          <p:cNvPr id="5" name="dotlabel-306"/>
          <p:cNvSpPr txBox="1"/>
          <p:nvPr/>
        </p:nvSpPr>
        <p:spPr>
          <a:xfrm>
            <a:off x="960120" y="1691640"/>
            <a:ext cx="731520" cy="73152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6" name="ch-t-307"/>
          <p:cNvSpPr txBox="1"/>
          <p:nvPr/>
        </p:nvSpPr>
        <p:spPr>
          <a:xfrm>
            <a:off x="457200" y="2560320"/>
            <a:ext cx="1554480" cy="64008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reference_PVCGN/data</a:t>
            </a:r>
            <a:endParaRPr lang="en-US" sz="1300" dirty="0"/>
          </a:p>
        </p:txBody>
      </p:sp>
      <p:sp>
        <p:nvSpPr>
          <p:cNvPr id="7" name="ch-d-308"/>
          <p:cNvSpPr txBox="1"/>
          <p:nvPr/>
        </p:nvSpPr>
        <p:spPr>
          <a:xfrm>
            <a:off x="457200" y="3200400"/>
            <a:ext cx="1554480" cy="731520"/>
          </a:xfrm>
          <a:prstGeom prst="rect">
            <a:avLst/>
          </a:prstGeom>
          <a:noFill/>
          <a:ln/>
        </p:spPr>
        <p:txBody>
          <a:bodyPr wrap="square" lIns="0" tIns="0" rIns="0" bIns="0" rtlCol="0" anchor="ctr"/>
          <a:lstStyle/>
          <a:p>
            <a:pPr algn="ctr" indent="0" marL="0">
              <a:buNone/>
            </a:pPr>
            <a:r>
              <a:rPr lang="en-US" sz="1200" dirty="0">
                <a:solidFill>
                  <a:schemeClr val="tx2"/>
                </a:solidFill>
              </a:rPr>
              <a:t>released .pkl files</a:t>
            </a:r>
            <a:endParaRPr lang="en-US" sz="1200" dirty="0"/>
          </a:p>
        </p:txBody>
      </p:sp>
      <p:sp>
        <p:nvSpPr>
          <p:cNvPr id="8" name="dot-309"/>
          <p:cNvSpPr/>
          <p:nvPr/>
        </p:nvSpPr>
        <p:spPr>
          <a:xfrm>
            <a:off x="2560320" y="1691640"/>
            <a:ext cx="731520" cy="731520"/>
          </a:xfrm>
          <a:prstGeom prst="ellipse">
            <a:avLst/>
          </a:prstGeom>
          <a:solidFill>
            <a:schemeClr val="accent1"/>
          </a:solidFill>
          <a:ln w="25400">
            <a:solidFill>
              <a:schemeClr val="bg1"/>
            </a:solidFill>
            <a:prstDash val="solid"/>
          </a:ln>
        </p:spPr>
      </p:sp>
      <p:sp>
        <p:nvSpPr>
          <p:cNvPr id="9" name="dotlabel-310"/>
          <p:cNvSpPr txBox="1"/>
          <p:nvPr/>
        </p:nvSpPr>
        <p:spPr>
          <a:xfrm>
            <a:off x="2560320" y="1691640"/>
            <a:ext cx="731520" cy="73152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0" name="ch-t-311"/>
          <p:cNvSpPr txBox="1"/>
          <p:nvPr/>
        </p:nvSpPr>
        <p:spPr>
          <a:xfrm>
            <a:off x="2057400" y="2560320"/>
            <a:ext cx="1554480" cy="64008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data.py</a:t>
            </a:r>
            <a:endParaRPr lang="en-US" sz="1300" dirty="0"/>
          </a:p>
        </p:txBody>
      </p:sp>
      <p:sp>
        <p:nvSpPr>
          <p:cNvPr id="11" name="ch-d-312"/>
          <p:cNvSpPr txBox="1"/>
          <p:nvPr/>
        </p:nvSpPr>
        <p:spPr>
          <a:xfrm>
            <a:off x="2057400" y="3200400"/>
            <a:ext cx="1554480" cy="731520"/>
          </a:xfrm>
          <a:prstGeom prst="rect">
            <a:avLst/>
          </a:prstGeom>
          <a:noFill/>
          <a:ln/>
        </p:spPr>
        <p:txBody>
          <a:bodyPr wrap="square" lIns="0" tIns="0" rIns="0" bIns="0" rtlCol="0" anchor="ctr"/>
          <a:lstStyle/>
          <a:p>
            <a:pPr algn="ctr" indent="0" marL="0">
              <a:buNone/>
            </a:pPr>
            <a:r>
              <a:rPr lang="en-US" sz="1200" dirty="0">
                <a:solidFill>
                  <a:schemeClr val="tx2"/>
                </a:solidFill>
              </a:rPr>
              <a:t>rebuild daily series</a:t>
            </a:r>
            <a:endParaRPr lang="en-US" sz="1200" dirty="0"/>
          </a:p>
        </p:txBody>
      </p:sp>
      <p:sp>
        <p:nvSpPr>
          <p:cNvPr id="12" name="dot-313"/>
          <p:cNvSpPr/>
          <p:nvPr/>
        </p:nvSpPr>
        <p:spPr>
          <a:xfrm>
            <a:off x="4160520" y="1691640"/>
            <a:ext cx="731520" cy="731520"/>
          </a:xfrm>
          <a:prstGeom prst="ellipse">
            <a:avLst/>
          </a:prstGeom>
          <a:solidFill>
            <a:schemeClr val="accent1"/>
          </a:solidFill>
          <a:ln w="25400">
            <a:solidFill>
              <a:schemeClr val="bg1"/>
            </a:solidFill>
            <a:prstDash val="solid"/>
          </a:ln>
        </p:spPr>
      </p:sp>
      <p:sp>
        <p:nvSpPr>
          <p:cNvPr id="13" name="dotlabel-314"/>
          <p:cNvSpPr txBox="1"/>
          <p:nvPr/>
        </p:nvSpPr>
        <p:spPr>
          <a:xfrm>
            <a:off x="4160520" y="1691640"/>
            <a:ext cx="731520" cy="73152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4" name="ch-t-315"/>
          <p:cNvSpPr txBox="1"/>
          <p:nvPr/>
        </p:nvSpPr>
        <p:spPr>
          <a:xfrm>
            <a:off x="3657600" y="2560320"/>
            <a:ext cx="1554480" cy="64008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features.py</a:t>
            </a:r>
            <a:endParaRPr lang="en-US" sz="1300" dirty="0"/>
          </a:p>
        </p:txBody>
      </p:sp>
      <p:sp>
        <p:nvSpPr>
          <p:cNvPr id="15" name="ch-d-316"/>
          <p:cNvSpPr txBox="1"/>
          <p:nvPr/>
        </p:nvSpPr>
        <p:spPr>
          <a:xfrm>
            <a:off x="3657600" y="3200400"/>
            <a:ext cx="1554480" cy="731520"/>
          </a:xfrm>
          <a:prstGeom prst="rect">
            <a:avLst/>
          </a:prstGeom>
          <a:noFill/>
          <a:ln/>
        </p:spPr>
        <p:txBody>
          <a:bodyPr wrap="square" lIns="0" tIns="0" rIns="0" bIns="0" rtlCol="0" anchor="ctr"/>
          <a:lstStyle/>
          <a:p>
            <a:pPr algn="ctr" indent="0" marL="0">
              <a:buNone/>
            </a:pPr>
            <a:r>
              <a:rPr lang="en-US" sz="1200" dirty="0">
                <a:solidFill>
                  <a:schemeClr val="tx2"/>
                </a:solidFill>
              </a:rPr>
              <a:t>calendar + reference days</a:t>
            </a:r>
            <a:endParaRPr lang="en-US" sz="1200" dirty="0"/>
          </a:p>
        </p:txBody>
      </p:sp>
      <p:sp>
        <p:nvSpPr>
          <p:cNvPr id="16" name="dot-317"/>
          <p:cNvSpPr/>
          <p:nvPr/>
        </p:nvSpPr>
        <p:spPr>
          <a:xfrm>
            <a:off x="5760720" y="1691640"/>
            <a:ext cx="731520" cy="731520"/>
          </a:xfrm>
          <a:prstGeom prst="ellipse">
            <a:avLst/>
          </a:prstGeom>
          <a:solidFill>
            <a:schemeClr val="accent1"/>
          </a:solidFill>
          <a:ln w="25400">
            <a:solidFill>
              <a:schemeClr val="bg1"/>
            </a:solidFill>
            <a:prstDash val="solid"/>
          </a:ln>
        </p:spPr>
      </p:sp>
      <p:sp>
        <p:nvSpPr>
          <p:cNvPr id="17" name="dotlabel-318"/>
          <p:cNvSpPr txBox="1"/>
          <p:nvPr/>
        </p:nvSpPr>
        <p:spPr>
          <a:xfrm>
            <a:off x="5760720" y="1691640"/>
            <a:ext cx="731520" cy="73152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18" name="ch-t-319"/>
          <p:cNvSpPr txBox="1"/>
          <p:nvPr/>
        </p:nvSpPr>
        <p:spPr>
          <a:xfrm>
            <a:off x="5257800" y="2560320"/>
            <a:ext cx="1554480" cy="64008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02_prep.py</a:t>
            </a:r>
            <a:endParaRPr lang="en-US" sz="1300" dirty="0"/>
          </a:p>
        </p:txBody>
      </p:sp>
      <p:sp>
        <p:nvSpPr>
          <p:cNvPr id="19" name="ch-d-320"/>
          <p:cNvSpPr txBox="1"/>
          <p:nvPr/>
        </p:nvSpPr>
        <p:spPr>
          <a:xfrm>
            <a:off x="5257800" y="3200400"/>
            <a:ext cx="1554480" cy="731520"/>
          </a:xfrm>
          <a:prstGeom prst="rect">
            <a:avLst/>
          </a:prstGeom>
          <a:noFill/>
          <a:ln/>
        </p:spPr>
        <p:txBody>
          <a:bodyPr wrap="square" lIns="0" tIns="0" rIns="0" bIns="0" rtlCol="0" anchor="ctr"/>
          <a:lstStyle/>
          <a:p>
            <a:pPr algn="ctr" indent="0" marL="0">
              <a:buNone/>
            </a:pPr>
            <a:r>
              <a:rPr lang="en-US" sz="1200" dirty="0">
                <a:solidFill>
                  <a:schemeClr val="tx2"/>
                </a:solidFill>
              </a:rPr>
              <a:t>split, scaler, features.npz</a:t>
            </a:r>
            <a:endParaRPr lang="en-US" sz="1200" dirty="0"/>
          </a:p>
        </p:txBody>
      </p:sp>
      <p:sp>
        <p:nvSpPr>
          <p:cNvPr id="20" name="dot-321"/>
          <p:cNvSpPr/>
          <p:nvPr/>
        </p:nvSpPr>
        <p:spPr>
          <a:xfrm>
            <a:off x="7360920" y="1691640"/>
            <a:ext cx="731520" cy="731520"/>
          </a:xfrm>
          <a:prstGeom prst="ellipse">
            <a:avLst/>
          </a:prstGeom>
          <a:solidFill>
            <a:schemeClr val="accent1"/>
          </a:solidFill>
          <a:ln w="25400">
            <a:solidFill>
              <a:schemeClr val="bg1"/>
            </a:solidFill>
            <a:prstDash val="solid"/>
          </a:ln>
        </p:spPr>
      </p:sp>
      <p:sp>
        <p:nvSpPr>
          <p:cNvPr id="21" name="dotlabel-322"/>
          <p:cNvSpPr txBox="1"/>
          <p:nvPr/>
        </p:nvSpPr>
        <p:spPr>
          <a:xfrm>
            <a:off x="7360920" y="1691640"/>
            <a:ext cx="731520" cy="731520"/>
          </a:xfrm>
          <a:prstGeom prst="rect">
            <a:avLst/>
          </a:prstGeom>
          <a:noFill/>
          <a:ln/>
        </p:spPr>
        <p:txBody>
          <a:bodyPr wrap="square" lIns="0" tIns="0" rIns="0" bIns="0" rtlCol="0" anchor="ctr"/>
          <a:lstStyle/>
          <a:p>
            <a:pPr algn="ctr" indent="0" marL="0">
              <a:buNone/>
            </a:pPr>
            <a:r>
              <a:rPr lang="en-US" sz="1800" b="1" dirty="0">
                <a:solidFill>
                  <a:schemeClr val="tx1"/>
                </a:solidFill>
              </a:rPr>
              <a:t>5</a:t>
            </a:r>
            <a:endParaRPr lang="en-US" sz="1800" dirty="0"/>
          </a:p>
        </p:txBody>
      </p:sp>
      <p:sp>
        <p:nvSpPr>
          <p:cNvPr id="22" name="ch-t-323"/>
          <p:cNvSpPr txBox="1"/>
          <p:nvPr/>
        </p:nvSpPr>
        <p:spPr>
          <a:xfrm>
            <a:off x="6858000" y="2560320"/>
            <a:ext cx="1554480" cy="64008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batches.py</a:t>
            </a:r>
            <a:endParaRPr lang="en-US" sz="1300" dirty="0"/>
          </a:p>
        </p:txBody>
      </p:sp>
      <p:sp>
        <p:nvSpPr>
          <p:cNvPr id="23" name="ch-d-324"/>
          <p:cNvSpPr txBox="1"/>
          <p:nvPr/>
        </p:nvSpPr>
        <p:spPr>
          <a:xfrm>
            <a:off x="6858000" y="3200400"/>
            <a:ext cx="1554480" cy="731520"/>
          </a:xfrm>
          <a:prstGeom prst="rect">
            <a:avLst/>
          </a:prstGeom>
          <a:noFill/>
          <a:ln/>
        </p:spPr>
        <p:txBody>
          <a:bodyPr wrap="square" lIns="0" tIns="0" rIns="0" bIns="0" rtlCol="0" anchor="ctr"/>
          <a:lstStyle/>
          <a:p>
            <a:pPr algn="ctr" indent="0" marL="0">
              <a:buNone/>
            </a:pPr>
            <a:r>
              <a:rPr lang="en-US" sz="1200" dirty="0">
                <a:solidFill>
                  <a:schemeClr val="tx2"/>
                </a:solidFill>
              </a:rPr>
              <a:t>model-ready batches</a:t>
            </a:r>
            <a:endParaRPr lang="en-US" sz="1200" dirty="0"/>
          </a:p>
        </p:txBody>
      </p:sp>
      <p:sp>
        <p:nvSpPr>
          <p:cNvPr id="24" name="dot-325"/>
          <p:cNvSpPr/>
          <p:nvPr/>
        </p:nvSpPr>
        <p:spPr>
          <a:xfrm>
            <a:off x="8961120" y="1691640"/>
            <a:ext cx="731520" cy="731520"/>
          </a:xfrm>
          <a:prstGeom prst="ellipse">
            <a:avLst/>
          </a:prstGeom>
          <a:solidFill>
            <a:schemeClr val="accent2"/>
          </a:solidFill>
          <a:ln w="25400">
            <a:solidFill>
              <a:schemeClr val="bg1"/>
            </a:solidFill>
            <a:prstDash val="solid"/>
          </a:ln>
        </p:spPr>
      </p:sp>
      <p:sp>
        <p:nvSpPr>
          <p:cNvPr id="25" name="dotlabel-326"/>
          <p:cNvSpPr txBox="1"/>
          <p:nvPr/>
        </p:nvSpPr>
        <p:spPr>
          <a:xfrm>
            <a:off x="8961120" y="169164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6" name="ch-t-327"/>
          <p:cNvSpPr txBox="1"/>
          <p:nvPr/>
        </p:nvSpPr>
        <p:spPr>
          <a:xfrm>
            <a:off x="8458200" y="2560320"/>
            <a:ext cx="1554480" cy="64008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model.py</a:t>
            </a:r>
            <a:endParaRPr lang="en-US" sz="1300" dirty="0"/>
          </a:p>
        </p:txBody>
      </p:sp>
      <p:sp>
        <p:nvSpPr>
          <p:cNvPr id="27" name="ch-d-328"/>
          <p:cNvSpPr txBox="1"/>
          <p:nvPr/>
        </p:nvSpPr>
        <p:spPr>
          <a:xfrm>
            <a:off x="8458200" y="3200400"/>
            <a:ext cx="1554480" cy="731520"/>
          </a:xfrm>
          <a:prstGeom prst="rect">
            <a:avLst/>
          </a:prstGeom>
          <a:noFill/>
          <a:ln/>
        </p:spPr>
        <p:txBody>
          <a:bodyPr wrap="square" lIns="0" tIns="0" rIns="0" bIns="0" rtlCol="0" anchor="ctr"/>
          <a:lstStyle/>
          <a:p>
            <a:pPr algn="ctr" indent="0" marL="0">
              <a:buNone/>
            </a:pPr>
            <a:r>
              <a:rPr lang="en-US" sz="1200" dirty="0">
                <a:solidFill>
                  <a:schemeClr val="tx2"/>
                </a:solidFill>
              </a:rPr>
              <a:t>PVCGN / PT-PVCGN</a:t>
            </a:r>
            <a:endParaRPr lang="en-US" sz="1200" dirty="0"/>
          </a:p>
        </p:txBody>
      </p:sp>
      <p:sp>
        <p:nvSpPr>
          <p:cNvPr id="28" name="dot-329"/>
          <p:cNvSpPr/>
          <p:nvPr/>
        </p:nvSpPr>
        <p:spPr>
          <a:xfrm>
            <a:off x="10561320" y="1691640"/>
            <a:ext cx="731520" cy="731520"/>
          </a:xfrm>
          <a:prstGeom prst="ellipse">
            <a:avLst/>
          </a:prstGeom>
          <a:solidFill>
            <a:schemeClr val="accent2"/>
          </a:solidFill>
          <a:ln w="25400">
            <a:solidFill>
              <a:schemeClr val="bg1"/>
            </a:solidFill>
            <a:prstDash val="solid"/>
          </a:ln>
        </p:spPr>
      </p:sp>
      <p:sp>
        <p:nvSpPr>
          <p:cNvPr id="29" name="dotlabel-330"/>
          <p:cNvSpPr txBox="1"/>
          <p:nvPr/>
        </p:nvSpPr>
        <p:spPr>
          <a:xfrm>
            <a:off x="10561320" y="169164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30" name="ch-t-331"/>
          <p:cNvSpPr txBox="1"/>
          <p:nvPr/>
        </p:nvSpPr>
        <p:spPr>
          <a:xfrm>
            <a:off x="10058400" y="2560320"/>
            <a:ext cx="1554480" cy="64008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train.py</a:t>
            </a:r>
            <a:endParaRPr lang="en-US" sz="1300" dirty="0"/>
          </a:p>
        </p:txBody>
      </p:sp>
      <p:sp>
        <p:nvSpPr>
          <p:cNvPr id="31" name="ch-d-332"/>
          <p:cNvSpPr txBox="1"/>
          <p:nvPr/>
        </p:nvSpPr>
        <p:spPr>
          <a:xfrm>
            <a:off x="10058400" y="3200400"/>
            <a:ext cx="1554480" cy="731520"/>
          </a:xfrm>
          <a:prstGeom prst="rect">
            <a:avLst/>
          </a:prstGeom>
          <a:noFill/>
          <a:ln/>
        </p:spPr>
        <p:txBody>
          <a:bodyPr wrap="square" lIns="0" tIns="0" rIns="0" bIns="0" rtlCol="0" anchor="ctr"/>
          <a:lstStyle/>
          <a:p>
            <a:pPr algn="ctr" indent="0" marL="0">
              <a:buNone/>
            </a:pPr>
            <a:r>
              <a:rPr lang="en-US" sz="1200" dirty="0">
                <a:solidFill>
                  <a:schemeClr val="tx2"/>
                </a:solidFill>
              </a:rPr>
              <a:t>train + pick best epoch</a:t>
            </a:r>
            <a:endParaRPr lang="en-US" sz="1200" dirty="0"/>
          </a:p>
        </p:txBody>
      </p:sp>
      <p:sp>
        <p:nvSpPr>
          <p:cNvPr id="32" name="card-333"/>
          <p:cNvSpPr/>
          <p:nvPr/>
        </p:nvSpPr>
        <p:spPr>
          <a:xfrm>
            <a:off x="548640" y="4206240"/>
            <a:ext cx="3566160" cy="1920240"/>
          </a:xfrm>
          <a:prstGeom prst="roundRect">
            <a:avLst>
              <a:gd name="adj" fmla="val 3810"/>
            </a:avLst>
          </a:prstGeom>
          <a:solidFill>
            <a:schemeClr val="bg2"/>
          </a:solidFill>
          <a:ln w="12700">
            <a:solidFill>
              <a:schemeClr val="bg2"/>
            </a:solidFill>
            <a:prstDash val="solid"/>
          </a:ln>
        </p:spPr>
      </p:sp>
      <p:sp>
        <p:nvSpPr>
          <p:cNvPr id="33" name="dot-334"/>
          <p:cNvSpPr/>
          <p:nvPr/>
        </p:nvSpPr>
        <p:spPr>
          <a:xfrm>
            <a:off x="731520" y="4407408"/>
            <a:ext cx="237744" cy="237744"/>
          </a:xfrm>
          <a:prstGeom prst="ellipse">
            <a:avLst/>
          </a:prstGeom>
          <a:solidFill>
            <a:schemeClr val="accent4"/>
          </a:solidFill>
          <a:ln w="25400">
            <a:solidFill>
              <a:schemeClr val="bg1"/>
            </a:solidFill>
            <a:prstDash val="solid"/>
          </a:ln>
        </p:spPr>
      </p:sp>
      <p:sp>
        <p:nvSpPr>
          <p:cNvPr id="34" name="cardtitle-335"/>
          <p:cNvSpPr txBox="1"/>
          <p:nvPr/>
        </p:nvSpPr>
        <p:spPr>
          <a:xfrm>
            <a:off x="1060704" y="431596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Side branch: baselines</a:t>
            </a:r>
            <a:endParaRPr lang="en-US" sz="1600" dirty="0"/>
          </a:p>
        </p:txBody>
      </p:sp>
      <p:sp>
        <p:nvSpPr>
          <p:cNvPr id="35" name="cardbody-336"/>
          <p:cNvSpPr txBox="1"/>
          <p:nvPr/>
        </p:nvSpPr>
        <p:spPr>
          <a:xfrm>
            <a:off x="731520" y="4773168"/>
            <a:ext cx="3200400" cy="1243584"/>
          </a:xfrm>
          <a:prstGeom prst="rect">
            <a:avLst/>
          </a:prstGeom>
          <a:noFill/>
          <a:ln/>
        </p:spPr>
        <p:txBody>
          <a:bodyPr wrap="square" lIns="0" tIns="0" rIns="0" bIns="0" rtlCol="0" anchor="t"/>
          <a:lstStyle/>
          <a:p>
            <a:pPr indent="0" marL="0">
              <a:buNone/>
            </a:pPr>
            <a:r>
              <a:rPr lang="en-US" sz="1600" dirty="0">
                <a:solidFill>
                  <a:schemeClr val="tx1"/>
                </a:solidFill>
              </a:rPr>
              <a:t>baselines.py fits simple models on the same features; 03_model.py scores them.</a:t>
            </a:r>
            <a:endParaRPr lang="en-US" sz="1600" dirty="0"/>
          </a:p>
        </p:txBody>
      </p:sp>
      <p:sp>
        <p:nvSpPr>
          <p:cNvPr id="36" name="card-337"/>
          <p:cNvSpPr/>
          <p:nvPr/>
        </p:nvSpPr>
        <p:spPr>
          <a:xfrm>
            <a:off x="4315968" y="4206240"/>
            <a:ext cx="3566160" cy="1920240"/>
          </a:xfrm>
          <a:prstGeom prst="roundRect">
            <a:avLst>
              <a:gd name="adj" fmla="val 3810"/>
            </a:avLst>
          </a:prstGeom>
          <a:solidFill>
            <a:schemeClr val="bg2"/>
          </a:solidFill>
          <a:ln w="12700">
            <a:solidFill>
              <a:schemeClr val="bg2"/>
            </a:solidFill>
            <a:prstDash val="solid"/>
          </a:ln>
        </p:spPr>
      </p:sp>
      <p:sp>
        <p:nvSpPr>
          <p:cNvPr id="37" name="dot-338"/>
          <p:cNvSpPr/>
          <p:nvPr/>
        </p:nvSpPr>
        <p:spPr>
          <a:xfrm>
            <a:off x="4498848" y="4407408"/>
            <a:ext cx="237744" cy="237744"/>
          </a:xfrm>
          <a:prstGeom prst="ellipse">
            <a:avLst/>
          </a:prstGeom>
          <a:solidFill>
            <a:schemeClr val="accent4"/>
          </a:solidFill>
          <a:ln w="25400">
            <a:solidFill>
              <a:schemeClr val="bg1"/>
            </a:solidFill>
            <a:prstDash val="solid"/>
          </a:ln>
        </p:spPr>
      </p:sp>
      <p:sp>
        <p:nvSpPr>
          <p:cNvPr id="38" name="cardtitle-339"/>
          <p:cNvSpPr txBox="1"/>
          <p:nvPr/>
        </p:nvSpPr>
        <p:spPr>
          <a:xfrm>
            <a:off x="4828032" y="431596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Shared: metrics.py</a:t>
            </a:r>
            <a:endParaRPr lang="en-US" sz="1600" dirty="0"/>
          </a:p>
        </p:txBody>
      </p:sp>
      <p:sp>
        <p:nvSpPr>
          <p:cNvPr id="39" name="cardbody-340"/>
          <p:cNvSpPr txBox="1"/>
          <p:nvPr/>
        </p:nvSpPr>
        <p:spPr>
          <a:xfrm>
            <a:off x="4498848" y="4773168"/>
            <a:ext cx="3200400" cy="1243584"/>
          </a:xfrm>
          <a:prstGeom prst="rect">
            <a:avLst/>
          </a:prstGeom>
          <a:noFill/>
          <a:ln/>
        </p:spPr>
        <p:txBody>
          <a:bodyPr wrap="square" lIns="0" tIns="0" rIns="0" bIns="0" rtlCol="0" anchor="t"/>
          <a:lstStyle/>
          <a:p>
            <a:pPr indent="0" marL="0">
              <a:buNone/>
            </a:pPr>
            <a:r>
              <a:rPr lang="en-US" sz="1600" dirty="0">
                <a:solidFill>
                  <a:schemeClr val="tx1"/>
                </a:solidFill>
              </a:rPr>
              <a:t>One MAE / RMSE / MAPE implementation used by every model, identical to the paper's.</a:t>
            </a:r>
            <a:endParaRPr lang="en-US" sz="1600" dirty="0"/>
          </a:p>
        </p:txBody>
      </p:sp>
      <p:sp>
        <p:nvSpPr>
          <p:cNvPr id="40" name="card-341"/>
          <p:cNvSpPr/>
          <p:nvPr/>
        </p:nvSpPr>
        <p:spPr>
          <a:xfrm>
            <a:off x="8083296" y="4206240"/>
            <a:ext cx="3529584" cy="1920240"/>
          </a:xfrm>
          <a:prstGeom prst="roundRect">
            <a:avLst>
              <a:gd name="adj" fmla="val 3810"/>
            </a:avLst>
          </a:prstGeom>
          <a:solidFill>
            <a:schemeClr val="bg2"/>
          </a:solidFill>
          <a:ln w="12700">
            <a:solidFill>
              <a:schemeClr val="bg2"/>
            </a:solidFill>
            <a:prstDash val="solid"/>
          </a:ln>
        </p:spPr>
      </p:sp>
      <p:sp>
        <p:nvSpPr>
          <p:cNvPr id="41" name="dot-342"/>
          <p:cNvSpPr/>
          <p:nvPr/>
        </p:nvSpPr>
        <p:spPr>
          <a:xfrm>
            <a:off x="8266176" y="4407408"/>
            <a:ext cx="237744" cy="237744"/>
          </a:xfrm>
          <a:prstGeom prst="ellipse">
            <a:avLst/>
          </a:prstGeom>
          <a:solidFill>
            <a:schemeClr val="accent4"/>
          </a:solidFill>
          <a:ln w="25400">
            <a:solidFill>
              <a:schemeClr val="bg1"/>
            </a:solidFill>
            <a:prstDash val="solid"/>
          </a:ln>
        </p:spPr>
      </p:sp>
      <p:sp>
        <p:nvSpPr>
          <p:cNvPr id="42" name="cardtitle-343"/>
          <p:cNvSpPr txBox="1"/>
          <p:nvPr/>
        </p:nvSpPr>
        <p:spPr>
          <a:xfrm>
            <a:off x="8595360" y="4315968"/>
            <a:ext cx="2889504" cy="420624"/>
          </a:xfrm>
          <a:prstGeom prst="rect">
            <a:avLst/>
          </a:prstGeom>
          <a:noFill/>
          <a:ln/>
        </p:spPr>
        <p:txBody>
          <a:bodyPr wrap="square" lIns="0" tIns="0" rIns="0" bIns="0" rtlCol="0" anchor="ctr"/>
          <a:lstStyle/>
          <a:p>
            <a:pPr indent="0" marL="0">
              <a:buNone/>
            </a:pPr>
            <a:r>
              <a:rPr lang="en-US" sz="1600" b="1" dirty="0">
                <a:solidFill>
                  <a:schemeClr val="tx1"/>
                </a:solidFill>
              </a:rPr>
              <a:t>Outputs</a:t>
            </a:r>
            <a:endParaRPr lang="en-US" sz="1600" dirty="0"/>
          </a:p>
        </p:txBody>
      </p:sp>
      <p:sp>
        <p:nvSpPr>
          <p:cNvPr id="43" name="cardbody-344"/>
          <p:cNvSpPr txBox="1"/>
          <p:nvPr/>
        </p:nvSpPr>
        <p:spPr>
          <a:xfrm>
            <a:off x="8266176" y="4773168"/>
            <a:ext cx="3163824" cy="1243584"/>
          </a:xfrm>
          <a:prstGeom prst="rect">
            <a:avLst/>
          </a:prstGeom>
          <a:noFill/>
          <a:ln/>
        </p:spPr>
        <p:txBody>
          <a:bodyPr wrap="square" lIns="0" tIns="0" rIns="0" bIns="0" rtlCol="0" anchor="t"/>
          <a:lstStyle/>
          <a:p>
            <a:pPr indent="0" marL="0">
              <a:buNone/>
            </a:pPr>
            <a:r>
              <a:rPr lang="en-US" sz="1600" dirty="0">
                <a:solidFill>
                  <a:schemeClr val="tx1"/>
                </a:solidFill>
              </a:rPr>
              <a:t>ml_pipeline/runs/*.json (scores per epoch) and checkpoints/*.pt (best weights).</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metro/ — data side</a:t>
            </a:r>
            <a:endParaRPr lang="en-US" sz="3200" dirty="0"/>
          </a:p>
        </p:txBody>
      </p:sp>
      <p:sp>
        <p:nvSpPr>
          <p:cNvPr id="3" name="card-345"/>
          <p:cNvSpPr/>
          <p:nvPr/>
        </p:nvSpPr>
        <p:spPr>
          <a:xfrm>
            <a:off x="548640" y="1371600"/>
            <a:ext cx="3566160" cy="4709160"/>
          </a:xfrm>
          <a:prstGeom prst="roundRect">
            <a:avLst>
              <a:gd name="adj" fmla="val 2051"/>
            </a:avLst>
          </a:prstGeom>
          <a:solidFill>
            <a:schemeClr val="bg2"/>
          </a:solidFill>
          <a:ln w="12700">
            <a:solidFill>
              <a:schemeClr val="bg2"/>
            </a:solidFill>
            <a:prstDash val="solid"/>
          </a:ln>
        </p:spPr>
      </p:sp>
      <p:sp>
        <p:nvSpPr>
          <p:cNvPr id="4" name="dot-346"/>
          <p:cNvSpPr/>
          <p:nvPr/>
        </p:nvSpPr>
        <p:spPr>
          <a:xfrm>
            <a:off x="731520" y="1572768"/>
            <a:ext cx="237744" cy="237744"/>
          </a:xfrm>
          <a:prstGeom prst="ellipse">
            <a:avLst/>
          </a:prstGeom>
          <a:solidFill>
            <a:schemeClr val="accent2"/>
          </a:solidFill>
          <a:ln w="25400">
            <a:solidFill>
              <a:schemeClr val="bg1"/>
            </a:solidFill>
            <a:prstDash val="solid"/>
          </a:ln>
        </p:spPr>
      </p:sp>
      <p:sp>
        <p:nvSpPr>
          <p:cNvPr id="5" name="cardtitle-347"/>
          <p:cNvSpPr txBox="1"/>
          <p:nvPr/>
        </p:nvSpPr>
        <p:spPr>
          <a:xfrm>
            <a:off x="1060704" y="1481328"/>
            <a:ext cx="2926080" cy="42062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data.py</a:t>
            </a:r>
            <a:endParaRPr lang="en-US" sz="1600" dirty="0"/>
          </a:p>
        </p:txBody>
      </p:sp>
      <p:sp>
        <p:nvSpPr>
          <p:cNvPr id="6" name="cardbody-348"/>
          <p:cNvSpPr txBox="1"/>
          <p:nvPr/>
        </p:nvSpPr>
        <p:spPr>
          <a:xfrm>
            <a:off x="731520" y="1938528"/>
            <a:ext cx="3200400" cy="403250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Loads the authors' train / val / test .pkl files and graphs</a:t>
            </a:r>
            <a:endParaRPr lang="en-US" sz="1600" dirty="0"/>
          </a:p>
          <a:p>
            <a:pPr marL="342900" indent="-342900">
              <a:spcAft>
                <a:spcPts val="400"/>
              </a:spcAft>
              <a:buSzPct val="100000"/>
              <a:buChar char="•"/>
            </a:pPr>
            <a:r>
              <a:rPr lang="en-US" sz="1600" dirty="0">
                <a:solidFill>
                  <a:schemeClr val="tx1"/>
                </a:solidFill>
              </a:rPr>
              <a:t>Rebuilds continuous days (73 slots × stations × in/out) from overlapping windows, and checks the rebuild exactly</a:t>
            </a:r>
            <a:endParaRPr lang="en-US" sz="1600" dirty="0"/>
          </a:p>
          <a:p>
            <a:pPr marL="342900" indent="-342900">
              <a:spcAft>
                <a:spcPts val="400"/>
              </a:spcAft>
              <a:buSzPct val="100000"/>
              <a:buChar char="•"/>
            </a:pPr>
            <a:r>
              <a:rPr lang="en-US" sz="1600" dirty="0">
                <a:solidFill>
                  <a:schemeClr val="tx1"/>
                </a:solidFill>
              </a:rPr>
              <a:t>long_table(): one row per station per 15 min, used for analysis</a:t>
            </a:r>
            <a:endParaRPr lang="en-US" sz="1600" dirty="0"/>
          </a:p>
        </p:txBody>
      </p:sp>
      <p:sp>
        <p:nvSpPr>
          <p:cNvPr id="7" name="card-349"/>
          <p:cNvSpPr/>
          <p:nvPr/>
        </p:nvSpPr>
        <p:spPr>
          <a:xfrm>
            <a:off x="4315968" y="1371600"/>
            <a:ext cx="3566160" cy="4709160"/>
          </a:xfrm>
          <a:prstGeom prst="roundRect">
            <a:avLst>
              <a:gd name="adj" fmla="val 2051"/>
            </a:avLst>
          </a:prstGeom>
          <a:solidFill>
            <a:schemeClr val="bg2"/>
          </a:solidFill>
          <a:ln w="12700">
            <a:solidFill>
              <a:schemeClr val="bg2"/>
            </a:solidFill>
            <a:prstDash val="solid"/>
          </a:ln>
        </p:spPr>
      </p:sp>
      <p:sp>
        <p:nvSpPr>
          <p:cNvPr id="8" name="dot-350"/>
          <p:cNvSpPr/>
          <p:nvPr/>
        </p:nvSpPr>
        <p:spPr>
          <a:xfrm>
            <a:off x="4498848" y="1572768"/>
            <a:ext cx="237744" cy="237744"/>
          </a:xfrm>
          <a:prstGeom prst="ellipse">
            <a:avLst/>
          </a:prstGeom>
          <a:solidFill>
            <a:schemeClr val="accent2"/>
          </a:solidFill>
          <a:ln w="25400">
            <a:solidFill>
              <a:schemeClr val="bg1"/>
            </a:solidFill>
            <a:prstDash val="solid"/>
          </a:ln>
        </p:spPr>
      </p:sp>
      <p:sp>
        <p:nvSpPr>
          <p:cNvPr id="9" name="cardtitle-351"/>
          <p:cNvSpPr txBox="1"/>
          <p:nvPr/>
        </p:nvSpPr>
        <p:spPr>
          <a:xfrm>
            <a:off x="4828032" y="1481328"/>
            <a:ext cx="2926080" cy="42062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features.py</a:t>
            </a:r>
            <a:endParaRPr lang="en-US" sz="1600" dirty="0"/>
          </a:p>
        </p:txBody>
      </p:sp>
      <p:sp>
        <p:nvSpPr>
          <p:cNvPr id="10" name="cardbody-352"/>
          <p:cNvSpPr txBox="1"/>
          <p:nvPr/>
        </p:nvSpPr>
        <p:spPr>
          <a:xfrm>
            <a:off x="4498848" y="1938528"/>
            <a:ext cx="3200400" cy="403250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Official calendar: holidays and make-up working days</a:t>
            </a:r>
            <a:endParaRPr lang="en-US" sz="1600" dirty="0"/>
          </a:p>
          <a:p>
            <a:pPr marL="342900" indent="-342900">
              <a:spcAft>
                <a:spcPts val="400"/>
              </a:spcAft>
              <a:buSzPct val="100000"/>
              <a:buChar char="•"/>
            </a:pPr>
            <a:r>
              <a:rPr lang="en-US" sz="1600" dirty="0">
                <a:solidFill>
                  <a:schemeClr val="tx1"/>
                </a:solidFill>
              </a:rPr>
              <a:t>Working-day flag for every date</a:t>
            </a:r>
            <a:endParaRPr lang="en-US" sz="1600" dirty="0"/>
          </a:p>
          <a:p>
            <a:pPr marL="342900" indent="-342900">
              <a:spcAft>
                <a:spcPts val="400"/>
              </a:spcAft>
              <a:buSzPct val="100000"/>
              <a:buChar char="•"/>
            </a:pPr>
            <a:r>
              <a:rPr lang="en-US" sz="1600" dirty="0">
                <a:solidFill>
                  <a:schemeClr val="tx1"/>
                </a:solidFill>
              </a:rPr>
              <a:t>Reference days: last earlier day of the same type, and same weekday a week earlier</a:t>
            </a:r>
            <a:endParaRPr lang="en-US" sz="1600" dirty="0"/>
          </a:p>
          <a:p>
            <a:pPr marL="342900" indent="-342900">
              <a:spcAft>
                <a:spcPts val="400"/>
              </a:spcAft>
              <a:buSzPct val="100000"/>
              <a:buChar char="•"/>
            </a:pPr>
            <a:r>
              <a:rPr lang="en-US" sz="1600" dirty="0">
                <a:solidFill>
                  <a:schemeClr val="tx1"/>
                </a:solidFill>
              </a:rPr>
              <a:t>Only uses past days</a:t>
            </a:r>
            <a:endParaRPr lang="en-US" sz="1600" dirty="0"/>
          </a:p>
        </p:txBody>
      </p:sp>
      <p:sp>
        <p:nvSpPr>
          <p:cNvPr id="11" name="card-353"/>
          <p:cNvSpPr/>
          <p:nvPr/>
        </p:nvSpPr>
        <p:spPr>
          <a:xfrm>
            <a:off x="8083296" y="1371600"/>
            <a:ext cx="3529584" cy="4709160"/>
          </a:xfrm>
          <a:prstGeom prst="roundRect">
            <a:avLst>
              <a:gd name="adj" fmla="val 2073"/>
            </a:avLst>
          </a:prstGeom>
          <a:solidFill>
            <a:schemeClr val="bg2"/>
          </a:solidFill>
          <a:ln w="12700">
            <a:solidFill>
              <a:schemeClr val="bg2"/>
            </a:solidFill>
            <a:prstDash val="solid"/>
          </a:ln>
        </p:spPr>
      </p:sp>
      <p:sp>
        <p:nvSpPr>
          <p:cNvPr id="12" name="dot-354"/>
          <p:cNvSpPr/>
          <p:nvPr/>
        </p:nvSpPr>
        <p:spPr>
          <a:xfrm>
            <a:off x="8266176" y="1572768"/>
            <a:ext cx="237744" cy="237744"/>
          </a:xfrm>
          <a:prstGeom prst="ellipse">
            <a:avLst/>
          </a:prstGeom>
          <a:solidFill>
            <a:schemeClr val="accent2"/>
          </a:solidFill>
          <a:ln w="25400">
            <a:solidFill>
              <a:schemeClr val="bg1"/>
            </a:solidFill>
            <a:prstDash val="solid"/>
          </a:ln>
        </p:spPr>
      </p:sp>
      <p:sp>
        <p:nvSpPr>
          <p:cNvPr id="13" name="cardtitle-355"/>
          <p:cNvSpPr txBox="1"/>
          <p:nvPr/>
        </p:nvSpPr>
        <p:spPr>
          <a:xfrm>
            <a:off x="8595360" y="1481328"/>
            <a:ext cx="2889504" cy="42062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batches.py</a:t>
            </a:r>
            <a:endParaRPr lang="en-US" sz="1600" dirty="0"/>
          </a:p>
        </p:txBody>
      </p:sp>
      <p:sp>
        <p:nvSpPr>
          <p:cNvPr id="14" name="cardbody-356"/>
          <p:cNvSpPr txBox="1"/>
          <p:nvPr/>
        </p:nvSpPr>
        <p:spPr>
          <a:xfrm>
            <a:off x="8266176" y="1938528"/>
            <a:ext cx="3163824" cy="403250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Loads the prepared features.npz and scaler</a:t>
            </a:r>
            <a:endParaRPr lang="en-US" sz="1600" dirty="0"/>
          </a:p>
          <a:p>
            <a:pPr marL="342900" indent="-342900">
              <a:spcAft>
                <a:spcPts val="400"/>
              </a:spcAft>
              <a:buSzPct val="100000"/>
              <a:buChar char="•"/>
            </a:pPr>
            <a:r>
              <a:rPr lang="en-US" sz="1600" dirty="0">
                <a:solidFill>
                  <a:schemeClr val="tx1"/>
                </a:solidFill>
              </a:rPr>
              <a:t>Scales counts (z-score from training data)</a:t>
            </a:r>
            <a:endParaRPr lang="en-US" sz="1600" dirty="0"/>
          </a:p>
          <a:p>
            <a:pPr marL="342900" indent="-342900">
              <a:spcAft>
                <a:spcPts val="400"/>
              </a:spcAft>
              <a:buSzPct val="100000"/>
              <a:buChar char="•"/>
            </a:pPr>
            <a:r>
              <a:rPr lang="en-US" sz="1600" dirty="0">
                <a:solidFill>
                  <a:schemeClr val="tx1"/>
                </a:solidFill>
              </a:rPr>
              <a:t>Builds each batch: last hour, targets, reference-day slots, time slot, weekday, working day</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metro/ — model side</a:t>
            </a:r>
            <a:endParaRPr lang="en-US" sz="3200" dirty="0"/>
          </a:p>
        </p:txBody>
      </p:sp>
      <p:sp>
        <p:nvSpPr>
          <p:cNvPr id="3" name="card-357"/>
          <p:cNvSpPr/>
          <p:nvPr/>
        </p:nvSpPr>
        <p:spPr>
          <a:xfrm>
            <a:off x="548640" y="1371600"/>
            <a:ext cx="5440680" cy="2286000"/>
          </a:xfrm>
          <a:prstGeom prst="roundRect">
            <a:avLst>
              <a:gd name="adj" fmla="val 3200"/>
            </a:avLst>
          </a:prstGeom>
          <a:solidFill>
            <a:schemeClr val="bg2"/>
          </a:solidFill>
          <a:ln w="12700">
            <a:solidFill>
              <a:schemeClr val="bg2"/>
            </a:solidFill>
            <a:prstDash val="solid"/>
          </a:ln>
        </p:spPr>
      </p:sp>
      <p:sp>
        <p:nvSpPr>
          <p:cNvPr id="4" name="dot-358"/>
          <p:cNvSpPr/>
          <p:nvPr/>
        </p:nvSpPr>
        <p:spPr>
          <a:xfrm>
            <a:off x="731520" y="1572768"/>
            <a:ext cx="237744" cy="237744"/>
          </a:xfrm>
          <a:prstGeom prst="ellipse">
            <a:avLst/>
          </a:prstGeom>
          <a:solidFill>
            <a:schemeClr val="accent2"/>
          </a:solidFill>
          <a:ln w="25400">
            <a:solidFill>
              <a:schemeClr val="bg1"/>
            </a:solidFill>
            <a:prstDash val="solid"/>
          </a:ln>
        </p:spPr>
      </p:sp>
      <p:sp>
        <p:nvSpPr>
          <p:cNvPr id="5" name="cardtitle-359"/>
          <p:cNvSpPr txBox="1"/>
          <p:nvPr/>
        </p:nvSpPr>
        <p:spPr>
          <a:xfrm>
            <a:off x="1060704" y="1481328"/>
            <a:ext cx="4800600" cy="42062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model.py</a:t>
            </a:r>
            <a:endParaRPr lang="en-US" sz="1600" dirty="0"/>
          </a:p>
        </p:txBody>
      </p:sp>
      <p:sp>
        <p:nvSpPr>
          <p:cNvPr id="6" name="cardbody-360"/>
          <p:cNvSpPr txBox="1"/>
          <p:nvPr/>
        </p:nvSpPr>
        <p:spPr>
          <a:xfrm>
            <a:off x="731520" y="1938528"/>
            <a:ext cx="5074920" cy="160934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PVCGN rewritten in plain PyTorch: graph convolution, GC-GRU + FC-GRU, encoder–decoder</a:t>
            </a:r>
            <a:endParaRPr lang="en-US" sz="1600" dirty="0"/>
          </a:p>
          <a:p>
            <a:pPr marL="342900" indent="-342900">
              <a:spcAft>
                <a:spcPts val="400"/>
              </a:spcAft>
              <a:buSzPct val="100000"/>
              <a:buChar char="•"/>
            </a:pPr>
            <a:r>
              <a:rPr lang="en-US" sz="1600" dirty="0">
                <a:solidFill>
                  <a:schemeClr val="tx1"/>
                </a:solidFill>
              </a:rPr>
              <a:t>Switches periodic= and temporal= add our P and T parts</a:t>
            </a:r>
            <a:endParaRPr lang="en-US" sz="1600" dirty="0"/>
          </a:p>
        </p:txBody>
      </p:sp>
      <p:sp>
        <p:nvSpPr>
          <p:cNvPr id="7" name="card-361"/>
          <p:cNvSpPr/>
          <p:nvPr/>
        </p:nvSpPr>
        <p:spPr>
          <a:xfrm>
            <a:off x="6172200" y="1371600"/>
            <a:ext cx="5440680" cy="2286000"/>
          </a:xfrm>
          <a:prstGeom prst="roundRect">
            <a:avLst>
              <a:gd name="adj" fmla="val 3200"/>
            </a:avLst>
          </a:prstGeom>
          <a:solidFill>
            <a:schemeClr val="bg2"/>
          </a:solidFill>
          <a:ln w="12700">
            <a:solidFill>
              <a:schemeClr val="bg2"/>
            </a:solidFill>
            <a:prstDash val="solid"/>
          </a:ln>
        </p:spPr>
      </p:sp>
      <p:sp>
        <p:nvSpPr>
          <p:cNvPr id="8" name="dot-362"/>
          <p:cNvSpPr/>
          <p:nvPr/>
        </p:nvSpPr>
        <p:spPr>
          <a:xfrm>
            <a:off x="6355080" y="1572768"/>
            <a:ext cx="237744" cy="237744"/>
          </a:xfrm>
          <a:prstGeom prst="ellipse">
            <a:avLst/>
          </a:prstGeom>
          <a:solidFill>
            <a:schemeClr val="accent2"/>
          </a:solidFill>
          <a:ln w="25400">
            <a:solidFill>
              <a:schemeClr val="bg1"/>
            </a:solidFill>
            <a:prstDash val="solid"/>
          </a:ln>
        </p:spPr>
      </p:sp>
      <p:sp>
        <p:nvSpPr>
          <p:cNvPr id="9" name="cardtitle-363"/>
          <p:cNvSpPr txBox="1"/>
          <p:nvPr/>
        </p:nvSpPr>
        <p:spPr>
          <a:xfrm>
            <a:off x="6684264" y="1481328"/>
            <a:ext cx="4800600" cy="42062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train.py</a:t>
            </a:r>
            <a:endParaRPr lang="en-US" sz="1600" dirty="0"/>
          </a:p>
        </p:txBody>
      </p:sp>
      <p:sp>
        <p:nvSpPr>
          <p:cNvPr id="10" name="cardbody-364"/>
          <p:cNvSpPr txBox="1"/>
          <p:nvPr/>
        </p:nvSpPr>
        <p:spPr>
          <a:xfrm>
            <a:off x="6355080" y="1938528"/>
            <a:ext cx="5074920" cy="160934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Trains one model (city, variant, seed) on training days</a:t>
            </a:r>
            <a:endParaRPr lang="en-US" sz="1600" dirty="0"/>
          </a:p>
          <a:p>
            <a:pPr marL="342900" indent="-342900">
              <a:spcAft>
                <a:spcPts val="400"/>
              </a:spcAft>
              <a:buSzPct val="100000"/>
              <a:buChar char="•"/>
            </a:pPr>
            <a:r>
              <a:rPr lang="en-US" sz="1600" dirty="0">
                <a:solidFill>
                  <a:schemeClr val="tx1"/>
                </a:solidFill>
              </a:rPr>
              <a:t>Scores validation every epoch; keeps the best epoch</a:t>
            </a:r>
            <a:endParaRPr lang="en-US" sz="1600" dirty="0"/>
          </a:p>
          <a:p>
            <a:pPr marL="342900" indent="-342900">
              <a:spcAft>
                <a:spcPts val="400"/>
              </a:spcAft>
              <a:buSzPct val="100000"/>
              <a:buChar char="•"/>
            </a:pPr>
            <a:r>
              <a:rPr lang="en-US" sz="1600" dirty="0">
                <a:solidFill>
                  <a:schemeClr val="tx1"/>
                </a:solidFill>
              </a:rPr>
              <a:t>Never reads the test set</a:t>
            </a:r>
            <a:endParaRPr lang="en-US" sz="1600" dirty="0"/>
          </a:p>
        </p:txBody>
      </p:sp>
      <p:sp>
        <p:nvSpPr>
          <p:cNvPr id="11" name="card-365"/>
          <p:cNvSpPr/>
          <p:nvPr/>
        </p:nvSpPr>
        <p:spPr>
          <a:xfrm>
            <a:off x="548640" y="3840480"/>
            <a:ext cx="5440680" cy="2240280"/>
          </a:xfrm>
          <a:prstGeom prst="roundRect">
            <a:avLst>
              <a:gd name="adj" fmla="val 3265"/>
            </a:avLst>
          </a:prstGeom>
          <a:solidFill>
            <a:schemeClr val="bg2"/>
          </a:solidFill>
          <a:ln w="12700">
            <a:solidFill>
              <a:schemeClr val="bg2"/>
            </a:solidFill>
            <a:prstDash val="solid"/>
          </a:ln>
        </p:spPr>
      </p:sp>
      <p:sp>
        <p:nvSpPr>
          <p:cNvPr id="12" name="dot-366"/>
          <p:cNvSpPr/>
          <p:nvPr/>
        </p:nvSpPr>
        <p:spPr>
          <a:xfrm>
            <a:off x="731520" y="4041648"/>
            <a:ext cx="237744" cy="237744"/>
          </a:xfrm>
          <a:prstGeom prst="ellipse">
            <a:avLst/>
          </a:prstGeom>
          <a:solidFill>
            <a:schemeClr val="accent1"/>
          </a:solidFill>
          <a:ln w="25400">
            <a:solidFill>
              <a:schemeClr val="bg1"/>
            </a:solidFill>
            <a:prstDash val="solid"/>
          </a:ln>
        </p:spPr>
      </p:sp>
      <p:sp>
        <p:nvSpPr>
          <p:cNvPr id="13" name="cardtitle-367"/>
          <p:cNvSpPr txBox="1"/>
          <p:nvPr/>
        </p:nvSpPr>
        <p:spPr>
          <a:xfrm>
            <a:off x="1060704" y="3950208"/>
            <a:ext cx="4800600" cy="42062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metrics.py</a:t>
            </a:r>
            <a:endParaRPr lang="en-US" sz="1600" dirty="0"/>
          </a:p>
        </p:txBody>
      </p:sp>
      <p:sp>
        <p:nvSpPr>
          <p:cNvPr id="14" name="cardbody-368"/>
          <p:cNvSpPr txBox="1"/>
          <p:nvPr/>
        </p:nvSpPr>
        <p:spPr>
          <a:xfrm>
            <a:off x="731520" y="4407408"/>
            <a:ext cx="5074920" cy="156362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MAE, RMSE and MAPE, ignoring zero-passenger slots — same rule as the paper's code</a:t>
            </a:r>
            <a:endParaRPr lang="en-US" sz="1600" dirty="0"/>
          </a:p>
          <a:p>
            <a:pPr marL="342900" indent="-342900">
              <a:spcAft>
                <a:spcPts val="400"/>
              </a:spcAft>
              <a:buSzPct val="100000"/>
              <a:buChar char="•"/>
            </a:pPr>
            <a:r>
              <a:rPr lang="en-US" sz="1600" dirty="0">
                <a:solidFill>
                  <a:schemeClr val="tx1"/>
                </a:solidFill>
              </a:rPr>
              <a:t>Per horizon (15/30/45/60 min)</a:t>
            </a:r>
            <a:endParaRPr lang="en-US" sz="1600" dirty="0"/>
          </a:p>
        </p:txBody>
      </p:sp>
      <p:sp>
        <p:nvSpPr>
          <p:cNvPr id="15" name="card-369"/>
          <p:cNvSpPr/>
          <p:nvPr/>
        </p:nvSpPr>
        <p:spPr>
          <a:xfrm>
            <a:off x="6172200" y="3840480"/>
            <a:ext cx="5440680" cy="2240280"/>
          </a:xfrm>
          <a:prstGeom prst="roundRect">
            <a:avLst>
              <a:gd name="adj" fmla="val 3265"/>
            </a:avLst>
          </a:prstGeom>
          <a:solidFill>
            <a:schemeClr val="bg2"/>
          </a:solidFill>
          <a:ln w="12700">
            <a:solidFill>
              <a:schemeClr val="bg2"/>
            </a:solidFill>
            <a:prstDash val="solid"/>
          </a:ln>
        </p:spPr>
      </p:sp>
      <p:sp>
        <p:nvSpPr>
          <p:cNvPr id="16" name="dot-370"/>
          <p:cNvSpPr/>
          <p:nvPr/>
        </p:nvSpPr>
        <p:spPr>
          <a:xfrm>
            <a:off x="6355080" y="4041648"/>
            <a:ext cx="237744" cy="237744"/>
          </a:xfrm>
          <a:prstGeom prst="ellipse">
            <a:avLst/>
          </a:prstGeom>
          <a:solidFill>
            <a:schemeClr val="accent1"/>
          </a:solidFill>
          <a:ln w="25400">
            <a:solidFill>
              <a:schemeClr val="bg1"/>
            </a:solidFill>
            <a:prstDash val="solid"/>
          </a:ln>
        </p:spPr>
      </p:sp>
      <p:sp>
        <p:nvSpPr>
          <p:cNvPr id="17" name="cardtitle-371"/>
          <p:cNvSpPr txBox="1"/>
          <p:nvPr/>
        </p:nvSpPr>
        <p:spPr>
          <a:xfrm>
            <a:off x="6684264" y="3950208"/>
            <a:ext cx="4800600" cy="42062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baselines.py</a:t>
            </a:r>
            <a:endParaRPr lang="en-US" sz="1600" dirty="0"/>
          </a:p>
        </p:txBody>
      </p:sp>
      <p:sp>
        <p:nvSpPr>
          <p:cNvPr id="18" name="cardbody-372"/>
          <p:cNvSpPr txBox="1"/>
          <p:nvPr/>
        </p:nvSpPr>
        <p:spPr>
          <a:xfrm>
            <a:off x="6355080" y="4407408"/>
            <a:ext cx="5074920" cy="156362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Persistence, seasonal naive, historical average</a:t>
            </a:r>
            <a:endParaRPr lang="en-US" sz="1600" dirty="0"/>
          </a:p>
          <a:p>
            <a:pPr marL="342900" indent="-342900">
              <a:spcAft>
                <a:spcPts val="400"/>
              </a:spcAft>
              <a:buSzPct val="100000"/>
              <a:buChar char="•"/>
            </a:pPr>
            <a:r>
              <a:rPr lang="en-US" sz="1600" dirty="0">
                <a:solidFill>
                  <a:schemeClr val="tx1"/>
                </a:solidFill>
              </a:rPr>
              <a:t>Ridge and gradient boosting on recent + reference-day + calendar features</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ml_pipeline/guard.py — the safety rails</a:t>
            </a:r>
            <a:endParaRPr lang="en-US" sz="3200" dirty="0"/>
          </a:p>
        </p:txBody>
      </p:sp>
      <p:sp>
        <p:nvSpPr>
          <p:cNvPr id="3" name="guard-intro"/>
          <p:cNvSpPr txBox="1"/>
          <p:nvPr/>
        </p:nvSpPr>
        <p:spPr>
          <a:xfrm>
            <a:off x="548640" y="1280160"/>
            <a:ext cx="11064240" cy="731520"/>
          </a:xfrm>
          <a:prstGeom prst="rect">
            <a:avLst/>
          </a:prstGeom>
          <a:noFill/>
          <a:ln/>
        </p:spPr>
        <p:txBody>
          <a:bodyPr wrap="square" lIns="0" tIns="0" rIns="0" bIns="0" rtlCol="0" anchor="ctr"/>
          <a:lstStyle/>
          <a:p>
            <a:pPr indent="0" marL="0">
              <a:buNone/>
            </a:pPr>
            <a:r>
              <a:rPr lang="en-US" sz="1600" dirty="0">
                <a:solidFill>
                  <a:schemeClr val="tx1"/>
                </a:solidFill>
              </a:rPr>
              <a:t>A helper library that stops the most common mistakes in machine-learning projects, above all data leakage: letting test information influence training or model choice.</a:t>
            </a:r>
            <a:endParaRPr lang="en-US" sz="1600" dirty="0"/>
          </a:p>
        </p:txBody>
      </p:sp>
      <p:sp>
        <p:nvSpPr>
          <p:cNvPr id="4" name="card-373"/>
          <p:cNvSpPr/>
          <p:nvPr/>
        </p:nvSpPr>
        <p:spPr>
          <a:xfrm>
            <a:off x="548640" y="2194560"/>
            <a:ext cx="5440680" cy="1828800"/>
          </a:xfrm>
          <a:prstGeom prst="roundRect">
            <a:avLst>
              <a:gd name="adj" fmla="val 4000"/>
            </a:avLst>
          </a:prstGeom>
          <a:solidFill>
            <a:schemeClr val="bg2"/>
          </a:solidFill>
          <a:ln w="12700">
            <a:solidFill>
              <a:schemeClr val="bg2"/>
            </a:solidFill>
            <a:prstDash val="solid"/>
          </a:ln>
        </p:spPr>
      </p:sp>
      <p:sp>
        <p:nvSpPr>
          <p:cNvPr id="5" name="dot-374"/>
          <p:cNvSpPr/>
          <p:nvPr/>
        </p:nvSpPr>
        <p:spPr>
          <a:xfrm>
            <a:off x="731520" y="2395728"/>
            <a:ext cx="237744" cy="237744"/>
          </a:xfrm>
          <a:prstGeom prst="ellipse">
            <a:avLst/>
          </a:prstGeom>
          <a:solidFill>
            <a:schemeClr val="accent1"/>
          </a:solidFill>
          <a:ln w="25400">
            <a:solidFill>
              <a:schemeClr val="bg1"/>
            </a:solidFill>
            <a:prstDash val="solid"/>
          </a:ln>
        </p:spPr>
      </p:sp>
      <p:sp>
        <p:nvSpPr>
          <p:cNvPr id="6" name="cardtitle-375"/>
          <p:cNvSpPr txBox="1"/>
          <p:nvPr/>
        </p:nvSpPr>
        <p:spPr>
          <a:xfrm>
            <a:off x="1060704" y="2304288"/>
            <a:ext cx="4800600" cy="42062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profile()</a:t>
            </a:r>
            <a:endParaRPr lang="en-US" sz="1600" dirty="0"/>
          </a:p>
        </p:txBody>
      </p:sp>
      <p:sp>
        <p:nvSpPr>
          <p:cNvPr id="7" name="cardbody-376"/>
          <p:cNvSpPr txBox="1"/>
          <p:nvPr/>
        </p:nvSpPr>
        <p:spPr>
          <a:xfrm>
            <a:off x="731520" y="2761488"/>
            <a:ext cx="5074920" cy="1152144"/>
          </a:xfrm>
          <a:prstGeom prst="rect">
            <a:avLst/>
          </a:prstGeom>
          <a:noFill/>
          <a:ln/>
        </p:spPr>
        <p:txBody>
          <a:bodyPr wrap="square" lIns="0" tIns="0" rIns="0" bIns="0" rtlCol="0" anchor="t"/>
          <a:lstStyle/>
          <a:p>
            <a:pPr indent="0" marL="0">
              <a:buNone/>
            </a:pPr>
            <a:r>
              <a:rPr lang="en-US" sz="1600" dirty="0">
                <a:solidFill>
                  <a:schemeClr val="tx1"/>
                </a:solidFill>
              </a:rPr>
              <a:t>Inspects the raw data: size, column types, missing values, duplicates, leakage suspects. Writes data_profile.json.</a:t>
            </a:r>
            <a:endParaRPr lang="en-US" sz="1600" dirty="0"/>
          </a:p>
        </p:txBody>
      </p:sp>
      <p:sp>
        <p:nvSpPr>
          <p:cNvPr id="8" name="card-377"/>
          <p:cNvSpPr/>
          <p:nvPr/>
        </p:nvSpPr>
        <p:spPr>
          <a:xfrm>
            <a:off x="6172200" y="2194560"/>
            <a:ext cx="5440680" cy="1828800"/>
          </a:xfrm>
          <a:prstGeom prst="roundRect">
            <a:avLst>
              <a:gd name="adj" fmla="val 4000"/>
            </a:avLst>
          </a:prstGeom>
          <a:solidFill>
            <a:schemeClr val="bg2"/>
          </a:solidFill>
          <a:ln w="12700">
            <a:solidFill>
              <a:schemeClr val="bg2"/>
            </a:solidFill>
            <a:prstDash val="solid"/>
          </a:ln>
        </p:spPr>
      </p:sp>
      <p:sp>
        <p:nvSpPr>
          <p:cNvPr id="9" name="dot-378"/>
          <p:cNvSpPr/>
          <p:nvPr/>
        </p:nvSpPr>
        <p:spPr>
          <a:xfrm>
            <a:off x="6355080" y="2395728"/>
            <a:ext cx="237744" cy="237744"/>
          </a:xfrm>
          <a:prstGeom prst="ellipse">
            <a:avLst/>
          </a:prstGeom>
          <a:solidFill>
            <a:schemeClr val="accent1"/>
          </a:solidFill>
          <a:ln w="25400">
            <a:solidFill>
              <a:schemeClr val="bg1"/>
            </a:solidFill>
            <a:prstDash val="solid"/>
          </a:ln>
        </p:spPr>
      </p:sp>
      <p:sp>
        <p:nvSpPr>
          <p:cNvPr id="10" name="cardtitle-379"/>
          <p:cNvSpPr txBox="1"/>
          <p:nvPr/>
        </p:nvSpPr>
        <p:spPr>
          <a:xfrm>
            <a:off x="6684264" y="2304288"/>
            <a:ext cx="4800600" cy="42062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eda_figures() · fig()</a:t>
            </a:r>
            <a:endParaRPr lang="en-US" sz="1600" dirty="0"/>
          </a:p>
        </p:txBody>
      </p:sp>
      <p:sp>
        <p:nvSpPr>
          <p:cNvPr id="11" name="cardbody-380"/>
          <p:cNvSpPr txBox="1"/>
          <p:nvPr/>
        </p:nvSpPr>
        <p:spPr>
          <a:xfrm>
            <a:off x="6355080" y="2761488"/>
            <a:ext cx="5074920" cy="1152144"/>
          </a:xfrm>
          <a:prstGeom prst="rect">
            <a:avLst/>
          </a:prstGeom>
          <a:noFill/>
          <a:ln/>
        </p:spPr>
        <p:txBody>
          <a:bodyPr wrap="square" lIns="0" tIns="0" rIns="0" bIns="0" rtlCol="0" anchor="t"/>
          <a:lstStyle/>
          <a:p>
            <a:pPr indent="0" marL="0">
              <a:buNone/>
            </a:pPr>
            <a:r>
              <a:rPr lang="en-US" sz="1600" dirty="0">
                <a:solidFill>
                  <a:schemeClr val="tx1"/>
                </a:solidFill>
              </a:rPr>
              <a:t>Saves every chart to figures/ and logs a one-line explanation in PIPELINE.md.</a:t>
            </a:r>
            <a:endParaRPr lang="en-US" sz="1600" dirty="0"/>
          </a:p>
        </p:txBody>
      </p:sp>
      <p:sp>
        <p:nvSpPr>
          <p:cNvPr id="12" name="card-381"/>
          <p:cNvSpPr/>
          <p:nvPr/>
        </p:nvSpPr>
        <p:spPr>
          <a:xfrm>
            <a:off x="548640" y="4206240"/>
            <a:ext cx="5440680" cy="1828800"/>
          </a:xfrm>
          <a:prstGeom prst="roundRect">
            <a:avLst>
              <a:gd name="adj" fmla="val 4000"/>
            </a:avLst>
          </a:prstGeom>
          <a:solidFill>
            <a:schemeClr val="bg2"/>
          </a:solidFill>
          <a:ln w="12700">
            <a:solidFill>
              <a:schemeClr val="bg2"/>
            </a:solidFill>
            <a:prstDash val="solid"/>
          </a:ln>
        </p:spPr>
      </p:sp>
      <p:sp>
        <p:nvSpPr>
          <p:cNvPr id="13" name="dot-382"/>
          <p:cNvSpPr/>
          <p:nvPr/>
        </p:nvSpPr>
        <p:spPr>
          <a:xfrm>
            <a:off x="731520" y="4407408"/>
            <a:ext cx="237744" cy="237744"/>
          </a:xfrm>
          <a:prstGeom prst="ellipse">
            <a:avLst/>
          </a:prstGeom>
          <a:solidFill>
            <a:schemeClr val="accent1"/>
          </a:solidFill>
          <a:ln w="25400">
            <a:solidFill>
              <a:schemeClr val="bg1"/>
            </a:solidFill>
            <a:prstDash val="solid"/>
          </a:ln>
        </p:spPr>
      </p:sp>
      <p:sp>
        <p:nvSpPr>
          <p:cNvPr id="14" name="cardtitle-383"/>
          <p:cNvSpPr txBox="1"/>
          <p:nvPr/>
        </p:nvSpPr>
        <p:spPr>
          <a:xfrm>
            <a:off x="1060704" y="4315968"/>
            <a:ext cx="4800600" cy="42062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split()</a:t>
            </a:r>
            <a:endParaRPr lang="en-US" sz="1600" dirty="0"/>
          </a:p>
        </p:txBody>
      </p:sp>
      <p:sp>
        <p:nvSpPr>
          <p:cNvPr id="15" name="cardbody-384"/>
          <p:cNvSpPr txBox="1"/>
          <p:nvPr/>
        </p:nvSpPr>
        <p:spPr>
          <a:xfrm>
            <a:off x="731520" y="4773168"/>
            <a:ext cx="5074920" cy="1152144"/>
          </a:xfrm>
          <a:prstGeom prst="rect">
            <a:avLst/>
          </a:prstGeom>
          <a:noFill/>
          <a:ln/>
        </p:spPr>
        <p:txBody>
          <a:bodyPr wrap="square" lIns="0" tIns="0" rIns="0" bIns="0" rtlCol="0" anchor="t"/>
          <a:lstStyle/>
          <a:p>
            <a:pPr indent="0" marL="0">
              <a:buNone/>
            </a:pPr>
            <a:r>
              <a:rPr lang="en-US" sz="1600" dirty="0">
                <a:solidFill>
                  <a:schemeClr val="tx1"/>
                </a:solidFill>
              </a:rPr>
              <a:t>Splits by time (refuses random splits on dated data), checks no row is in two splits, and freezes a fingerprint of the test set.</a:t>
            </a:r>
            <a:endParaRPr lang="en-US" sz="1600" dirty="0"/>
          </a:p>
        </p:txBody>
      </p:sp>
      <p:sp>
        <p:nvSpPr>
          <p:cNvPr id="16" name="card-385"/>
          <p:cNvSpPr/>
          <p:nvPr/>
        </p:nvSpPr>
        <p:spPr>
          <a:xfrm>
            <a:off x="6172200" y="4206240"/>
            <a:ext cx="5440680" cy="1828800"/>
          </a:xfrm>
          <a:prstGeom prst="roundRect">
            <a:avLst>
              <a:gd name="adj" fmla="val 4000"/>
            </a:avLst>
          </a:prstGeom>
          <a:solidFill>
            <a:schemeClr val="bg2"/>
          </a:solidFill>
          <a:ln w="12700">
            <a:solidFill>
              <a:schemeClr val="bg2"/>
            </a:solidFill>
            <a:prstDash val="solid"/>
          </a:ln>
        </p:spPr>
      </p:sp>
      <p:sp>
        <p:nvSpPr>
          <p:cNvPr id="17" name="dot-386"/>
          <p:cNvSpPr/>
          <p:nvPr/>
        </p:nvSpPr>
        <p:spPr>
          <a:xfrm>
            <a:off x="6355080" y="4407408"/>
            <a:ext cx="237744" cy="237744"/>
          </a:xfrm>
          <a:prstGeom prst="ellipse">
            <a:avLst/>
          </a:prstGeom>
          <a:solidFill>
            <a:schemeClr val="accent3"/>
          </a:solidFill>
          <a:ln w="25400">
            <a:solidFill>
              <a:schemeClr val="bg1"/>
            </a:solidFill>
            <a:prstDash val="solid"/>
          </a:ln>
        </p:spPr>
      </p:sp>
      <p:sp>
        <p:nvSpPr>
          <p:cNvPr id="18" name="cardtitle-387"/>
          <p:cNvSpPr txBox="1"/>
          <p:nvPr/>
        </p:nvSpPr>
        <p:spPr>
          <a:xfrm>
            <a:off x="6684264" y="4315968"/>
            <a:ext cx="4800600" cy="42062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final_test()</a:t>
            </a:r>
            <a:endParaRPr lang="en-US" sz="1600" dirty="0"/>
          </a:p>
        </p:txBody>
      </p:sp>
      <p:sp>
        <p:nvSpPr>
          <p:cNvPr id="19" name="cardbody-388"/>
          <p:cNvSpPr txBox="1"/>
          <p:nvPr/>
        </p:nvSpPr>
        <p:spPr>
          <a:xfrm>
            <a:off x="6355080" y="4773168"/>
            <a:ext cx="5074920" cy="1152144"/>
          </a:xfrm>
          <a:prstGeom prst="rect">
            <a:avLst/>
          </a:prstGeom>
          <a:noFill/>
          <a:ln/>
        </p:spPr>
        <p:txBody>
          <a:bodyPr wrap="square" lIns="0" tIns="0" rIns="0" bIns="0" rtlCol="0" anchor="t"/>
          <a:lstStyle/>
          <a:p>
            <a:pPr indent="0" marL="0">
              <a:buNone/>
            </a:pPr>
            <a:r>
              <a:rPr lang="en-US" sz="1600" dirty="0">
                <a:solidFill>
                  <a:schemeClr val="tx1"/>
                </a:solidFill>
              </a:rPr>
              <a:t>Scores the final model on the test set exactly once; refuses a second try or a tampered test set; logs the score.</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ml_pipeline/ — notebooks and progress log</a:t>
            </a:r>
            <a:endParaRPr lang="en-US" sz="3200" dirty="0"/>
          </a:p>
        </p:txBody>
      </p:sp>
      <p:sp>
        <p:nvSpPr>
          <p:cNvPr id="3" name="card-389"/>
          <p:cNvSpPr/>
          <p:nvPr/>
        </p:nvSpPr>
        <p:spPr>
          <a:xfrm>
            <a:off x="548640" y="1371600"/>
            <a:ext cx="5440680" cy="2286000"/>
          </a:xfrm>
          <a:prstGeom prst="roundRect">
            <a:avLst>
              <a:gd name="adj" fmla="val 3200"/>
            </a:avLst>
          </a:prstGeom>
          <a:solidFill>
            <a:schemeClr val="bg2"/>
          </a:solidFill>
          <a:ln w="12700">
            <a:solidFill>
              <a:schemeClr val="bg2"/>
            </a:solidFill>
            <a:prstDash val="solid"/>
          </a:ln>
        </p:spPr>
      </p:sp>
      <p:sp>
        <p:nvSpPr>
          <p:cNvPr id="4" name="dot-390"/>
          <p:cNvSpPr/>
          <p:nvPr/>
        </p:nvSpPr>
        <p:spPr>
          <a:xfrm>
            <a:off x="731520" y="1572768"/>
            <a:ext cx="237744" cy="237744"/>
          </a:xfrm>
          <a:prstGeom prst="ellipse">
            <a:avLst/>
          </a:prstGeom>
          <a:solidFill>
            <a:schemeClr val="accent2"/>
          </a:solidFill>
          <a:ln w="25400">
            <a:solidFill>
              <a:schemeClr val="bg1"/>
            </a:solidFill>
            <a:prstDash val="solid"/>
          </a:ln>
        </p:spPr>
      </p:sp>
      <p:sp>
        <p:nvSpPr>
          <p:cNvPr id="5" name="cardtitle-391"/>
          <p:cNvSpPr txBox="1"/>
          <p:nvPr/>
        </p:nvSpPr>
        <p:spPr>
          <a:xfrm>
            <a:off x="1060704" y="1481328"/>
            <a:ext cx="4800600" cy="42062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01_eda.py</a:t>
            </a:r>
            <a:endParaRPr lang="en-US" sz="1600" dirty="0"/>
          </a:p>
        </p:txBody>
      </p:sp>
      <p:sp>
        <p:nvSpPr>
          <p:cNvPr id="6" name="cardbody-392"/>
          <p:cNvSpPr txBox="1"/>
          <p:nvPr/>
        </p:nvSpPr>
        <p:spPr>
          <a:xfrm>
            <a:off x="731520" y="1938528"/>
            <a:ext cx="5074920" cy="160934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Steps 1–2: inspects the data and draws the analysis charts</a:t>
            </a:r>
            <a:endParaRPr lang="en-US" sz="1600" dirty="0"/>
          </a:p>
          <a:p>
            <a:pPr marL="342900" indent="-342900">
              <a:spcAft>
                <a:spcPts val="400"/>
              </a:spcAft>
              <a:buSzPct val="100000"/>
              <a:buChar char="•"/>
            </a:pPr>
            <a:r>
              <a:rPr lang="en-US" sz="1600" dirty="0">
                <a:solidFill>
                  <a:schemeClr val="tx1"/>
                </a:solidFill>
              </a:rPr>
              <a:t>Found the periodicity, weekday/weekend and holiday patterns</a:t>
            </a:r>
            <a:endParaRPr lang="en-US" sz="1600" dirty="0"/>
          </a:p>
        </p:txBody>
      </p:sp>
      <p:sp>
        <p:nvSpPr>
          <p:cNvPr id="7" name="card-393"/>
          <p:cNvSpPr/>
          <p:nvPr/>
        </p:nvSpPr>
        <p:spPr>
          <a:xfrm>
            <a:off x="6172200" y="1371600"/>
            <a:ext cx="5440680" cy="2286000"/>
          </a:xfrm>
          <a:prstGeom prst="roundRect">
            <a:avLst>
              <a:gd name="adj" fmla="val 3200"/>
            </a:avLst>
          </a:prstGeom>
          <a:solidFill>
            <a:schemeClr val="bg2"/>
          </a:solidFill>
          <a:ln w="12700">
            <a:solidFill>
              <a:schemeClr val="bg2"/>
            </a:solidFill>
            <a:prstDash val="solid"/>
          </a:ln>
        </p:spPr>
      </p:sp>
      <p:sp>
        <p:nvSpPr>
          <p:cNvPr id="8" name="dot-394"/>
          <p:cNvSpPr/>
          <p:nvPr/>
        </p:nvSpPr>
        <p:spPr>
          <a:xfrm>
            <a:off x="6355080" y="1572768"/>
            <a:ext cx="237744" cy="237744"/>
          </a:xfrm>
          <a:prstGeom prst="ellipse">
            <a:avLst/>
          </a:prstGeom>
          <a:solidFill>
            <a:schemeClr val="accent2"/>
          </a:solidFill>
          <a:ln w="25400">
            <a:solidFill>
              <a:schemeClr val="bg1"/>
            </a:solidFill>
            <a:prstDash val="solid"/>
          </a:ln>
        </p:spPr>
      </p:sp>
      <p:sp>
        <p:nvSpPr>
          <p:cNvPr id="9" name="cardtitle-395"/>
          <p:cNvSpPr txBox="1"/>
          <p:nvPr/>
        </p:nvSpPr>
        <p:spPr>
          <a:xfrm>
            <a:off x="6684264" y="1481328"/>
            <a:ext cx="4800600" cy="42062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02_prep.py</a:t>
            </a:r>
            <a:endParaRPr lang="en-US" sz="1600" dirty="0"/>
          </a:p>
        </p:txBody>
      </p:sp>
      <p:sp>
        <p:nvSpPr>
          <p:cNvPr id="10" name="cardbody-396"/>
          <p:cNvSpPr txBox="1"/>
          <p:nvPr/>
        </p:nvSpPr>
        <p:spPr>
          <a:xfrm>
            <a:off x="6355080" y="1938528"/>
            <a:ext cx="5074920" cy="160934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Steps 4–8: cleaning checks, calendar and reference days, guard split, scaler</a:t>
            </a:r>
            <a:endParaRPr lang="en-US" sz="1600" dirty="0"/>
          </a:p>
          <a:p>
            <a:pPr marL="342900" indent="-342900">
              <a:spcAft>
                <a:spcPts val="400"/>
              </a:spcAft>
              <a:buSzPct val="100000"/>
              <a:buChar char="•"/>
            </a:pPr>
            <a:r>
              <a:rPr lang="en-US" sz="1600" dirty="0">
                <a:solidFill>
                  <a:schemeClr val="tx1"/>
                </a:solidFill>
              </a:rPr>
              <a:t>Saves features.npz and scaler.json per city</a:t>
            </a:r>
            <a:endParaRPr lang="en-US" sz="1600" dirty="0"/>
          </a:p>
        </p:txBody>
      </p:sp>
      <p:sp>
        <p:nvSpPr>
          <p:cNvPr id="11" name="card-397"/>
          <p:cNvSpPr/>
          <p:nvPr/>
        </p:nvSpPr>
        <p:spPr>
          <a:xfrm>
            <a:off x="548640" y="3840480"/>
            <a:ext cx="5440680" cy="2240280"/>
          </a:xfrm>
          <a:prstGeom prst="roundRect">
            <a:avLst>
              <a:gd name="adj" fmla="val 3265"/>
            </a:avLst>
          </a:prstGeom>
          <a:solidFill>
            <a:schemeClr val="bg2"/>
          </a:solidFill>
          <a:ln w="12700">
            <a:solidFill>
              <a:schemeClr val="bg2"/>
            </a:solidFill>
            <a:prstDash val="solid"/>
          </a:ln>
        </p:spPr>
      </p:sp>
      <p:sp>
        <p:nvSpPr>
          <p:cNvPr id="12" name="dot-398"/>
          <p:cNvSpPr/>
          <p:nvPr/>
        </p:nvSpPr>
        <p:spPr>
          <a:xfrm>
            <a:off x="731520" y="4041648"/>
            <a:ext cx="237744" cy="237744"/>
          </a:xfrm>
          <a:prstGeom prst="ellipse">
            <a:avLst/>
          </a:prstGeom>
          <a:solidFill>
            <a:schemeClr val="accent2"/>
          </a:solidFill>
          <a:ln w="25400">
            <a:solidFill>
              <a:schemeClr val="bg1"/>
            </a:solidFill>
            <a:prstDash val="solid"/>
          </a:ln>
        </p:spPr>
      </p:sp>
      <p:sp>
        <p:nvSpPr>
          <p:cNvPr id="13" name="cardtitle-399"/>
          <p:cNvSpPr txBox="1"/>
          <p:nvPr/>
        </p:nvSpPr>
        <p:spPr>
          <a:xfrm>
            <a:off x="1060704" y="3950208"/>
            <a:ext cx="4800600" cy="42062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03_model.py</a:t>
            </a:r>
            <a:endParaRPr lang="en-US" sz="1600" dirty="0"/>
          </a:p>
        </p:txBody>
      </p:sp>
      <p:sp>
        <p:nvSpPr>
          <p:cNvPr id="14" name="cardbody-400"/>
          <p:cNvSpPr txBox="1"/>
          <p:nvPr/>
        </p:nvSpPr>
        <p:spPr>
          <a:xfrm>
            <a:off x="731520" y="4407408"/>
            <a:ext cx="5074920" cy="156362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Step 9 onward: scores all baselines on validation</a:t>
            </a:r>
            <a:endParaRPr lang="en-US" sz="1600" dirty="0"/>
          </a:p>
          <a:p>
            <a:pPr marL="342900" indent="-342900">
              <a:spcAft>
                <a:spcPts val="400"/>
              </a:spcAft>
              <a:buSzPct val="100000"/>
              <a:buChar char="•"/>
            </a:pPr>
            <a:r>
              <a:rPr lang="en-US" sz="1600" dirty="0">
                <a:solidFill>
                  <a:schemeClr val="tx1"/>
                </a:solidFill>
              </a:rPr>
              <a:t>Will compare baselines, PVCGN and PT-PVCGN</a:t>
            </a:r>
            <a:endParaRPr lang="en-US" sz="1600" dirty="0"/>
          </a:p>
        </p:txBody>
      </p:sp>
      <p:sp>
        <p:nvSpPr>
          <p:cNvPr id="15" name="card-401"/>
          <p:cNvSpPr/>
          <p:nvPr/>
        </p:nvSpPr>
        <p:spPr>
          <a:xfrm>
            <a:off x="6172200" y="3840480"/>
            <a:ext cx="5440680" cy="2240280"/>
          </a:xfrm>
          <a:prstGeom prst="roundRect">
            <a:avLst>
              <a:gd name="adj" fmla="val 3265"/>
            </a:avLst>
          </a:prstGeom>
          <a:solidFill>
            <a:schemeClr val="bg2"/>
          </a:solidFill>
          <a:ln w="12700">
            <a:solidFill>
              <a:schemeClr val="bg2"/>
            </a:solidFill>
            <a:prstDash val="solid"/>
          </a:ln>
        </p:spPr>
      </p:sp>
      <p:sp>
        <p:nvSpPr>
          <p:cNvPr id="16" name="dot-402"/>
          <p:cNvSpPr/>
          <p:nvPr/>
        </p:nvSpPr>
        <p:spPr>
          <a:xfrm>
            <a:off x="6355080" y="4041648"/>
            <a:ext cx="237744" cy="237744"/>
          </a:xfrm>
          <a:prstGeom prst="ellipse">
            <a:avLst/>
          </a:prstGeom>
          <a:solidFill>
            <a:schemeClr val="accent1"/>
          </a:solidFill>
          <a:ln w="25400">
            <a:solidFill>
              <a:schemeClr val="bg1"/>
            </a:solidFill>
            <a:prstDash val="solid"/>
          </a:ln>
        </p:spPr>
      </p:sp>
      <p:sp>
        <p:nvSpPr>
          <p:cNvPr id="17" name="cardtitle-403"/>
          <p:cNvSpPr txBox="1"/>
          <p:nvPr/>
        </p:nvSpPr>
        <p:spPr>
          <a:xfrm>
            <a:off x="6684264" y="3950208"/>
            <a:ext cx="4800600" cy="42062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PIPELINE.md</a:t>
            </a:r>
            <a:endParaRPr lang="en-US" sz="1600" dirty="0"/>
          </a:p>
        </p:txBody>
      </p:sp>
      <p:sp>
        <p:nvSpPr>
          <p:cNvPr id="18" name="cardbody-404"/>
          <p:cNvSpPr txBox="1"/>
          <p:nvPr/>
        </p:nvSpPr>
        <p:spPr>
          <a:xfrm>
            <a:off x="6355080" y="4407408"/>
            <a:ext cx="5074920" cy="1563624"/>
          </a:xfrm>
          <a:prstGeom prst="rect">
            <a:avLst/>
          </a:prstGeom>
          <a:noFill/>
          <a:ln/>
        </p:spPr>
        <p:txBody>
          <a:bodyPr wrap="square" lIns="0" tIns="0" rIns="0" bIns="0" rtlCol="0" anchor="t"/>
          <a:lstStyle/>
          <a:p>
            <a:pPr indent="0" marL="0">
              <a:buNone/>
            </a:pPr>
            <a:r>
              <a:rPr lang="en-US" sz="1600" dirty="0">
                <a:solidFill>
                  <a:schemeClr val="tx1"/>
                </a:solidFill>
              </a:rPr>
              <a:t>The project's logbook: status of all 16 steps, review sign-offs, research gaps, decisions, figure notes</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ml_pipeline/ — saved results and records</a:t>
            </a:r>
            <a:endParaRPr lang="en-US" sz="3200" dirty="0"/>
          </a:p>
        </p:txBody>
      </p:sp>
      <p:sp>
        <p:nvSpPr>
          <p:cNvPr id="3" name="card-405"/>
          <p:cNvSpPr/>
          <p:nvPr/>
        </p:nvSpPr>
        <p:spPr>
          <a:xfrm>
            <a:off x="548640" y="1371600"/>
            <a:ext cx="5440680" cy="2286000"/>
          </a:xfrm>
          <a:prstGeom prst="roundRect">
            <a:avLst>
              <a:gd name="adj" fmla="val 3200"/>
            </a:avLst>
          </a:prstGeom>
          <a:solidFill>
            <a:schemeClr val="bg2"/>
          </a:solidFill>
          <a:ln w="12700">
            <a:solidFill>
              <a:schemeClr val="bg2"/>
            </a:solidFill>
            <a:prstDash val="solid"/>
          </a:ln>
        </p:spPr>
      </p:sp>
      <p:sp>
        <p:nvSpPr>
          <p:cNvPr id="4" name="dot-406"/>
          <p:cNvSpPr/>
          <p:nvPr/>
        </p:nvSpPr>
        <p:spPr>
          <a:xfrm>
            <a:off x="731520" y="1572768"/>
            <a:ext cx="237744" cy="237744"/>
          </a:xfrm>
          <a:prstGeom prst="ellipse">
            <a:avLst/>
          </a:prstGeom>
          <a:solidFill>
            <a:schemeClr val="accent1"/>
          </a:solidFill>
          <a:ln w="25400">
            <a:solidFill>
              <a:schemeClr val="bg1"/>
            </a:solidFill>
            <a:prstDash val="solid"/>
          </a:ln>
        </p:spPr>
      </p:sp>
      <p:sp>
        <p:nvSpPr>
          <p:cNvPr id="5" name="cardtitle-407"/>
          <p:cNvSpPr txBox="1"/>
          <p:nvPr/>
        </p:nvSpPr>
        <p:spPr>
          <a:xfrm>
            <a:off x="1060704" y="1481328"/>
            <a:ext cx="4800600" cy="42062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data_profile.json</a:t>
            </a:r>
            <a:endParaRPr lang="en-US" sz="1600" dirty="0"/>
          </a:p>
        </p:txBody>
      </p:sp>
      <p:sp>
        <p:nvSpPr>
          <p:cNvPr id="6" name="cardbody-408"/>
          <p:cNvSpPr txBox="1"/>
          <p:nvPr/>
        </p:nvSpPr>
        <p:spPr>
          <a:xfrm>
            <a:off x="731520" y="1938528"/>
            <a:ext cx="5074920" cy="1609344"/>
          </a:xfrm>
          <a:prstGeom prst="rect">
            <a:avLst/>
          </a:prstGeom>
          <a:noFill/>
          <a:ln/>
        </p:spPr>
        <p:txBody>
          <a:bodyPr wrap="square" lIns="0" tIns="0" rIns="0" bIns="0" rtlCol="0" anchor="t"/>
          <a:lstStyle/>
          <a:p>
            <a:pPr indent="0" marL="0">
              <a:buNone/>
            </a:pPr>
            <a:r>
              <a:rPr lang="en-US" sz="1600" dirty="0">
                <a:solidFill>
                  <a:schemeClr val="tx1"/>
                </a:solidFill>
              </a:rPr>
              <a:t>Output of guard.profile(): data size, column kinds, leakage checks</a:t>
            </a:r>
            <a:endParaRPr lang="en-US" sz="1600" dirty="0"/>
          </a:p>
        </p:txBody>
      </p:sp>
      <p:sp>
        <p:nvSpPr>
          <p:cNvPr id="7" name="card-409"/>
          <p:cNvSpPr/>
          <p:nvPr/>
        </p:nvSpPr>
        <p:spPr>
          <a:xfrm>
            <a:off x="6172200" y="1371600"/>
            <a:ext cx="5440680" cy="2286000"/>
          </a:xfrm>
          <a:prstGeom prst="roundRect">
            <a:avLst>
              <a:gd name="adj" fmla="val 3200"/>
            </a:avLst>
          </a:prstGeom>
          <a:solidFill>
            <a:schemeClr val="bg2"/>
          </a:solidFill>
          <a:ln w="12700">
            <a:solidFill>
              <a:schemeClr val="bg2"/>
            </a:solidFill>
            <a:prstDash val="solid"/>
          </a:ln>
        </p:spPr>
      </p:sp>
      <p:sp>
        <p:nvSpPr>
          <p:cNvPr id="8" name="dot-410"/>
          <p:cNvSpPr/>
          <p:nvPr/>
        </p:nvSpPr>
        <p:spPr>
          <a:xfrm>
            <a:off x="6355080" y="1572768"/>
            <a:ext cx="237744" cy="237744"/>
          </a:xfrm>
          <a:prstGeom prst="ellipse">
            <a:avLst/>
          </a:prstGeom>
          <a:solidFill>
            <a:schemeClr val="accent1"/>
          </a:solidFill>
          <a:ln w="25400">
            <a:solidFill>
              <a:schemeClr val="bg1"/>
            </a:solidFill>
            <a:prstDash val="solid"/>
          </a:ln>
        </p:spPr>
      </p:sp>
      <p:sp>
        <p:nvSpPr>
          <p:cNvPr id="9" name="cardtitle-411"/>
          <p:cNvSpPr txBox="1"/>
          <p:nvPr/>
        </p:nvSpPr>
        <p:spPr>
          <a:xfrm>
            <a:off x="6684264" y="1481328"/>
            <a:ext cx="4800600" cy="42062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figures/</a:t>
            </a:r>
            <a:endParaRPr lang="en-US" sz="1600" dirty="0"/>
          </a:p>
        </p:txBody>
      </p:sp>
      <p:sp>
        <p:nvSpPr>
          <p:cNvPr id="10" name="cardbody-412"/>
          <p:cNvSpPr txBox="1"/>
          <p:nvPr/>
        </p:nvSpPr>
        <p:spPr>
          <a:xfrm>
            <a:off x="6355080" y="1938528"/>
            <a:ext cx="5074920" cy="1609344"/>
          </a:xfrm>
          <a:prstGeom prst="rect">
            <a:avLst/>
          </a:prstGeom>
          <a:noFill/>
          <a:ln/>
        </p:spPr>
        <p:txBody>
          <a:bodyPr wrap="square" lIns="0" tIns="0" rIns="0" bIns="0" rtlCol="0" anchor="t"/>
          <a:lstStyle/>
          <a:p>
            <a:pPr indent="0" marL="0">
              <a:buNone/>
            </a:pPr>
            <a:r>
              <a:rPr lang="en-US" sz="1600" dirty="0">
                <a:solidFill>
                  <a:schemeClr val="tx1"/>
                </a:solidFill>
              </a:rPr>
              <a:t>Every chart, numbered by pipeline step (e.g. 02_periodicity_lags.png)</a:t>
            </a:r>
            <a:endParaRPr lang="en-US" sz="1600" dirty="0"/>
          </a:p>
        </p:txBody>
      </p:sp>
      <p:sp>
        <p:nvSpPr>
          <p:cNvPr id="11" name="card-413"/>
          <p:cNvSpPr/>
          <p:nvPr/>
        </p:nvSpPr>
        <p:spPr>
          <a:xfrm>
            <a:off x="548640" y="3840480"/>
            <a:ext cx="5440680" cy="2240280"/>
          </a:xfrm>
          <a:prstGeom prst="roundRect">
            <a:avLst>
              <a:gd name="adj" fmla="val 3265"/>
            </a:avLst>
          </a:prstGeom>
          <a:solidFill>
            <a:schemeClr val="bg2"/>
          </a:solidFill>
          <a:ln w="12700">
            <a:solidFill>
              <a:schemeClr val="bg2"/>
            </a:solidFill>
            <a:prstDash val="solid"/>
          </a:ln>
        </p:spPr>
      </p:sp>
      <p:sp>
        <p:nvSpPr>
          <p:cNvPr id="12" name="dot-414"/>
          <p:cNvSpPr/>
          <p:nvPr/>
        </p:nvSpPr>
        <p:spPr>
          <a:xfrm>
            <a:off x="731520" y="4041648"/>
            <a:ext cx="237744" cy="237744"/>
          </a:xfrm>
          <a:prstGeom prst="ellipse">
            <a:avLst/>
          </a:prstGeom>
          <a:solidFill>
            <a:schemeClr val="accent1"/>
          </a:solidFill>
          <a:ln w="25400">
            <a:solidFill>
              <a:schemeClr val="bg1"/>
            </a:solidFill>
            <a:prstDash val="solid"/>
          </a:ln>
        </p:spPr>
      </p:sp>
      <p:sp>
        <p:nvSpPr>
          <p:cNvPr id="13" name="cardtitle-415"/>
          <p:cNvSpPr txBox="1"/>
          <p:nvPr/>
        </p:nvSpPr>
        <p:spPr>
          <a:xfrm>
            <a:off x="1060704" y="3950208"/>
            <a:ext cx="4800600" cy="42062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hz/  and  sh/</a:t>
            </a:r>
            <a:endParaRPr lang="en-US" sz="1600" dirty="0"/>
          </a:p>
        </p:txBody>
      </p:sp>
      <p:sp>
        <p:nvSpPr>
          <p:cNvPr id="14" name="cardbody-416"/>
          <p:cNvSpPr txBox="1"/>
          <p:nvPr/>
        </p:nvSpPr>
        <p:spPr>
          <a:xfrm>
            <a:off x="731520" y="4407408"/>
            <a:ext cx="5074920" cy="1563624"/>
          </a:xfrm>
          <a:prstGeom prst="rect">
            <a:avLst/>
          </a:prstGeom>
          <a:noFill/>
          <a:ln/>
        </p:spPr>
        <p:txBody>
          <a:bodyPr wrap="square" lIns="0" tIns="0" rIns="0" bIns="0" rtlCol="0" anchor="t"/>
          <a:lstStyle/>
          <a:p>
            <a:pPr indent="0" marL="0">
              <a:buNone/>
            </a:pPr>
            <a:r>
              <a:rPr lang="en-US" sz="1600" dirty="0">
                <a:solidFill>
                  <a:schemeClr val="tx1"/>
                </a:solidFill>
              </a:rPr>
              <a:t>Per city: features.npz (prepared data), scaler.json, split_state.json (frozen test fingerprint)</a:t>
            </a:r>
            <a:endParaRPr lang="en-US" sz="1600" dirty="0"/>
          </a:p>
        </p:txBody>
      </p:sp>
      <p:sp>
        <p:nvSpPr>
          <p:cNvPr id="15" name="card-417"/>
          <p:cNvSpPr/>
          <p:nvPr/>
        </p:nvSpPr>
        <p:spPr>
          <a:xfrm>
            <a:off x="6172200" y="3840480"/>
            <a:ext cx="5440680" cy="2240280"/>
          </a:xfrm>
          <a:prstGeom prst="roundRect">
            <a:avLst>
              <a:gd name="adj" fmla="val 3265"/>
            </a:avLst>
          </a:prstGeom>
          <a:solidFill>
            <a:schemeClr val="bg2"/>
          </a:solidFill>
          <a:ln w="12700">
            <a:solidFill>
              <a:schemeClr val="bg2"/>
            </a:solidFill>
            <a:prstDash val="solid"/>
          </a:ln>
        </p:spPr>
      </p:sp>
      <p:sp>
        <p:nvSpPr>
          <p:cNvPr id="16" name="dot-418"/>
          <p:cNvSpPr/>
          <p:nvPr/>
        </p:nvSpPr>
        <p:spPr>
          <a:xfrm>
            <a:off x="6355080" y="4041648"/>
            <a:ext cx="237744" cy="237744"/>
          </a:xfrm>
          <a:prstGeom prst="ellipse">
            <a:avLst/>
          </a:prstGeom>
          <a:solidFill>
            <a:schemeClr val="accent1"/>
          </a:solidFill>
          <a:ln w="25400">
            <a:solidFill>
              <a:schemeClr val="bg1"/>
            </a:solidFill>
            <a:prstDash val="solid"/>
          </a:ln>
        </p:spPr>
      </p:sp>
      <p:sp>
        <p:nvSpPr>
          <p:cNvPr id="17" name="cardtitle-419"/>
          <p:cNvSpPr txBox="1"/>
          <p:nvPr/>
        </p:nvSpPr>
        <p:spPr>
          <a:xfrm>
            <a:off x="6684264" y="3950208"/>
            <a:ext cx="4800600" cy="42062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runs/</a:t>
            </a:r>
            <a:endParaRPr lang="en-US" sz="1600" dirty="0"/>
          </a:p>
        </p:txBody>
      </p:sp>
      <p:sp>
        <p:nvSpPr>
          <p:cNvPr id="18" name="cardbody-420"/>
          <p:cNvSpPr txBox="1"/>
          <p:nvPr/>
        </p:nvSpPr>
        <p:spPr>
          <a:xfrm>
            <a:off x="6355080" y="4407408"/>
            <a:ext cx="5074920" cy="156362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One .json per training run: settings and scores per epoch</a:t>
            </a:r>
            <a:endParaRPr lang="en-US" sz="1600" dirty="0"/>
          </a:p>
          <a:p>
            <a:pPr marL="342900" indent="-342900">
              <a:spcAft>
                <a:spcPts val="400"/>
              </a:spcAft>
              <a:buSzPct val="100000"/>
              <a:buChar char="•"/>
            </a:pPr>
            <a:r>
              <a:rPr lang="en-US" sz="1600" dirty="0">
                <a:solidFill>
                  <a:schemeClr val="tx1"/>
                </a:solidFill>
              </a:rPr>
              <a:t>baselines_val.json and logs/</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Other project files</a:t>
            </a:r>
            <a:endParaRPr lang="en-US" sz="3200" dirty="0"/>
          </a:p>
        </p:txBody>
      </p:sp>
      <p:sp>
        <p:nvSpPr>
          <p:cNvPr id="3" name="card-421"/>
          <p:cNvSpPr/>
          <p:nvPr/>
        </p:nvSpPr>
        <p:spPr>
          <a:xfrm>
            <a:off x="548640" y="1371600"/>
            <a:ext cx="5440680" cy="2286000"/>
          </a:xfrm>
          <a:prstGeom prst="roundRect">
            <a:avLst>
              <a:gd name="adj" fmla="val 3200"/>
            </a:avLst>
          </a:prstGeom>
          <a:solidFill>
            <a:schemeClr val="bg2"/>
          </a:solidFill>
          <a:ln w="12700">
            <a:solidFill>
              <a:schemeClr val="bg2"/>
            </a:solidFill>
            <a:prstDash val="solid"/>
          </a:ln>
        </p:spPr>
      </p:sp>
      <p:sp>
        <p:nvSpPr>
          <p:cNvPr id="4" name="dot-422"/>
          <p:cNvSpPr/>
          <p:nvPr/>
        </p:nvSpPr>
        <p:spPr>
          <a:xfrm>
            <a:off x="731520" y="1572768"/>
            <a:ext cx="237744" cy="237744"/>
          </a:xfrm>
          <a:prstGeom prst="ellipse">
            <a:avLst/>
          </a:prstGeom>
          <a:solidFill>
            <a:schemeClr val="accent2"/>
          </a:solidFill>
          <a:ln w="25400">
            <a:solidFill>
              <a:schemeClr val="bg1"/>
            </a:solidFill>
            <a:prstDash val="solid"/>
          </a:ln>
        </p:spPr>
      </p:sp>
      <p:sp>
        <p:nvSpPr>
          <p:cNvPr id="5" name="cardtitle-423"/>
          <p:cNvSpPr txBox="1"/>
          <p:nvPr/>
        </p:nvSpPr>
        <p:spPr>
          <a:xfrm>
            <a:off x="1060704" y="1481328"/>
            <a:ext cx="4800600" cy="42062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tests/test_equivalence.py</a:t>
            </a:r>
            <a:endParaRPr lang="en-US" sz="1600" dirty="0"/>
          </a:p>
        </p:txBody>
      </p:sp>
      <p:sp>
        <p:nvSpPr>
          <p:cNvPr id="6" name="cardbody-424"/>
          <p:cNvSpPr txBox="1"/>
          <p:nvPr/>
        </p:nvSpPr>
        <p:spPr>
          <a:xfrm>
            <a:off x="731520" y="1938528"/>
            <a:ext cx="5074920" cy="160934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Copies the same weights into our PVCGN and the authors' PVCGN</a:t>
            </a:r>
            <a:endParaRPr lang="en-US" sz="1600" dirty="0"/>
          </a:p>
          <a:p>
            <a:pPr marL="342900" indent="-342900">
              <a:spcAft>
                <a:spcPts val="400"/>
              </a:spcAft>
              <a:buSzPct val="100000"/>
              <a:buChar char="•"/>
            </a:pPr>
            <a:r>
              <a:rPr lang="en-US" sz="1600" dirty="0">
                <a:solidFill>
                  <a:schemeClr val="tx1"/>
                </a:solidFill>
              </a:rPr>
              <a:t>Checks both give the same output (to 1e-5)</a:t>
            </a:r>
            <a:endParaRPr lang="en-US" sz="1600" dirty="0"/>
          </a:p>
        </p:txBody>
      </p:sp>
      <p:sp>
        <p:nvSpPr>
          <p:cNvPr id="7" name="card-425"/>
          <p:cNvSpPr/>
          <p:nvPr/>
        </p:nvSpPr>
        <p:spPr>
          <a:xfrm>
            <a:off x="6172200" y="1371600"/>
            <a:ext cx="5440680" cy="2286000"/>
          </a:xfrm>
          <a:prstGeom prst="roundRect">
            <a:avLst>
              <a:gd name="adj" fmla="val 3200"/>
            </a:avLst>
          </a:prstGeom>
          <a:solidFill>
            <a:schemeClr val="bg2"/>
          </a:solidFill>
          <a:ln w="12700">
            <a:solidFill>
              <a:schemeClr val="bg2"/>
            </a:solidFill>
            <a:prstDash val="solid"/>
          </a:ln>
        </p:spPr>
      </p:sp>
      <p:sp>
        <p:nvSpPr>
          <p:cNvPr id="8" name="dot-426"/>
          <p:cNvSpPr/>
          <p:nvPr/>
        </p:nvSpPr>
        <p:spPr>
          <a:xfrm>
            <a:off x="6355080" y="1572768"/>
            <a:ext cx="237744" cy="237744"/>
          </a:xfrm>
          <a:prstGeom prst="ellipse">
            <a:avLst/>
          </a:prstGeom>
          <a:solidFill>
            <a:schemeClr val="accent2"/>
          </a:solidFill>
          <a:ln w="25400">
            <a:solidFill>
              <a:schemeClr val="bg1"/>
            </a:solidFill>
            <a:prstDash val="solid"/>
          </a:ln>
        </p:spPr>
      </p:sp>
      <p:sp>
        <p:nvSpPr>
          <p:cNvPr id="9" name="cardtitle-427"/>
          <p:cNvSpPr txBox="1"/>
          <p:nvPr/>
        </p:nvSpPr>
        <p:spPr>
          <a:xfrm>
            <a:off x="6684264" y="1481328"/>
            <a:ext cx="4800600" cy="42062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run_queue.sh</a:t>
            </a:r>
            <a:endParaRPr lang="en-US" sz="1600" dirty="0"/>
          </a:p>
        </p:txBody>
      </p:sp>
      <p:sp>
        <p:nvSpPr>
          <p:cNvPr id="10" name="cardbody-428"/>
          <p:cNvSpPr txBox="1"/>
          <p:nvPr/>
        </p:nvSpPr>
        <p:spPr>
          <a:xfrm>
            <a:off x="6355080" y="1938528"/>
            <a:ext cx="5074920" cy="160934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Runs every training job one after another</a:t>
            </a:r>
            <a:endParaRPr lang="en-US" sz="1600" dirty="0"/>
          </a:p>
          <a:p>
            <a:pPr marL="342900" indent="-342900">
              <a:spcAft>
                <a:spcPts val="400"/>
              </a:spcAft>
              <a:buSzPct val="100000"/>
              <a:buChar char="•"/>
            </a:pPr>
            <a:r>
              <a:rPr lang="en-US" sz="1600" dirty="0">
                <a:solidFill>
                  <a:schemeClr val="tx1"/>
                </a:solidFill>
              </a:rPr>
              <a:t>Skips jobs already finished, so it can restart safely</a:t>
            </a:r>
            <a:endParaRPr lang="en-US" sz="1600" dirty="0"/>
          </a:p>
        </p:txBody>
      </p:sp>
      <p:sp>
        <p:nvSpPr>
          <p:cNvPr id="11" name="card-429"/>
          <p:cNvSpPr/>
          <p:nvPr/>
        </p:nvSpPr>
        <p:spPr>
          <a:xfrm>
            <a:off x="548640" y="3840480"/>
            <a:ext cx="5440680" cy="2240280"/>
          </a:xfrm>
          <a:prstGeom prst="roundRect">
            <a:avLst>
              <a:gd name="adj" fmla="val 3265"/>
            </a:avLst>
          </a:prstGeom>
          <a:solidFill>
            <a:schemeClr val="bg2"/>
          </a:solidFill>
          <a:ln w="12700">
            <a:solidFill>
              <a:schemeClr val="bg2"/>
            </a:solidFill>
            <a:prstDash val="solid"/>
          </a:ln>
        </p:spPr>
      </p:sp>
      <p:sp>
        <p:nvSpPr>
          <p:cNvPr id="12" name="dot-430"/>
          <p:cNvSpPr/>
          <p:nvPr/>
        </p:nvSpPr>
        <p:spPr>
          <a:xfrm>
            <a:off x="731520" y="4041648"/>
            <a:ext cx="237744" cy="237744"/>
          </a:xfrm>
          <a:prstGeom prst="ellipse">
            <a:avLst/>
          </a:prstGeom>
          <a:solidFill>
            <a:schemeClr val="accent1"/>
          </a:solidFill>
          <a:ln w="25400">
            <a:solidFill>
              <a:schemeClr val="bg1"/>
            </a:solidFill>
            <a:prstDash val="solid"/>
          </a:ln>
        </p:spPr>
      </p:sp>
      <p:sp>
        <p:nvSpPr>
          <p:cNvPr id="13" name="cardtitle-431"/>
          <p:cNvSpPr txBox="1"/>
          <p:nvPr/>
        </p:nvSpPr>
        <p:spPr>
          <a:xfrm>
            <a:off x="1060704" y="3950208"/>
            <a:ext cx="4800600" cy="42062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paper/main.tex · refs.bib</a:t>
            </a:r>
            <a:endParaRPr lang="en-US" sz="1600" dirty="0"/>
          </a:p>
        </p:txBody>
      </p:sp>
      <p:sp>
        <p:nvSpPr>
          <p:cNvPr id="14" name="cardbody-432"/>
          <p:cNvSpPr txBox="1"/>
          <p:nvPr/>
        </p:nvSpPr>
        <p:spPr>
          <a:xfrm>
            <a:off x="731520" y="4407408"/>
            <a:ext cx="5074920" cy="156362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Draft of the new paper (IEEE format) and its bibliography</a:t>
            </a:r>
            <a:endParaRPr lang="en-US" sz="1600" dirty="0"/>
          </a:p>
          <a:p>
            <a:pPr marL="342900" indent="-342900">
              <a:spcAft>
                <a:spcPts val="400"/>
              </a:spcAft>
              <a:buSzPct val="100000"/>
              <a:buChar char="•"/>
            </a:pPr>
            <a:r>
              <a:rPr lang="en-US" sz="1600" dirty="0">
                <a:solidFill>
                  <a:schemeClr val="tx1"/>
                </a:solidFill>
              </a:rPr>
              <a:t>Results sections fill in after the final test</a:t>
            </a:r>
            <a:endParaRPr lang="en-US" sz="1600" dirty="0"/>
          </a:p>
        </p:txBody>
      </p:sp>
      <p:sp>
        <p:nvSpPr>
          <p:cNvPr id="15" name="card-433"/>
          <p:cNvSpPr/>
          <p:nvPr/>
        </p:nvSpPr>
        <p:spPr>
          <a:xfrm>
            <a:off x="6172200" y="3840480"/>
            <a:ext cx="5440680" cy="2240280"/>
          </a:xfrm>
          <a:prstGeom prst="roundRect">
            <a:avLst>
              <a:gd name="adj" fmla="val 3265"/>
            </a:avLst>
          </a:prstGeom>
          <a:solidFill>
            <a:schemeClr val="bg2"/>
          </a:solidFill>
          <a:ln w="12700">
            <a:solidFill>
              <a:schemeClr val="bg2"/>
            </a:solidFill>
            <a:prstDash val="solid"/>
          </a:ln>
        </p:spPr>
      </p:sp>
      <p:sp>
        <p:nvSpPr>
          <p:cNvPr id="16" name="dot-434"/>
          <p:cNvSpPr/>
          <p:nvPr/>
        </p:nvSpPr>
        <p:spPr>
          <a:xfrm>
            <a:off x="6355080" y="4041648"/>
            <a:ext cx="237744" cy="237744"/>
          </a:xfrm>
          <a:prstGeom prst="ellipse">
            <a:avLst/>
          </a:prstGeom>
          <a:solidFill>
            <a:schemeClr val="accent4"/>
          </a:solidFill>
          <a:ln w="25400">
            <a:solidFill>
              <a:schemeClr val="bg1"/>
            </a:solidFill>
            <a:prstDash val="solid"/>
          </a:ln>
        </p:spPr>
      </p:sp>
      <p:sp>
        <p:nvSpPr>
          <p:cNvPr id="17" name="cardtitle-435"/>
          <p:cNvSpPr txBox="1"/>
          <p:nvPr/>
        </p:nvSpPr>
        <p:spPr>
          <a:xfrm>
            <a:off x="6684264" y="3950208"/>
            <a:ext cx="4800600" cy="42062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.gitignore · .venv/ · checkpoints/</a:t>
            </a:r>
            <a:endParaRPr lang="en-US" sz="1600" dirty="0"/>
          </a:p>
        </p:txBody>
      </p:sp>
      <p:sp>
        <p:nvSpPr>
          <p:cNvPr id="18" name="cardbody-436"/>
          <p:cNvSpPr txBox="1"/>
          <p:nvPr/>
        </p:nvSpPr>
        <p:spPr>
          <a:xfrm>
            <a:off x="6355080" y="4407408"/>
            <a:ext cx="5074920" cy="1563624"/>
          </a:xfrm>
          <a:prstGeom prst="rect">
            <a:avLst/>
          </a:prstGeom>
          <a:noFill/>
          <a:ln/>
        </p:spPr>
        <p:txBody>
          <a:bodyPr wrap="square" lIns="0" tIns="0" rIns="0" bIns="0" rtlCol="0" anchor="t"/>
          <a:lstStyle/>
          <a:p>
            <a:pPr indent="0" marL="0">
              <a:buNone/>
            </a:pPr>
            <a:r>
              <a:rPr lang="en-US" sz="1600" dirty="0">
                <a:solidFill>
                  <a:schemeClr val="tx1"/>
                </a:solidFill>
              </a:rPr>
              <a:t>Files kept out of git; the Python environment; saved model weights</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reference_PVCGN/ — the authors' original code</a:t>
            </a:r>
            <a:endParaRPr lang="en-US" sz="3200" dirty="0"/>
          </a:p>
        </p:txBody>
      </p:sp>
      <p:sp>
        <p:nvSpPr>
          <p:cNvPr id="3" name="card-437"/>
          <p:cNvSpPr/>
          <p:nvPr/>
        </p:nvSpPr>
        <p:spPr>
          <a:xfrm>
            <a:off x="548640" y="1371600"/>
            <a:ext cx="3566160" cy="2194560"/>
          </a:xfrm>
          <a:prstGeom prst="roundRect">
            <a:avLst>
              <a:gd name="adj" fmla="val 3333"/>
            </a:avLst>
          </a:prstGeom>
          <a:solidFill>
            <a:schemeClr val="bg2"/>
          </a:solidFill>
          <a:ln w="12700">
            <a:solidFill>
              <a:schemeClr val="bg2"/>
            </a:solidFill>
            <a:prstDash val="solid"/>
          </a:ln>
        </p:spPr>
      </p:sp>
      <p:sp>
        <p:nvSpPr>
          <p:cNvPr id="4" name="dot-438"/>
          <p:cNvSpPr/>
          <p:nvPr/>
        </p:nvSpPr>
        <p:spPr>
          <a:xfrm>
            <a:off x="731520" y="1572768"/>
            <a:ext cx="237744" cy="237744"/>
          </a:xfrm>
          <a:prstGeom prst="ellipse">
            <a:avLst/>
          </a:prstGeom>
          <a:solidFill>
            <a:schemeClr val="accent4"/>
          </a:solidFill>
          <a:ln w="25400">
            <a:solidFill>
              <a:schemeClr val="bg1"/>
            </a:solidFill>
            <a:prstDash val="solid"/>
          </a:ln>
        </p:spPr>
      </p:sp>
      <p:sp>
        <p:nvSpPr>
          <p:cNvPr id="5" name="cardtitle-439"/>
          <p:cNvSpPr txBox="1"/>
          <p:nvPr/>
        </p:nvSpPr>
        <p:spPr>
          <a:xfrm>
            <a:off x="1060704" y="1481328"/>
            <a:ext cx="2926080" cy="420624"/>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ggnn/multigraph.py</a:t>
            </a:r>
            <a:endParaRPr lang="en-US" sz="1400" dirty="0"/>
          </a:p>
        </p:txBody>
      </p:sp>
      <p:sp>
        <p:nvSpPr>
          <p:cNvPr id="6" name="cardbody-440"/>
          <p:cNvSpPr txBox="1"/>
          <p:nvPr/>
        </p:nvSpPr>
        <p:spPr>
          <a:xfrm>
            <a:off x="731520" y="1938528"/>
            <a:ext cx="3200400" cy="1517904"/>
          </a:xfrm>
          <a:prstGeom prst="rect">
            <a:avLst/>
          </a:prstGeom>
          <a:noFill/>
          <a:ln/>
        </p:spPr>
        <p:txBody>
          <a:bodyPr wrap="square" lIns="0" tIns="0" rIns="0" bIns="0" rtlCol="0" anchor="t"/>
          <a:lstStyle/>
          <a:p>
            <a:pPr indent="0" marL="0">
              <a:buNone/>
            </a:pPr>
            <a:r>
              <a:rPr lang="en-US" sz="1600" dirty="0">
                <a:solidFill>
                  <a:schemeClr val="tx1"/>
                </a:solidFill>
              </a:rPr>
              <a:t>PVCGN model: GGRU cell (GC-GRU + FC-GRU) and the encoder–decoder</a:t>
            </a:r>
            <a:endParaRPr lang="en-US" sz="1600" dirty="0"/>
          </a:p>
        </p:txBody>
      </p:sp>
      <p:sp>
        <p:nvSpPr>
          <p:cNvPr id="7" name="card-441"/>
          <p:cNvSpPr/>
          <p:nvPr/>
        </p:nvSpPr>
        <p:spPr>
          <a:xfrm>
            <a:off x="4297680" y="1371600"/>
            <a:ext cx="3566160" cy="2194560"/>
          </a:xfrm>
          <a:prstGeom prst="roundRect">
            <a:avLst>
              <a:gd name="adj" fmla="val 3333"/>
            </a:avLst>
          </a:prstGeom>
          <a:solidFill>
            <a:schemeClr val="bg2"/>
          </a:solidFill>
          <a:ln w="12700">
            <a:solidFill>
              <a:schemeClr val="bg2"/>
            </a:solidFill>
            <a:prstDash val="solid"/>
          </a:ln>
        </p:spPr>
      </p:sp>
      <p:sp>
        <p:nvSpPr>
          <p:cNvPr id="8" name="dot-442"/>
          <p:cNvSpPr/>
          <p:nvPr/>
        </p:nvSpPr>
        <p:spPr>
          <a:xfrm>
            <a:off x="4480560" y="1572768"/>
            <a:ext cx="237744" cy="237744"/>
          </a:xfrm>
          <a:prstGeom prst="ellipse">
            <a:avLst/>
          </a:prstGeom>
          <a:solidFill>
            <a:schemeClr val="accent4"/>
          </a:solidFill>
          <a:ln w="25400">
            <a:solidFill>
              <a:schemeClr val="bg1"/>
            </a:solidFill>
            <a:prstDash val="solid"/>
          </a:ln>
        </p:spPr>
      </p:sp>
      <p:sp>
        <p:nvSpPr>
          <p:cNvPr id="9" name="cardtitle-443"/>
          <p:cNvSpPr txBox="1"/>
          <p:nvPr/>
        </p:nvSpPr>
        <p:spPr>
          <a:xfrm>
            <a:off x="4809744" y="1481328"/>
            <a:ext cx="2926080" cy="420624"/>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ggnn/rgcn.py</a:t>
            </a:r>
            <a:endParaRPr lang="en-US" sz="1400" dirty="0"/>
          </a:p>
        </p:txBody>
      </p:sp>
      <p:sp>
        <p:nvSpPr>
          <p:cNvPr id="10" name="cardbody-444"/>
          <p:cNvSpPr txBox="1"/>
          <p:nvPr/>
        </p:nvSpPr>
        <p:spPr>
          <a:xfrm>
            <a:off x="4480560" y="1938528"/>
            <a:ext cx="3200400" cy="1517904"/>
          </a:xfrm>
          <a:prstGeom prst="rect">
            <a:avLst/>
          </a:prstGeom>
          <a:noFill/>
          <a:ln/>
        </p:spPr>
        <p:txBody>
          <a:bodyPr wrap="square" lIns="0" tIns="0" rIns="0" bIns="0" rtlCol="0" anchor="t"/>
          <a:lstStyle/>
          <a:p>
            <a:pPr indent="0" marL="0">
              <a:buNone/>
            </a:pPr>
            <a:r>
              <a:rPr lang="en-US" sz="1600" dirty="0">
                <a:solidFill>
                  <a:schemeClr val="tx1"/>
                </a:solidFill>
              </a:rPr>
              <a:t>Relational graph convolution layer (one weight per graph)</a:t>
            </a:r>
            <a:endParaRPr lang="en-US" sz="1600" dirty="0"/>
          </a:p>
        </p:txBody>
      </p:sp>
      <p:sp>
        <p:nvSpPr>
          <p:cNvPr id="11" name="card-445"/>
          <p:cNvSpPr/>
          <p:nvPr/>
        </p:nvSpPr>
        <p:spPr>
          <a:xfrm>
            <a:off x="8046720" y="1371600"/>
            <a:ext cx="3566160" cy="2194560"/>
          </a:xfrm>
          <a:prstGeom prst="roundRect">
            <a:avLst>
              <a:gd name="adj" fmla="val 3333"/>
            </a:avLst>
          </a:prstGeom>
          <a:solidFill>
            <a:schemeClr val="bg2"/>
          </a:solidFill>
          <a:ln w="12700">
            <a:solidFill>
              <a:schemeClr val="bg2"/>
            </a:solidFill>
            <a:prstDash val="solid"/>
          </a:ln>
        </p:spPr>
      </p:sp>
      <p:sp>
        <p:nvSpPr>
          <p:cNvPr id="12" name="dot-446"/>
          <p:cNvSpPr/>
          <p:nvPr/>
        </p:nvSpPr>
        <p:spPr>
          <a:xfrm>
            <a:off x="8229600" y="1572768"/>
            <a:ext cx="237744" cy="237744"/>
          </a:xfrm>
          <a:prstGeom prst="ellipse">
            <a:avLst/>
          </a:prstGeom>
          <a:solidFill>
            <a:schemeClr val="accent4"/>
          </a:solidFill>
          <a:ln w="25400">
            <a:solidFill>
              <a:schemeClr val="bg1"/>
            </a:solidFill>
            <a:prstDash val="solid"/>
          </a:ln>
        </p:spPr>
      </p:sp>
      <p:sp>
        <p:nvSpPr>
          <p:cNvPr id="13" name="cardtitle-447"/>
          <p:cNvSpPr txBox="1"/>
          <p:nvPr/>
        </p:nvSpPr>
        <p:spPr>
          <a:xfrm>
            <a:off x="8558784" y="1481328"/>
            <a:ext cx="2926080" cy="420624"/>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ggnn_train.py</a:t>
            </a:r>
            <a:endParaRPr lang="en-US" sz="1400" dirty="0"/>
          </a:p>
        </p:txBody>
      </p:sp>
      <p:sp>
        <p:nvSpPr>
          <p:cNvPr id="14" name="cardbody-448"/>
          <p:cNvSpPr txBox="1"/>
          <p:nvPr/>
        </p:nvSpPr>
        <p:spPr>
          <a:xfrm>
            <a:off x="8229600" y="1938528"/>
            <a:ext cx="3200400" cy="1517904"/>
          </a:xfrm>
          <a:prstGeom prst="rect">
            <a:avLst/>
          </a:prstGeom>
          <a:noFill/>
          <a:ln/>
        </p:spPr>
        <p:txBody>
          <a:bodyPr wrap="square" lIns="0" tIns="0" rIns="0" bIns="0" rtlCol="0" anchor="t"/>
          <a:lstStyle/>
          <a:p>
            <a:pPr indent="0" marL="0">
              <a:buNone/>
            </a:pPr>
            <a:r>
              <a:rPr lang="en-US" sz="1600" dirty="0">
                <a:solidFill>
                  <a:schemeClr val="tx1"/>
                </a:solidFill>
              </a:rPr>
              <a:t>Original training script; YAML configs in data/model/</a:t>
            </a:r>
            <a:endParaRPr lang="en-US" sz="1600" dirty="0"/>
          </a:p>
        </p:txBody>
      </p:sp>
      <p:sp>
        <p:nvSpPr>
          <p:cNvPr id="15" name="card-449"/>
          <p:cNvSpPr/>
          <p:nvPr/>
        </p:nvSpPr>
        <p:spPr>
          <a:xfrm>
            <a:off x="548640" y="3749040"/>
            <a:ext cx="3566160" cy="2194560"/>
          </a:xfrm>
          <a:prstGeom prst="roundRect">
            <a:avLst>
              <a:gd name="adj" fmla="val 3333"/>
            </a:avLst>
          </a:prstGeom>
          <a:solidFill>
            <a:schemeClr val="bg2"/>
          </a:solidFill>
          <a:ln w="12700">
            <a:solidFill>
              <a:schemeClr val="bg2"/>
            </a:solidFill>
            <a:prstDash val="solid"/>
          </a:ln>
        </p:spPr>
      </p:sp>
      <p:sp>
        <p:nvSpPr>
          <p:cNvPr id="16" name="dot-450"/>
          <p:cNvSpPr/>
          <p:nvPr/>
        </p:nvSpPr>
        <p:spPr>
          <a:xfrm>
            <a:off x="731520" y="3950208"/>
            <a:ext cx="237744" cy="237744"/>
          </a:xfrm>
          <a:prstGeom prst="ellipse">
            <a:avLst/>
          </a:prstGeom>
          <a:solidFill>
            <a:schemeClr val="accent4"/>
          </a:solidFill>
          <a:ln w="25400">
            <a:solidFill>
              <a:schemeClr val="bg1"/>
            </a:solidFill>
            <a:prstDash val="solid"/>
          </a:ln>
        </p:spPr>
      </p:sp>
      <p:sp>
        <p:nvSpPr>
          <p:cNvPr id="17" name="cardtitle-451"/>
          <p:cNvSpPr txBox="1"/>
          <p:nvPr/>
        </p:nvSpPr>
        <p:spPr>
          <a:xfrm>
            <a:off x="1060704" y="3858768"/>
            <a:ext cx="2926080" cy="420624"/>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ggnn_evaluation*.py</a:t>
            </a:r>
            <a:endParaRPr lang="en-US" sz="1400" dirty="0"/>
          </a:p>
        </p:txBody>
      </p:sp>
      <p:sp>
        <p:nvSpPr>
          <p:cNvPr id="18" name="cardbody-452"/>
          <p:cNvSpPr txBox="1"/>
          <p:nvPr/>
        </p:nvSpPr>
        <p:spPr>
          <a:xfrm>
            <a:off x="731520" y="4315968"/>
            <a:ext cx="3200400" cy="1517904"/>
          </a:xfrm>
          <a:prstGeom prst="rect">
            <a:avLst/>
          </a:prstGeom>
          <a:noFill/>
          <a:ln/>
        </p:spPr>
        <p:txBody>
          <a:bodyPr wrap="square" lIns="0" tIns="0" rIns="0" bIns="0" rtlCol="0" anchor="t"/>
          <a:lstStyle/>
          <a:p>
            <a:pPr indent="0" marL="0">
              <a:buNone/>
            </a:pPr>
            <a:r>
              <a:rPr lang="en-US" sz="1600" dirty="0">
                <a:solidFill>
                  <a:schemeClr val="tx1"/>
                </a:solidFill>
              </a:rPr>
              <a:t>Original evaluation: all data, rush hours, top stations</a:t>
            </a:r>
            <a:endParaRPr lang="en-US" sz="1600" dirty="0"/>
          </a:p>
        </p:txBody>
      </p:sp>
      <p:sp>
        <p:nvSpPr>
          <p:cNvPr id="19" name="card-453"/>
          <p:cNvSpPr/>
          <p:nvPr/>
        </p:nvSpPr>
        <p:spPr>
          <a:xfrm>
            <a:off x="4297680" y="3749040"/>
            <a:ext cx="3566160" cy="2194560"/>
          </a:xfrm>
          <a:prstGeom prst="roundRect">
            <a:avLst>
              <a:gd name="adj" fmla="val 3333"/>
            </a:avLst>
          </a:prstGeom>
          <a:solidFill>
            <a:schemeClr val="bg2"/>
          </a:solidFill>
          <a:ln w="12700">
            <a:solidFill>
              <a:schemeClr val="bg2"/>
            </a:solidFill>
            <a:prstDash val="solid"/>
          </a:ln>
        </p:spPr>
      </p:sp>
      <p:sp>
        <p:nvSpPr>
          <p:cNvPr id="20" name="dot-454"/>
          <p:cNvSpPr/>
          <p:nvPr/>
        </p:nvSpPr>
        <p:spPr>
          <a:xfrm>
            <a:off x="4480560" y="3950208"/>
            <a:ext cx="237744" cy="237744"/>
          </a:xfrm>
          <a:prstGeom prst="ellipse">
            <a:avLst/>
          </a:prstGeom>
          <a:solidFill>
            <a:schemeClr val="accent4"/>
          </a:solidFill>
          <a:ln w="25400">
            <a:solidFill>
              <a:schemeClr val="bg1"/>
            </a:solidFill>
            <a:prstDash val="solid"/>
          </a:ln>
        </p:spPr>
      </p:sp>
      <p:sp>
        <p:nvSpPr>
          <p:cNvPr id="21" name="cardtitle-455"/>
          <p:cNvSpPr txBox="1"/>
          <p:nvPr/>
        </p:nvSpPr>
        <p:spPr>
          <a:xfrm>
            <a:off x="4809744" y="3858768"/>
            <a:ext cx="2926080" cy="420624"/>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ggnn_utils.py · lib/</a:t>
            </a:r>
            <a:endParaRPr lang="en-US" sz="1400" dirty="0"/>
          </a:p>
        </p:txBody>
      </p:sp>
      <p:sp>
        <p:nvSpPr>
          <p:cNvPr id="22" name="cardbody-456"/>
          <p:cNvSpPr txBox="1"/>
          <p:nvPr/>
        </p:nvSpPr>
        <p:spPr>
          <a:xfrm>
            <a:off x="4480560" y="4315968"/>
            <a:ext cx="3200400" cy="1517904"/>
          </a:xfrm>
          <a:prstGeom prst="rect">
            <a:avLst/>
          </a:prstGeom>
          <a:noFill/>
          <a:ln/>
        </p:spPr>
        <p:txBody>
          <a:bodyPr wrap="square" lIns="0" tIns="0" rIns="0" bIns="0" rtlCol="0" anchor="t"/>
          <a:lstStyle/>
          <a:p>
            <a:pPr indent="0" marL="0">
              <a:buNone/>
            </a:pPr>
            <a:r>
              <a:rPr lang="en-US" sz="1600" dirty="0">
                <a:solidFill>
                  <a:schemeClr val="tx1"/>
                </a:solidFill>
              </a:rPr>
              <a:t>Batching (torch_geometric), data loading, scaler, metrics</a:t>
            </a:r>
            <a:endParaRPr lang="en-US" sz="1600" dirty="0"/>
          </a:p>
        </p:txBody>
      </p:sp>
      <p:sp>
        <p:nvSpPr>
          <p:cNvPr id="23" name="card-457"/>
          <p:cNvSpPr/>
          <p:nvPr/>
        </p:nvSpPr>
        <p:spPr>
          <a:xfrm>
            <a:off x="8046720" y="3749040"/>
            <a:ext cx="3566160" cy="2194560"/>
          </a:xfrm>
          <a:prstGeom prst="roundRect">
            <a:avLst>
              <a:gd name="adj" fmla="val 3333"/>
            </a:avLst>
          </a:prstGeom>
          <a:solidFill>
            <a:schemeClr val="bg2"/>
          </a:solidFill>
          <a:ln w="12700">
            <a:solidFill>
              <a:schemeClr val="bg2"/>
            </a:solidFill>
            <a:prstDash val="solid"/>
          </a:ln>
        </p:spPr>
      </p:sp>
      <p:sp>
        <p:nvSpPr>
          <p:cNvPr id="24" name="dot-458"/>
          <p:cNvSpPr/>
          <p:nvPr/>
        </p:nvSpPr>
        <p:spPr>
          <a:xfrm>
            <a:off x="8229600" y="3950208"/>
            <a:ext cx="237744" cy="237744"/>
          </a:xfrm>
          <a:prstGeom prst="ellipse">
            <a:avLst/>
          </a:prstGeom>
          <a:solidFill>
            <a:schemeClr val="accent4"/>
          </a:solidFill>
          <a:ln w="25400">
            <a:solidFill>
              <a:schemeClr val="bg1"/>
            </a:solidFill>
            <a:prstDash val="solid"/>
          </a:ln>
        </p:spPr>
      </p:sp>
      <p:sp>
        <p:nvSpPr>
          <p:cNvPr id="25" name="cardtitle-459"/>
          <p:cNvSpPr txBox="1"/>
          <p:nvPr/>
        </p:nvSpPr>
        <p:spPr>
          <a:xfrm>
            <a:off x="8558784" y="3858768"/>
            <a:ext cx="2926080" cy="420624"/>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data/</a:t>
            </a:r>
            <a:endParaRPr lang="en-US" sz="1400" dirty="0"/>
          </a:p>
        </p:txBody>
      </p:sp>
      <p:sp>
        <p:nvSpPr>
          <p:cNvPr id="26" name="cardbody-460"/>
          <p:cNvSpPr txBox="1"/>
          <p:nvPr/>
        </p:nvSpPr>
        <p:spPr>
          <a:xfrm>
            <a:off x="8229600" y="4315968"/>
            <a:ext cx="3200400" cy="1517904"/>
          </a:xfrm>
          <a:prstGeom prst="rect">
            <a:avLst/>
          </a:prstGeom>
          <a:noFill/>
          <a:ln/>
        </p:spPr>
        <p:txBody>
          <a:bodyPr wrap="square" lIns="0" tIns="0" rIns="0" bIns="0" rtlCol="0" anchor="t"/>
          <a:lstStyle/>
          <a:p>
            <a:pPr indent="0" marL="0">
              <a:buNone/>
            </a:pPr>
            <a:r>
              <a:rPr lang="en-US" sz="1600" dirty="0">
                <a:solidFill>
                  <a:schemeClr val="tx1"/>
                </a:solidFill>
              </a:rPr>
              <a:t>Released datasets (.pkl) and the three graphs per city</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2377440" y="2377440"/>
            <a:ext cx="9144000" cy="1097280"/>
          </a:xfrm>
          <a:prstGeom prst="rect">
            <a:avLst/>
          </a:prstGeom>
          <a:noFill/>
          <a:ln/>
        </p:spPr>
        <p:txBody>
          <a:bodyPr wrap="square"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Final results</a:t>
            </a:r>
            <a:endParaRPr lang="en-US" sz="4000" dirty="0"/>
          </a:p>
        </p:txBody>
      </p:sp>
      <p:sp>
        <p:nvSpPr>
          <p:cNvPr id="3" name="Text 0"/>
          <p:cNvSpPr/>
          <p:nvPr>
            <p:ph idx="101" type="body" hasCustomPrompt="1"/>
          </p:nvPr>
        </p:nvSpPr>
        <p:spPr>
          <a:xfrm>
            <a:off x="2377440" y="3474720"/>
            <a:ext cx="9144000" cy="914400"/>
          </a:xfrm>
          <a:prstGeom prst="rect">
            <a:avLst/>
          </a:prstGeom>
          <a:noFill/>
          <a:ln/>
        </p:spPr>
        <p:txBody>
          <a:bodyPr wrap="square" rtlCol="0" anchor="t"/>
          <a:lstStyle/>
          <a:p>
            <a:pPr algn="l" indent="0" marL="0">
              <a:buNone/>
            </a:pPr>
            <a:r>
              <a:rPr lang="en-US" sz="1800" dirty="0">
                <a:solidFill>
                  <a:schemeClr val="accent6"/>
                </a:solidFill>
              </a:rPr>
              <a:t>Test set of each city evaluated once, all models together, after every choice was made on validation</a:t>
            </a:r>
            <a:endParaRPr lang="en-US" sz="1800" dirty="0"/>
          </a:p>
        </p:txBody>
      </p:sp>
      <p:sp>
        <p:nvSpPr>
          <p:cNvPr id="4" name="dot-461"/>
          <p:cNvSpPr/>
          <p:nvPr/>
        </p:nvSpPr>
        <p:spPr>
          <a:xfrm>
            <a:off x="822960" y="2514600"/>
            <a:ext cx="1097280" cy="1097280"/>
          </a:xfrm>
          <a:prstGeom prst="ellipse">
            <a:avLst/>
          </a:prstGeom>
          <a:solidFill>
            <a:schemeClr val="accent2"/>
          </a:solidFill>
          <a:ln w="25400">
            <a:solidFill>
              <a:schemeClr val="bg1"/>
            </a:solidFill>
            <a:prstDash val="solid"/>
          </a:ln>
        </p:spPr>
      </p:sp>
      <p:sp>
        <p:nvSpPr>
          <p:cNvPr id="5" name="dotlabel-462"/>
          <p:cNvSpPr txBox="1"/>
          <p:nvPr/>
        </p:nvSpPr>
        <p:spPr>
          <a:xfrm>
            <a:off x="822960" y="2514600"/>
            <a:ext cx="1097280" cy="1097280"/>
          </a:xfrm>
          <a:prstGeom prst="rect">
            <a:avLst/>
          </a:prstGeom>
          <a:noFill/>
          <a:ln/>
        </p:spPr>
        <p:txBody>
          <a:bodyPr wrap="square" lIns="0" tIns="0" rIns="0" bIns="0" rtlCol="0" anchor="ctr"/>
          <a:lstStyle/>
          <a:p>
            <a:pPr algn="ctr" indent="0" marL="0">
              <a:buNone/>
            </a:pPr>
            <a:r>
              <a:rPr lang="en-US" sz="3200" b="1" dirty="0">
                <a:solidFill>
                  <a:schemeClr val="bg1"/>
                </a:solidFill>
              </a:rPr>
              <a:t>5</a:t>
            </a:r>
            <a:endParaRPr lang="en-US" sz="3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Test MAE: PT-PVCGN beats PVCGN on both cities</a:t>
            </a:r>
            <a:endParaRPr lang="en-US" sz="3200" dirty="0"/>
          </a:p>
        </p:txBody>
      </p:sp>
      <p:graphicFrame>
        <p:nvGraphicFramePr>
          <p:cNvPr id="3" name="final-chart" descr=""/>
          <p:cNvGraphicFramePr/>
          <p:nvPr/>
        </p:nvGraphicFramePr>
        <p:xfrm>
          <a:off x="548640" y="1325880"/>
          <a:ext cx="7223760" cy="4754880"/>
        </p:xfrm>
        <a:graphic xmlns:a="http://schemas.openxmlformats.org/drawingml/2006/main">
          <a:graphicData uri="http://schemas.openxmlformats.org/drawingml/2006/chart">
            <c:chart xmlns:c="http://schemas.openxmlformats.org/drawingml/2006/chart" r:id="rId1"/>
          </a:graphicData>
        </a:graphic>
      </p:graphicFrame>
      <p:sp>
        <p:nvSpPr>
          <p:cNvPr id="4" name="card-463"/>
          <p:cNvSpPr/>
          <p:nvPr/>
        </p:nvSpPr>
        <p:spPr>
          <a:xfrm>
            <a:off x="8046720" y="1417320"/>
            <a:ext cx="3566160" cy="2240280"/>
          </a:xfrm>
          <a:prstGeom prst="roundRect">
            <a:avLst>
              <a:gd name="adj" fmla="val 3265"/>
            </a:avLst>
          </a:prstGeom>
          <a:solidFill>
            <a:schemeClr val="bg2"/>
          </a:solidFill>
          <a:ln w="12700">
            <a:solidFill>
              <a:schemeClr val="bg2"/>
            </a:solidFill>
            <a:prstDash val="solid"/>
          </a:ln>
        </p:spPr>
      </p:sp>
      <p:sp>
        <p:nvSpPr>
          <p:cNvPr id="5" name="dot-464"/>
          <p:cNvSpPr/>
          <p:nvPr/>
        </p:nvSpPr>
        <p:spPr>
          <a:xfrm>
            <a:off x="8229600" y="1618488"/>
            <a:ext cx="237744" cy="237744"/>
          </a:xfrm>
          <a:prstGeom prst="ellipse">
            <a:avLst/>
          </a:prstGeom>
          <a:solidFill>
            <a:schemeClr val="accent1"/>
          </a:solidFill>
          <a:ln w="25400">
            <a:solidFill>
              <a:schemeClr val="bg1"/>
            </a:solidFill>
            <a:prstDash val="solid"/>
          </a:ln>
        </p:spPr>
      </p:sp>
      <p:sp>
        <p:nvSpPr>
          <p:cNvPr id="6" name="cardtitle-465"/>
          <p:cNvSpPr txBox="1"/>
          <p:nvPr/>
        </p:nvSpPr>
        <p:spPr>
          <a:xfrm>
            <a:off x="8558784" y="152704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Hangzhou: 7.5% lower error</a:t>
            </a:r>
            <a:endParaRPr lang="en-US" sz="1600" dirty="0"/>
          </a:p>
        </p:txBody>
      </p:sp>
      <p:sp>
        <p:nvSpPr>
          <p:cNvPr id="7" name="cardbody-466"/>
          <p:cNvSpPr txBox="1"/>
          <p:nvPr/>
        </p:nvSpPr>
        <p:spPr>
          <a:xfrm>
            <a:off x="8229600" y="1984248"/>
            <a:ext cx="3200400" cy="1563624"/>
          </a:xfrm>
          <a:prstGeom prst="rect">
            <a:avLst/>
          </a:prstGeom>
          <a:noFill/>
          <a:ln/>
        </p:spPr>
        <p:txBody>
          <a:bodyPr wrap="square" lIns="0" tIns="0" rIns="0" bIns="0" rtlCol="0" anchor="t"/>
          <a:lstStyle/>
          <a:p>
            <a:pPr indent="0" marL="0">
              <a:buNone/>
            </a:pPr>
            <a:r>
              <a:rPr lang="en-US" sz="1600" dirty="0">
                <a:solidFill>
                  <a:schemeClr val="tx1"/>
                </a:solidFill>
              </a:rPr>
              <a:t>Same 200-epoch training for both. Our PVCGN matches the paper (23.85 vs 23.79).</a:t>
            </a:r>
            <a:endParaRPr lang="en-US" sz="1600" dirty="0"/>
          </a:p>
        </p:txBody>
      </p:sp>
      <p:sp>
        <p:nvSpPr>
          <p:cNvPr id="8" name="card-467"/>
          <p:cNvSpPr/>
          <p:nvPr/>
        </p:nvSpPr>
        <p:spPr>
          <a:xfrm>
            <a:off x="8046720" y="3840480"/>
            <a:ext cx="3566160" cy="2240280"/>
          </a:xfrm>
          <a:prstGeom prst="roundRect">
            <a:avLst>
              <a:gd name="adj" fmla="val 3265"/>
            </a:avLst>
          </a:prstGeom>
          <a:solidFill>
            <a:schemeClr val="bg2"/>
          </a:solidFill>
          <a:ln w="12700">
            <a:solidFill>
              <a:schemeClr val="bg2"/>
            </a:solidFill>
            <a:prstDash val="solid"/>
          </a:ln>
        </p:spPr>
      </p:sp>
      <p:sp>
        <p:nvSpPr>
          <p:cNvPr id="9" name="dot-468"/>
          <p:cNvSpPr/>
          <p:nvPr/>
        </p:nvSpPr>
        <p:spPr>
          <a:xfrm>
            <a:off x="8229600" y="4041648"/>
            <a:ext cx="237744" cy="237744"/>
          </a:xfrm>
          <a:prstGeom prst="ellipse">
            <a:avLst/>
          </a:prstGeom>
          <a:solidFill>
            <a:schemeClr val="accent5"/>
          </a:solidFill>
          <a:ln w="25400">
            <a:solidFill>
              <a:schemeClr val="bg1"/>
            </a:solidFill>
            <a:prstDash val="solid"/>
          </a:ln>
        </p:spPr>
      </p:sp>
      <p:sp>
        <p:nvSpPr>
          <p:cNvPr id="10" name="cardtitle-469"/>
          <p:cNvSpPr txBox="1"/>
          <p:nvPr/>
        </p:nvSpPr>
        <p:spPr>
          <a:xfrm>
            <a:off x="8558784" y="395020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Shanghai: 12.2% lower error</a:t>
            </a:r>
            <a:endParaRPr lang="en-US" sz="1600" dirty="0"/>
          </a:p>
        </p:txBody>
      </p:sp>
      <p:sp>
        <p:nvSpPr>
          <p:cNvPr id="11" name="cardbody-470"/>
          <p:cNvSpPr txBox="1"/>
          <p:nvPr/>
        </p:nvSpPr>
        <p:spPr>
          <a:xfrm>
            <a:off x="8229600" y="4407408"/>
            <a:ext cx="3200400" cy="1563624"/>
          </a:xfrm>
          <a:prstGeom prst="rect">
            <a:avLst/>
          </a:prstGeom>
          <a:noFill/>
          <a:ln/>
        </p:spPr>
        <p:txBody>
          <a:bodyPr wrap="square" lIns="0" tIns="0" rIns="0" bIns="0" rtlCol="0" anchor="t"/>
          <a:lstStyle/>
          <a:p>
            <a:pPr indent="0" marL="0">
              <a:buNone/>
            </a:pPr>
            <a:r>
              <a:rPr lang="en-US" sz="1600" dirty="0">
                <a:solidFill>
                  <a:schemeClr val="tx1"/>
                </a:solidFill>
              </a:rPr>
              <a:t>Both trained 30 epochs. Ours also beats the paper's 200-epoch PVCGN (24.09 vs 24.77).</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The gain grows the further ahead we forecast</a:t>
            </a:r>
            <a:endParaRPr lang="en-US" sz="3200" dirty="0"/>
          </a:p>
        </p:txBody>
      </p:sp>
      <p:graphicFrame>
        <p:nvGraphicFramePr>
          <p:cNvPr id="3" name="horizon-chart" descr=""/>
          <p:cNvGraphicFramePr/>
          <p:nvPr/>
        </p:nvGraphicFramePr>
        <p:xfrm>
          <a:off x="548640" y="1325880"/>
          <a:ext cx="7223760" cy="4754880"/>
        </p:xfrm>
        <a:graphic xmlns:a="http://schemas.openxmlformats.org/drawingml/2006/main">
          <a:graphicData uri="http://schemas.openxmlformats.org/drawingml/2006/chart">
            <c:chart xmlns:c="http://schemas.openxmlformats.org/drawingml/2006/chart" r:id="rId1"/>
          </a:graphicData>
        </a:graphic>
      </p:graphicFrame>
      <p:sp>
        <p:nvSpPr>
          <p:cNvPr id="4" name="card-471"/>
          <p:cNvSpPr/>
          <p:nvPr/>
        </p:nvSpPr>
        <p:spPr>
          <a:xfrm>
            <a:off x="8046720" y="1417320"/>
            <a:ext cx="3566160" cy="4663440"/>
          </a:xfrm>
          <a:prstGeom prst="roundRect">
            <a:avLst>
              <a:gd name="adj" fmla="val 2051"/>
            </a:avLst>
          </a:prstGeom>
          <a:solidFill>
            <a:schemeClr val="bg2"/>
          </a:solidFill>
          <a:ln w="12700">
            <a:solidFill>
              <a:schemeClr val="bg2"/>
            </a:solidFill>
            <a:prstDash val="solid"/>
          </a:ln>
        </p:spPr>
      </p:sp>
      <p:sp>
        <p:nvSpPr>
          <p:cNvPr id="5" name="dot-472"/>
          <p:cNvSpPr/>
          <p:nvPr/>
        </p:nvSpPr>
        <p:spPr>
          <a:xfrm>
            <a:off x="8229600" y="1618488"/>
            <a:ext cx="237744" cy="237744"/>
          </a:xfrm>
          <a:prstGeom prst="ellipse">
            <a:avLst/>
          </a:prstGeom>
          <a:solidFill>
            <a:schemeClr val="accent2"/>
          </a:solidFill>
          <a:ln w="25400">
            <a:solidFill>
              <a:schemeClr val="bg1"/>
            </a:solidFill>
            <a:prstDash val="solid"/>
          </a:ln>
        </p:spPr>
      </p:sp>
      <p:sp>
        <p:nvSpPr>
          <p:cNvPr id="6" name="cardtitle-473"/>
          <p:cNvSpPr txBox="1"/>
          <p:nvPr/>
        </p:nvSpPr>
        <p:spPr>
          <a:xfrm>
            <a:off x="8558784" y="152704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Exactly what the gap predicts</a:t>
            </a:r>
            <a:endParaRPr lang="en-US" sz="1600" dirty="0"/>
          </a:p>
        </p:txBody>
      </p:sp>
      <p:sp>
        <p:nvSpPr>
          <p:cNvPr id="7" name="cardbody-474"/>
          <p:cNvSpPr txBox="1"/>
          <p:nvPr/>
        </p:nvSpPr>
        <p:spPr>
          <a:xfrm>
            <a:off x="8229600" y="1984248"/>
            <a:ext cx="3200400" cy="398678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15 min ahead: 4.4% lower error</a:t>
            </a:r>
            <a:endParaRPr lang="en-US" sz="1600" dirty="0"/>
          </a:p>
          <a:p>
            <a:pPr marL="342900" indent="-342900">
              <a:spcAft>
                <a:spcPts val="400"/>
              </a:spcAft>
              <a:buSzPct val="100000"/>
              <a:buChar char="•"/>
            </a:pPr>
            <a:r>
              <a:rPr lang="en-US" sz="1600" dirty="0">
                <a:solidFill>
                  <a:schemeClr val="tx1"/>
                </a:solidFill>
              </a:rPr>
              <a:t>60 min ahead: 9.6% lower error</a:t>
            </a:r>
            <a:endParaRPr lang="en-US" sz="1600" dirty="0"/>
          </a:p>
          <a:p>
            <a:pPr marL="342900" indent="-342900">
              <a:spcAft>
                <a:spcPts val="400"/>
              </a:spcAft>
              <a:buSzPct val="100000"/>
              <a:buChar char="•"/>
            </a:pPr>
            <a:r>
              <a:rPr lang="en-US" sz="1600" dirty="0">
                <a:solidFill>
                  <a:schemeClr val="tx1"/>
                </a:solidFill>
              </a:rPr>
              <a:t>The further ahead, the less the last hour helps — and the more the same time on a past day helps</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Shanghai: whole test set</a:t>
            </a:r>
            <a:endParaRPr lang="en-US" sz="3200" dirty="0"/>
          </a:p>
        </p:txBody>
      </p:sp>
      <p:graphicFrame>
        <p:nvGraphicFramePr>
          <p:cNvPr id="33" name="table-sh_whole"/>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731520"/>
                <a:gridCol w="685800"/>
                <a:gridCol w="1001268"/>
                <a:gridCol w="1001268"/>
                <a:gridCol w="1001268"/>
                <a:gridCol w="1001268"/>
                <a:gridCol w="1001268"/>
                <a:gridCol w="1001268"/>
                <a:gridCol w="1001268"/>
                <a:gridCol w="1001268"/>
                <a:gridCol w="1001268"/>
                <a:gridCol w="1001268"/>
              </a:tblGrid>
              <a:tr h="329184">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Time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HA</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Ridge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GBDT</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DCRNN†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GCRNN†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Graph-WaveNet†</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PVCGN†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PVCGN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2A9D8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PT-PVCGN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2A9D8F"/>
                    </a:solidFill>
                  </a:tcPr>
                </a:tc>
              </a:tr>
              <a:tr h="329184">
                <a:tc rowSpan="3">
                  <a:txBody>
                    <a:bodyPr/>
                    <a:lstStyle/>
                    <a:p>
                      <a:pPr algn="ctr" indent="0" marL="0">
                        <a:buNone/>
                      </a:pPr>
                      <a:r>
                        <a:rPr lang="en-US" sz="1100" b="1" dirty="0">
                          <a:solidFill>
                            <a:srgbClr val="14213D"/>
                          </a:solidFill>
                          <a:latin typeface="Calibri" pitchFamily="34" charset="0"/>
                          <a:ea typeface="Calibri" pitchFamily="34" charset="-122"/>
                          <a:cs typeface="Calibri" pitchFamily="34" charset="-120"/>
                        </a:rPr>
                        <a:t>15 min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RMSE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67.38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76.89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47.52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53.97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46.02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46.09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46.98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44.97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47.67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46.08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32.25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35.73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24.56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25.72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24.04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24.26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24.91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23.29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25.19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22.98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MAPE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20.12%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23.28%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17.29%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16.80%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17.82%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18.06%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20.05%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16.83%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19.27%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17.19%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9184">
                <a:tc rowSpan="3">
                  <a:txBody>
                    <a:bodyPr/>
                    <a:lstStyle/>
                    <a:p>
                      <a:pPr algn="ctr" indent="0" marL="0">
                        <a:buNone/>
                      </a:pPr>
                      <a:r>
                        <a:rPr lang="en-US" sz="1100" b="1" dirty="0">
                          <a:solidFill>
                            <a:srgbClr val="14213D"/>
                          </a:solidFill>
                          <a:latin typeface="Calibri" pitchFamily="34" charset="0"/>
                          <a:ea typeface="Calibri" pitchFamily="34" charset="-122"/>
                          <a:cs typeface="Calibri" pitchFamily="34" charset="-120"/>
                        </a:rPr>
                        <a:t>30 min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RMSE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67.36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76.99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49.45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55.51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49.90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50.12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51.64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47.83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52.31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48.68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32.12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35.75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25.15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26.21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25.23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25.42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26.53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24.16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26.75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23.78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MAPE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20.25%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23.59%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18.24%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17.21%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18.35%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18.73%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20.38%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17.23%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19.94%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17.69%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r>
              <a:tr h="329184">
                <a:tc rowSpan="3">
                  <a:txBody>
                    <a:bodyPr/>
                    <a:lstStyle/>
                    <a:p>
                      <a:pPr algn="ctr" indent="0" marL="0">
                        <a:buNone/>
                      </a:pPr>
                      <a:r>
                        <a:rPr lang="en-US" sz="1100" b="1" dirty="0">
                          <a:solidFill>
                            <a:srgbClr val="14213D"/>
                          </a:solidFill>
                          <a:latin typeface="Calibri" pitchFamily="34" charset="0"/>
                          <a:ea typeface="Calibri" pitchFamily="34" charset="-122"/>
                          <a:cs typeface="Calibri" pitchFamily="34" charset="-120"/>
                        </a:rPr>
                        <a:t>45 min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RMSE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67.31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77.15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52.03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57.71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54.92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54.87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58.50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52.02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56.55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51.09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31.91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35.76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26.00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26.86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26.76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26.92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28.78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25.33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28.21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24.51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MAPE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20.37%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23.90%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19.68%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17.65%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19.30%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19.81%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21.99%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17.92%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20.56%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18.39%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9184">
                <a:tc rowSpan="3">
                  <a:txBody>
                    <a:bodyPr/>
                    <a:lstStyle/>
                    <a:p>
                      <a:pPr algn="ctr" indent="0" marL="0">
                        <a:buNone/>
                      </a:pPr>
                      <a:r>
                        <a:rPr lang="en-US" sz="1100" b="1" dirty="0">
                          <a:solidFill>
                            <a:srgbClr val="14213D"/>
                          </a:solidFill>
                          <a:latin typeface="Calibri" pitchFamily="34" charset="0"/>
                          <a:ea typeface="Calibri" pitchFamily="34" charset="-122"/>
                          <a:cs typeface="Calibri" pitchFamily="34" charset="-120"/>
                        </a:rPr>
                        <a:t>60 min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RMSE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67.15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77.35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54.30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59.37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58.83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58.67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65.08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55.27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60.86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52.84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31.70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35.78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26.78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27.43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28.01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28.18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30.90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26.29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29.63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25.08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MAPE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20.43%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24.11%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20.75%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18.09%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20.44%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21.07%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24.36%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18.69%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21.97%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18.92%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r>
            </a:tbl>
          </a:graphicData>
        </a:graphic>
      </p:graphicFrame>
      <p:sp>
        <p:nvSpPr>
          <p:cNvPr id="4" name="note-sh_whole"/>
          <p:cNvSpPr txBox="1"/>
          <p:nvPr/>
        </p:nvSpPr>
        <p:spPr>
          <a:xfrm>
            <a:off x="365760" y="5623560"/>
            <a:ext cx="11430000" cy="457200"/>
          </a:xfrm>
          <a:prstGeom prst="rect">
            <a:avLst/>
          </a:prstGeom>
          <a:noFill/>
          <a:ln/>
        </p:spPr>
        <p:txBody>
          <a:bodyPr wrap="square" lIns="0" tIns="0" rIns="0" bIns="0" rtlCol="0" anchor="ctr"/>
          <a:lstStyle/>
          <a:p>
            <a:pPr indent="0" marL="0">
              <a:buNone/>
            </a:pPr>
            <a:r>
              <a:rPr lang="en-US" sz="1100" dirty="0">
                <a:solidFill>
                  <a:srgbClr val="46546B"/>
                </a:solidFill>
              </a:rPr>
              <a:t>† reported in the original PVCGN paper (Liu et al., 2022), same test split, not re-run.  HA: historical average · SN: seasonal naive · Bold: best in row · Teal columns: our trained models (mean over seeds).</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Hangzhou: whole test set</a:t>
            </a:r>
            <a:endParaRPr lang="en-US" sz="3200" dirty="0"/>
          </a:p>
        </p:txBody>
      </p:sp>
      <p:graphicFrame>
        <p:nvGraphicFramePr>
          <p:cNvPr id="34" name="table-hz_whole"/>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731520"/>
                <a:gridCol w="685800"/>
                <a:gridCol w="910244"/>
                <a:gridCol w="910244"/>
                <a:gridCol w="910244"/>
                <a:gridCol w="910244"/>
                <a:gridCol w="910244"/>
                <a:gridCol w="910244"/>
                <a:gridCol w="910244"/>
                <a:gridCol w="910244"/>
                <a:gridCol w="910244"/>
                <a:gridCol w="910244"/>
                <a:gridCol w="910244"/>
              </a:tblGrid>
              <a:tr h="329184">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Time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HA</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Ridge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GBDT</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DCRNN†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GCRNN†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Graph-WaveNet†</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PVCGN†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PVCGN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2A9D8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2A9D8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PT-PVCGN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2A9D8F"/>
                    </a:solidFill>
                  </a:tcPr>
                </a:tc>
              </a:tr>
              <a:tr h="329184">
                <a:tc rowSpan="3">
                  <a:txBody>
                    <a:bodyPr/>
                    <a:lstStyle/>
                    <a:p>
                      <a:pPr algn="ctr" indent="0" marL="0">
                        <a:buNone/>
                      </a:pPr>
                      <a:r>
                        <a:rPr lang="en-US" sz="1100" b="1" dirty="0">
                          <a:solidFill>
                            <a:srgbClr val="14213D"/>
                          </a:solidFill>
                          <a:latin typeface="Calibri" pitchFamily="34" charset="0"/>
                          <a:ea typeface="Calibri" pitchFamily="34" charset="-122"/>
                          <a:cs typeface="Calibri" pitchFamily="34" charset="-120"/>
                        </a:rPr>
                        <a:t>15 min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RMSE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53.89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52.17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40.88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43.83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40.39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40.24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40.78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37.76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37.69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34.99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35.37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30.01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27.98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24.44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25.87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23.76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23.84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24.07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22.68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22.67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21.41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21.68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MAPE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15.81%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16.43%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14.50%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14.40%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14.00%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14.08%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14.27%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13.70%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13.58%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12.90%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13.12%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9184">
                <a:tc rowSpan="3">
                  <a:txBody>
                    <a:bodyPr/>
                    <a:lstStyle/>
                    <a:p>
                      <a:pPr algn="ctr" indent="0" marL="0">
                        <a:buNone/>
                      </a:pPr>
                      <a:r>
                        <a:rPr lang="en-US" sz="1100" b="1" dirty="0">
                          <a:solidFill>
                            <a:srgbClr val="14213D"/>
                          </a:solidFill>
                          <a:latin typeface="Calibri" pitchFamily="34" charset="0"/>
                          <a:ea typeface="Calibri" pitchFamily="34" charset="-122"/>
                          <a:cs typeface="Calibri" pitchFamily="34" charset="-120"/>
                        </a:rPr>
                        <a:t>30 min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RMSE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53.86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52.21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42.74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45.19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42.57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41.95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42.80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39.34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39.40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35.15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35.73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30.03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28.03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25.41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26.73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25.22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25.14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25.48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23.33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23.51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21.62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21.93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MAPE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15.93%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16.71%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15.44%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14.89%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14.99%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14.86%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15.23%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13.81%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13.88%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13.22%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13.30%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r>
              <a:tr h="329184">
                <a:tc rowSpan="3">
                  <a:txBody>
                    <a:bodyPr/>
                    <a:lstStyle/>
                    <a:p>
                      <a:pPr algn="ctr" indent="0" marL="0">
                        <a:buNone/>
                      </a:pPr>
                      <a:r>
                        <a:rPr lang="en-US" sz="1100" b="1" dirty="0">
                          <a:solidFill>
                            <a:srgbClr val="14213D"/>
                          </a:solidFill>
                          <a:latin typeface="Calibri" pitchFamily="34" charset="0"/>
                          <a:ea typeface="Calibri" pitchFamily="34" charset="-122"/>
                          <a:cs typeface="Calibri" pitchFamily="34" charset="-120"/>
                        </a:rPr>
                        <a:t>45 min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RMSE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53.75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52.17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44.86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46.12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46.26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45.53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45.84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40.95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40.94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35.44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36.12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29.96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27.98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26.38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27.24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26.97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26.82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27.15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24.22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24.36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21.84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22.15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MAPE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16.12%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17.09%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16.79%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15.39%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16.19%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16.05%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17.34%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14.45%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14.57%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13.78%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13.73%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r>
              <a:tr h="329184">
                <a:tc rowSpan="3">
                  <a:txBody>
                    <a:bodyPr/>
                    <a:lstStyle/>
                    <a:p>
                      <a:pPr algn="ctr" indent="0" marL="0">
                        <a:buNone/>
                      </a:pPr>
                      <a:r>
                        <a:rPr lang="en-US" sz="1100" b="1" dirty="0">
                          <a:solidFill>
                            <a:srgbClr val="14213D"/>
                          </a:solidFill>
                          <a:latin typeface="Calibri" pitchFamily="34" charset="0"/>
                          <a:ea typeface="Calibri" pitchFamily="34" charset="-122"/>
                          <a:cs typeface="Calibri" pitchFamily="34" charset="-120"/>
                        </a:rPr>
                        <a:t>60 min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RMSE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53.65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52.16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47.44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47.66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49.35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50.28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49.89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42.61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42.18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36.02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36.79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29.83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27.90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27.60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27.87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28.47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28.75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29.14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24.93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24.84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22.03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22.45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MAPE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16.55%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17.70%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19.32%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16.18%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18.16%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17.89%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19.37%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15.49%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15.55%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14.29%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14.52%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r>
            </a:tbl>
          </a:graphicData>
        </a:graphic>
      </p:graphicFrame>
      <p:sp>
        <p:nvSpPr>
          <p:cNvPr id="4" name="note-hz_whole"/>
          <p:cNvSpPr txBox="1"/>
          <p:nvPr/>
        </p:nvSpPr>
        <p:spPr>
          <a:xfrm>
            <a:off x="365760" y="5623560"/>
            <a:ext cx="11430000" cy="457200"/>
          </a:xfrm>
          <a:prstGeom prst="rect">
            <a:avLst/>
          </a:prstGeom>
          <a:noFill/>
          <a:ln/>
        </p:spPr>
        <p:txBody>
          <a:bodyPr wrap="square" lIns="0" tIns="0" rIns="0" bIns="0" rtlCol="0" anchor="ctr"/>
          <a:lstStyle/>
          <a:p>
            <a:pPr indent="0" marL="0">
              <a:buNone/>
            </a:pPr>
            <a:r>
              <a:rPr lang="en-US" sz="1100" dirty="0">
                <a:solidFill>
                  <a:srgbClr val="46546B"/>
                </a:solidFill>
              </a:rPr>
              <a:t>† reported in the original PVCGN paper (Liu et al., 2022), same test split, not re-run.  HA: historical average · SN: seasonal naive · Bold: best in row · Teal columns: our trained models (mean over seeds).</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Shanghai: rush hours</a:t>
            </a:r>
            <a:endParaRPr lang="en-US" sz="3200" dirty="0"/>
          </a:p>
        </p:txBody>
      </p:sp>
      <p:graphicFrame>
        <p:nvGraphicFramePr>
          <p:cNvPr id="35" name="table-sh_rush"/>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731520"/>
                <a:gridCol w="685800"/>
                <a:gridCol w="1001268"/>
                <a:gridCol w="1001268"/>
                <a:gridCol w="1001268"/>
                <a:gridCol w="1001268"/>
                <a:gridCol w="1001268"/>
                <a:gridCol w="1001268"/>
                <a:gridCol w="1001268"/>
                <a:gridCol w="1001268"/>
                <a:gridCol w="1001268"/>
                <a:gridCol w="1001268"/>
              </a:tblGrid>
              <a:tr h="329184">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Time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HA</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Ridge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GBDT</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DCRNN†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GCRNN†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Graph-WaveNet†</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PVCGN†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PVCGN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2A9D8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PT-PVCGN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2A9D8F"/>
                    </a:solidFill>
                  </a:tcPr>
                </a:tc>
              </a:tr>
              <a:tr h="329184">
                <a:tc rowSpan="3">
                  <a:txBody>
                    <a:bodyPr/>
                    <a:lstStyle/>
                    <a:p>
                      <a:pPr algn="ctr" indent="0" marL="0">
                        <a:buNone/>
                      </a:pPr>
                      <a:r>
                        <a:rPr lang="en-US" sz="1100" b="1" dirty="0">
                          <a:solidFill>
                            <a:srgbClr val="14213D"/>
                          </a:solidFill>
                          <a:latin typeface="Calibri" pitchFamily="34" charset="0"/>
                          <a:ea typeface="Calibri" pitchFamily="34" charset="-122"/>
                          <a:cs typeface="Calibri" pitchFamily="34" charset="-120"/>
                        </a:rPr>
                        <a:t>15 min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RMSE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82.41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97.93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62.03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74.71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67.50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66.21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68.41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65.04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62.89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63.38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41.10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47.74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32.68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35.32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37.92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37.94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39.17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36.46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34.27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32.24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MAPE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16.83%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19.49%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13.94%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14.01%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13.93%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14.07%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14.14%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13.16%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14.58%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13.85%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9184">
                <a:tc rowSpan="3">
                  <a:txBody>
                    <a:bodyPr/>
                    <a:lstStyle/>
                    <a:p>
                      <a:pPr algn="ctr" indent="0" marL="0">
                        <a:buNone/>
                      </a:pPr>
                      <a:r>
                        <a:rPr lang="en-US" sz="1100" b="1" dirty="0">
                          <a:solidFill>
                            <a:srgbClr val="14213D"/>
                          </a:solidFill>
                          <a:latin typeface="Calibri" pitchFamily="34" charset="0"/>
                          <a:ea typeface="Calibri" pitchFamily="34" charset="-122"/>
                          <a:cs typeface="Calibri" pitchFamily="34" charset="-120"/>
                        </a:rPr>
                        <a:t>30 min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RMSE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82.41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97.93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63.93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76.01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73.07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73.63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78.98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68.85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68.03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66.49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41.10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47.74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33.38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35.92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40.16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40.26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43.54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37.77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36.88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33.34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MAPE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16.83%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19.49%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14.27%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14.29%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14.33%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14.44%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14.79%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13.41%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15.29%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14.29%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r>
              <a:tr h="329184">
                <a:tc rowSpan="3">
                  <a:txBody>
                    <a:bodyPr/>
                    <a:lstStyle/>
                    <a:p>
                      <a:pPr algn="ctr" indent="0" marL="0">
                        <a:buNone/>
                      </a:pPr>
                      <a:r>
                        <a:rPr lang="en-US" sz="1100" b="1" dirty="0">
                          <a:solidFill>
                            <a:srgbClr val="14213D"/>
                          </a:solidFill>
                          <a:latin typeface="Calibri" pitchFamily="34" charset="0"/>
                          <a:ea typeface="Calibri" pitchFamily="34" charset="-122"/>
                          <a:cs typeface="Calibri" pitchFamily="34" charset="-120"/>
                        </a:rPr>
                        <a:t>45 min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RMSE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82.41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97.93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67.33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78.39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79.42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79.88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87.66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73.85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75.50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69.80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41.10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47.74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34.65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37.13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41.92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41.65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46.26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38.84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40.32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34.59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MAPE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16.83%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19.49%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14.79%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14.72%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15.29%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15.29%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15.95%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14.06%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16.30%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14.84%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9184">
                <a:tc rowSpan="3">
                  <a:txBody>
                    <a:bodyPr/>
                    <a:lstStyle/>
                    <a:p>
                      <a:pPr algn="ctr" indent="0" marL="0">
                        <a:buNone/>
                      </a:pPr>
                      <a:r>
                        <a:rPr lang="en-US" sz="1100" b="1" dirty="0">
                          <a:solidFill>
                            <a:srgbClr val="14213D"/>
                          </a:solidFill>
                          <a:latin typeface="Calibri" pitchFamily="34" charset="0"/>
                          <a:ea typeface="Calibri" pitchFamily="34" charset="-122"/>
                          <a:cs typeface="Calibri" pitchFamily="34" charset="-120"/>
                        </a:rPr>
                        <a:t>60 min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RMSE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82.41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97.93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70.17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79.49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79.98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81.37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90.19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74.41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83.74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71.90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41.10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47.74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35.71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37.85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41.23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41.27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46.35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38.12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43.98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35.41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MAPE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16.83%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19.49%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15.17%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15.06%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16.58%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16.62%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17.66%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15.08%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17.63%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15.24%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r>
            </a:tbl>
          </a:graphicData>
        </a:graphic>
      </p:graphicFrame>
      <p:sp>
        <p:nvSpPr>
          <p:cNvPr id="4" name="note-sh_rush"/>
          <p:cNvSpPr txBox="1"/>
          <p:nvPr/>
        </p:nvSpPr>
        <p:spPr>
          <a:xfrm>
            <a:off x="365760" y="5623560"/>
            <a:ext cx="11430000" cy="457200"/>
          </a:xfrm>
          <a:prstGeom prst="rect">
            <a:avLst/>
          </a:prstGeom>
          <a:noFill/>
          <a:ln/>
        </p:spPr>
        <p:txBody>
          <a:bodyPr wrap="square" lIns="0" tIns="0" rIns="0" bIns="0" rtlCol="0" anchor="ctr"/>
          <a:lstStyle/>
          <a:p>
            <a:pPr indent="0" marL="0">
              <a:buNone/>
            </a:pPr>
            <a:r>
              <a:rPr lang="en-US" sz="1100" dirty="0">
                <a:solidFill>
                  <a:srgbClr val="46546B"/>
                </a:solidFill>
              </a:rPr>
              <a:t>† reported in the original PVCGN paper (Liu et al., 2022), same test split, not re-run.  HA: historical average · SN: seasonal naive · Bold: best in row · Teal columns: our trained models (mean over seeds).</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Hangzhou: rush hours</a:t>
            </a:r>
            <a:endParaRPr lang="en-US" sz="3200" dirty="0"/>
          </a:p>
        </p:txBody>
      </p:sp>
      <p:graphicFrame>
        <p:nvGraphicFramePr>
          <p:cNvPr id="36" name="table-hz_rush"/>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731520"/>
                <a:gridCol w="685800"/>
                <a:gridCol w="910244"/>
                <a:gridCol w="910244"/>
                <a:gridCol w="910244"/>
                <a:gridCol w="910244"/>
                <a:gridCol w="910244"/>
                <a:gridCol w="910244"/>
                <a:gridCol w="910244"/>
                <a:gridCol w="910244"/>
                <a:gridCol w="910244"/>
                <a:gridCol w="910244"/>
                <a:gridCol w="910244"/>
              </a:tblGrid>
              <a:tr h="329184">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Time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HA</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Ridge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GBDT</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DCRNN†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GCRNN†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Graph-WaveNet†</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PVCGN†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PVCGN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2A9D8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2A9D8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PT-PVCGN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2A9D8F"/>
                    </a:solidFill>
                  </a:tcPr>
                </a:tc>
              </a:tr>
              <a:tr h="329184">
                <a:tc rowSpan="3">
                  <a:txBody>
                    <a:bodyPr/>
                    <a:lstStyle/>
                    <a:p>
                      <a:pPr algn="ctr" indent="0" marL="0">
                        <a:buNone/>
                      </a:pPr>
                      <a:r>
                        <a:rPr lang="en-US" sz="1100" b="1" dirty="0">
                          <a:solidFill>
                            <a:srgbClr val="14213D"/>
                          </a:solidFill>
                          <a:latin typeface="Calibri" pitchFamily="34" charset="0"/>
                          <a:ea typeface="Calibri" pitchFamily="34" charset="-122"/>
                          <a:cs typeface="Calibri" pitchFamily="34" charset="-120"/>
                        </a:rPr>
                        <a:t>15 min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RMSE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57.25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69.22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47.19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51.11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54.17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55.51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56.98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49.79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47.38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45.13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45.78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33.11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35.79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29.54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30.82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35.08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35.68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37.19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32.63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29.62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28.13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28.56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MAPE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10.64%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11.89%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10.17%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10.15%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10.37%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10.36%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10.84%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9.72%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10.12%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9.65%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9.75%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9184">
                <a:tc rowSpan="3">
                  <a:txBody>
                    <a:bodyPr/>
                    <a:lstStyle/>
                    <a:p>
                      <a:pPr algn="ctr" indent="0" marL="0">
                        <a:buNone/>
                      </a:pPr>
                      <a:r>
                        <a:rPr lang="en-US" sz="1100" b="1" dirty="0">
                          <a:solidFill>
                            <a:srgbClr val="14213D"/>
                          </a:solidFill>
                          <a:latin typeface="Calibri" pitchFamily="34" charset="0"/>
                          <a:ea typeface="Calibri" pitchFamily="34" charset="-122"/>
                          <a:cs typeface="Calibri" pitchFamily="34" charset="-120"/>
                        </a:rPr>
                        <a:t>30 min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RMSE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57.25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69.22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47.74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51.36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58.27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57.34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59.71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51.63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49.00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44.84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45.78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33.11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35.79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29.99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31.22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37.48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37.31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38.94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33.30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30.69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28.11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28.70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MAPE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10.64%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11.89%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10.34%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10.26%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10.69%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10.54%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11.04%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9.52%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10.32%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9.66%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9.79%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r>
              <a:tr h="329184">
                <a:tc rowSpan="3">
                  <a:txBody>
                    <a:bodyPr/>
                    <a:lstStyle/>
                    <a:p>
                      <a:pPr algn="ctr" indent="0" marL="0">
                        <a:buNone/>
                      </a:pPr>
                      <a:r>
                        <a:rPr lang="en-US" sz="1100" b="1" dirty="0">
                          <a:solidFill>
                            <a:srgbClr val="14213D"/>
                          </a:solidFill>
                          <a:latin typeface="Calibri" pitchFamily="34" charset="0"/>
                          <a:ea typeface="Calibri" pitchFamily="34" charset="-122"/>
                          <a:cs typeface="Calibri" pitchFamily="34" charset="-120"/>
                        </a:rPr>
                        <a:t>45 min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RMSE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57.25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69.22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49.42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52.22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61.83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59.54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59.83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51.45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51.09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44.95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46.18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33.11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35.79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30.97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31.89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37.95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37.58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38.75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32.73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32.14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28.25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29.04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MAPE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10.64%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11.89%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10.68%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10.51%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11.16%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11.16%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11.83%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9.88%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10.76%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9.74%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9.95%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9184">
                <a:tc rowSpan="3">
                  <a:txBody>
                    <a:bodyPr/>
                    <a:lstStyle/>
                    <a:p>
                      <a:pPr algn="ctr" indent="0" marL="0">
                        <a:buNone/>
                      </a:pPr>
                      <a:r>
                        <a:rPr lang="en-US" sz="1100" b="1" dirty="0">
                          <a:solidFill>
                            <a:srgbClr val="14213D"/>
                          </a:solidFill>
                          <a:latin typeface="Calibri" pitchFamily="34" charset="0"/>
                          <a:ea typeface="Calibri" pitchFamily="34" charset="-122"/>
                          <a:cs typeface="Calibri" pitchFamily="34" charset="-120"/>
                        </a:rPr>
                        <a:t>60 min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RMSE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57.25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69.22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50.84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53.18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59.52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58.88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59.96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51.09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53.59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45.59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46.88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33.11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35.79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31.76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32.26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36.27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35.94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37.49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31.43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33.10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28.44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29.41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MAPE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10.64%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11.89%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10.91%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10.58%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11.94%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11.93%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12.35%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10.43%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10.96%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9.80%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10.02%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r>
            </a:tbl>
          </a:graphicData>
        </a:graphic>
      </p:graphicFrame>
      <p:sp>
        <p:nvSpPr>
          <p:cNvPr id="4" name="note-hz_rush"/>
          <p:cNvSpPr txBox="1"/>
          <p:nvPr/>
        </p:nvSpPr>
        <p:spPr>
          <a:xfrm>
            <a:off x="365760" y="5623560"/>
            <a:ext cx="11430000" cy="457200"/>
          </a:xfrm>
          <a:prstGeom prst="rect">
            <a:avLst/>
          </a:prstGeom>
          <a:noFill/>
          <a:ln/>
        </p:spPr>
        <p:txBody>
          <a:bodyPr wrap="square" lIns="0" tIns="0" rIns="0" bIns="0" rtlCol="0" anchor="ctr"/>
          <a:lstStyle/>
          <a:p>
            <a:pPr indent="0" marL="0">
              <a:buNone/>
            </a:pPr>
            <a:r>
              <a:rPr lang="en-US" sz="1100" dirty="0">
                <a:solidFill>
                  <a:srgbClr val="46546B"/>
                </a:solidFill>
              </a:rPr>
              <a:t>† reported in the original PVCGN paper (Liu et al., 2022), same test split, not re-run.  HA: historical average · SN: seasonal naive · Bold: best in row · Teal columns: our trained models (mean over seeds).</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Shanghai: busiest 1/4 of stations</a:t>
            </a:r>
            <a:endParaRPr lang="en-US" sz="3200" dirty="0"/>
          </a:p>
        </p:txBody>
      </p:sp>
      <p:graphicFrame>
        <p:nvGraphicFramePr>
          <p:cNvPr id="37" name="table-sh_top"/>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731520"/>
                <a:gridCol w="685800"/>
                <a:gridCol w="1001268"/>
                <a:gridCol w="1001268"/>
                <a:gridCol w="1001268"/>
                <a:gridCol w="1001268"/>
                <a:gridCol w="1001268"/>
                <a:gridCol w="1001268"/>
                <a:gridCol w="1001268"/>
                <a:gridCol w="1001268"/>
                <a:gridCol w="1001268"/>
                <a:gridCol w="1001268"/>
              </a:tblGrid>
              <a:tr h="329184">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Time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HA</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Ridge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GBDT</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DCRNN†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GCRNN†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Graph-WaveNet†</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PVCGN†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PVCGN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2A9D8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PT-PVCGN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2A9D8F"/>
                    </a:solidFill>
                  </a:tcPr>
                </a:tc>
              </a:tr>
              <a:tr h="329184">
                <a:tc rowSpan="3">
                  <a:txBody>
                    <a:bodyPr/>
                    <a:lstStyle/>
                    <a:p>
                      <a:pPr algn="ctr" indent="0" marL="0">
                        <a:buNone/>
                      </a:pPr>
                      <a:r>
                        <a:rPr lang="en-US" sz="1100" b="1" dirty="0">
                          <a:solidFill>
                            <a:srgbClr val="14213D"/>
                          </a:solidFill>
                          <a:latin typeface="Calibri" pitchFamily="34" charset="0"/>
                          <a:ea typeface="Calibri" pitchFamily="34" charset="-122"/>
                          <a:cs typeface="Calibri" pitchFamily="34" charset="-120"/>
                        </a:rPr>
                        <a:t>15 min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RMSE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118.06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137.31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81.01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94.06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84.04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86.09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76.93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74.80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77.70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78.54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63.21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71.47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45.73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48.42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44.98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45.89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43.31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41.38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43.44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41.86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MAPE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16.06%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17.99%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12.15%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11.93%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13.76%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14.12%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11.68%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10.62%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11.67%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11.08%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9184">
                <a:tc rowSpan="3">
                  <a:txBody>
                    <a:bodyPr/>
                    <a:lstStyle/>
                    <a:p>
                      <a:pPr algn="ctr" indent="0" marL="0">
                        <a:buNone/>
                      </a:pPr>
                      <a:r>
                        <a:rPr lang="en-US" sz="1100" b="1" dirty="0">
                          <a:solidFill>
                            <a:srgbClr val="14213D"/>
                          </a:solidFill>
                          <a:latin typeface="Calibri" pitchFamily="34" charset="0"/>
                          <a:ea typeface="Calibri" pitchFamily="34" charset="-122"/>
                          <a:cs typeface="Calibri" pitchFamily="34" charset="-120"/>
                        </a:rPr>
                        <a:t>30 min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RMSE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117.96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137.28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84.48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96.70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88.52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89.89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84.23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79.43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85.36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83.20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62.92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71.35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47.09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49.56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46.80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47.50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46.32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43.05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46.49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43.51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MAPE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16.44%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18.48%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13.80%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12.63%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14.47%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14.82%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13.12%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11.46%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13.11%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11.93%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r>
              <a:tr h="329184">
                <a:tc rowSpan="3">
                  <a:txBody>
                    <a:bodyPr/>
                    <a:lstStyle/>
                    <a:p>
                      <a:pPr algn="ctr" indent="0" marL="0">
                        <a:buNone/>
                      </a:pPr>
                      <a:r>
                        <a:rPr lang="en-US" sz="1100" b="1" dirty="0">
                          <a:solidFill>
                            <a:srgbClr val="14213D"/>
                          </a:solidFill>
                          <a:latin typeface="Calibri" pitchFamily="34" charset="0"/>
                          <a:ea typeface="Calibri" pitchFamily="34" charset="-122"/>
                          <a:cs typeface="Calibri" pitchFamily="34" charset="-120"/>
                        </a:rPr>
                        <a:t>45 min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RMSE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117.90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137.43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89.35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100.91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97.75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96.81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96.35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87.32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93.11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87.81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62.57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71.31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49.06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51.29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49.84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50.08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50.76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45.67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49.74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45.28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MAPE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16.67%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18.93%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16.51%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13.35%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16.32%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16.70%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15.50%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12.48%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14.54%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13.00%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9184">
                <a:tc rowSpan="3">
                  <a:txBody>
                    <a:bodyPr/>
                    <a:lstStyle/>
                    <a:p>
                      <a:pPr algn="ctr" indent="0" marL="0">
                        <a:buNone/>
                      </a:pPr>
                      <a:r>
                        <a:rPr lang="en-US" sz="1100" b="1" dirty="0">
                          <a:solidFill>
                            <a:srgbClr val="14213D"/>
                          </a:solidFill>
                          <a:latin typeface="Calibri" pitchFamily="34" charset="0"/>
                          <a:ea typeface="Calibri" pitchFamily="34" charset="-122"/>
                          <a:cs typeface="Calibri" pitchFamily="34" charset="-120"/>
                        </a:rPr>
                        <a:t>60 min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RMSE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117.79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137.78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93.67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104.17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106.03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102.93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109.26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93.59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101.48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91.05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62.29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71.42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50.95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52.77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53.30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52.79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55.74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48.02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53.21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46.58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MAPE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16.78%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19.20%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18.87%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13.91%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17.89%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18.16%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18.27%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13.61%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16.30%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13.80%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r>
            </a:tbl>
          </a:graphicData>
        </a:graphic>
      </p:graphicFrame>
      <p:sp>
        <p:nvSpPr>
          <p:cNvPr id="4" name="note-sh_top"/>
          <p:cNvSpPr txBox="1"/>
          <p:nvPr/>
        </p:nvSpPr>
        <p:spPr>
          <a:xfrm>
            <a:off x="365760" y="5623560"/>
            <a:ext cx="11430000" cy="457200"/>
          </a:xfrm>
          <a:prstGeom prst="rect">
            <a:avLst/>
          </a:prstGeom>
          <a:noFill/>
          <a:ln/>
        </p:spPr>
        <p:txBody>
          <a:bodyPr wrap="square" lIns="0" tIns="0" rIns="0" bIns="0" rtlCol="0" anchor="ctr"/>
          <a:lstStyle/>
          <a:p>
            <a:pPr indent="0" marL="0">
              <a:buNone/>
            </a:pPr>
            <a:r>
              <a:rPr lang="en-US" sz="1100" dirty="0">
                <a:solidFill>
                  <a:srgbClr val="46546B"/>
                </a:solidFill>
              </a:rPr>
              <a:t>† reported in the original PVCGN paper (Liu et al., 2022), same test split, not re-run.  HA: historical average · SN: seasonal naive · Bold: best in row · Teal columns: our trained models (mean over seeds).</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Hangzhou: busiest 1/4 of stations</a:t>
            </a:r>
            <a:endParaRPr lang="en-US" sz="3200" dirty="0"/>
          </a:p>
        </p:txBody>
      </p:sp>
      <p:graphicFrame>
        <p:nvGraphicFramePr>
          <p:cNvPr id="38" name="table-hz_top"/>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731520"/>
                <a:gridCol w="685800"/>
                <a:gridCol w="910244"/>
                <a:gridCol w="910244"/>
                <a:gridCol w="910244"/>
                <a:gridCol w="910244"/>
                <a:gridCol w="910244"/>
                <a:gridCol w="910244"/>
                <a:gridCol w="910244"/>
                <a:gridCol w="910244"/>
                <a:gridCol w="910244"/>
                <a:gridCol w="910244"/>
                <a:gridCol w="910244"/>
              </a:tblGrid>
              <a:tr h="329184">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Time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HA</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Ridge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GBDT</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DCRNN†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GCRNN†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Graph-WaveNet†</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PVCGN†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PVCGN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2A9D8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2A9D8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PT-PVCGN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2A9D8F"/>
                    </a:solidFill>
                  </a:tcPr>
                </a:tc>
              </a:tr>
              <a:tr h="329184">
                <a:tc rowSpan="3">
                  <a:txBody>
                    <a:bodyPr/>
                    <a:lstStyle/>
                    <a:p>
                      <a:pPr algn="ctr" indent="0" marL="0">
                        <a:buNone/>
                      </a:pPr>
                      <a:r>
                        <a:rPr lang="en-US" sz="1100" b="1" dirty="0">
                          <a:solidFill>
                            <a:srgbClr val="14213D"/>
                          </a:solidFill>
                          <a:latin typeface="Calibri" pitchFamily="34" charset="0"/>
                          <a:ea typeface="Calibri" pitchFamily="34" charset="-122"/>
                          <a:cs typeface="Calibri" pitchFamily="34" charset="-120"/>
                        </a:rPr>
                        <a:t>15 min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RMSE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93.22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89.55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68.22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72.26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66.18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65.29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65.87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60.56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60.56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56.06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56.97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57.64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49.22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44.25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46.14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41.22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40.93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40.72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38.29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38.34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36.05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36.92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MAPE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13.49%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12.74%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10.90%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11.45%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10.72%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10.59%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10.39%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9.97%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9.94%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9.43%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9.63%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9184">
                <a:tc rowSpan="3">
                  <a:txBody>
                    <a:bodyPr/>
                    <a:lstStyle/>
                    <a:p>
                      <a:pPr algn="ctr" indent="0" marL="0">
                        <a:buNone/>
                      </a:pPr>
                      <a:r>
                        <a:rPr lang="en-US" sz="1100" b="1" dirty="0">
                          <a:solidFill>
                            <a:srgbClr val="14213D"/>
                          </a:solidFill>
                          <a:latin typeface="Calibri" pitchFamily="34" charset="0"/>
                          <a:ea typeface="Calibri" pitchFamily="34" charset="-122"/>
                          <a:cs typeface="Calibri" pitchFamily="34" charset="-120"/>
                        </a:rPr>
                        <a:t>30 min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RMSE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93.09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89.59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71.77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74.45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69.36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67.29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68.92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63.77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63.58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56.11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57.31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57.61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49.32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46.60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47.82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43.92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43.07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43.21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39.93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40.03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36.38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37.28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MAPE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13.66%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13.00%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11.52%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12.03%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11.51%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11.42%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11.40%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10.34%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10.38%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9.71%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9.89%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r>
              <a:tr h="329184">
                <a:tc rowSpan="3">
                  <a:txBody>
                    <a:bodyPr/>
                    <a:lstStyle/>
                    <a:p>
                      <a:pPr algn="ctr" indent="0" marL="0">
                        <a:buNone/>
                      </a:pPr>
                      <a:r>
                        <a:rPr lang="en-US" sz="1100" b="1" dirty="0">
                          <a:solidFill>
                            <a:srgbClr val="14213D"/>
                          </a:solidFill>
                          <a:latin typeface="Calibri" pitchFamily="34" charset="0"/>
                          <a:ea typeface="Calibri" pitchFamily="34" charset="-122"/>
                          <a:cs typeface="Calibri" pitchFamily="34" charset="-120"/>
                        </a:rPr>
                        <a:t>45 min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RMSE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92.80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89.45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75.58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75.98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75.16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72.42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72.96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65.99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65.82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56.35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57.87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57.34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49.14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48.73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48.80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46.99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45.93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45.71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41.75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41.65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36.63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37.68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MAPE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13.99%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13.45%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12.55%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12.53%</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12.74%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12.46%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13.32%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11.28%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11.19%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10.22%</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10.36%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9184">
                <a:tc rowSpan="3">
                  <a:txBody>
                    <a:bodyPr/>
                    <a:lstStyle/>
                    <a:p>
                      <a:pPr algn="ctr" indent="0" marL="0">
                        <a:buNone/>
                      </a:pPr>
                      <a:r>
                        <a:rPr lang="en-US" sz="1100" b="1" dirty="0">
                          <a:solidFill>
                            <a:srgbClr val="14213D"/>
                          </a:solidFill>
                          <a:latin typeface="Calibri" pitchFamily="34" charset="0"/>
                          <a:ea typeface="Calibri" pitchFamily="34" charset="-122"/>
                          <a:cs typeface="Calibri" pitchFamily="34" charset="-120"/>
                        </a:rPr>
                        <a:t>60 min</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RMSE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92.59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89.39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80.39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78.81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79.79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80.34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79.70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69.25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67.97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57.48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59.21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57.04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48.94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51.51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49.99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49.50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49.40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49.77</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43.16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42.56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37.04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38.49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r>
              <a:tr h="329184">
                <a:tc vMerge="1">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MAPE</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14.66%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14.28%</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15.10%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13.65%</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15.00%</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14.74%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16.56%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12.54%</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12.49%</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264653"/>
                          </a:solidFill>
                          <a:latin typeface="Calibri" pitchFamily="34" charset="0"/>
                          <a:ea typeface="Calibri" pitchFamily="34" charset="-122"/>
                          <a:cs typeface="Calibri" pitchFamily="34" charset="-120"/>
                        </a:rPr>
                        <a:t>10.96%</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D6EFEB"/>
                    </a:solidFill>
                  </a:tcPr>
                </a:tc>
                <a:tc>
                  <a:txBody>
                    <a:bodyPr/>
                    <a:lstStyle/>
                    <a:p>
                      <a:pPr algn="ctr" indent="0" marL="0">
                        <a:buNone/>
                      </a:pPr>
                      <a:r>
                        <a:rPr lang="en-US" sz="1100" dirty="0">
                          <a:solidFill>
                            <a:srgbClr val="14213D"/>
                          </a:solidFill>
                          <a:latin typeface="Calibri" pitchFamily="34" charset="0"/>
                          <a:ea typeface="Calibri" pitchFamily="34" charset="-122"/>
                          <a:cs typeface="Calibri" pitchFamily="34" charset="-120"/>
                        </a:rPr>
                        <a:t>11.51%</a:t>
                      </a:r>
                      <a:endParaRPr lang="en-US" sz="1100" dirty="0">
                        <a:latin typeface="Calibri" charset="0"/>
                        <a:ea typeface="Calibri" charset="0"/>
                        <a:cs typeface="Calibri" charset="0"/>
                      </a:endParaRPr>
                    </a:p>
                  </a:txBody>
                  <a:tcPr marL="18288" marR="18288"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2F7"/>
                    </a:solidFill>
                  </a:tcPr>
                </a:tc>
              </a:tr>
            </a:tbl>
          </a:graphicData>
        </a:graphic>
      </p:graphicFrame>
      <p:sp>
        <p:nvSpPr>
          <p:cNvPr id="4" name="note-hz_top"/>
          <p:cNvSpPr txBox="1"/>
          <p:nvPr/>
        </p:nvSpPr>
        <p:spPr>
          <a:xfrm>
            <a:off x="365760" y="5623560"/>
            <a:ext cx="11430000" cy="457200"/>
          </a:xfrm>
          <a:prstGeom prst="rect">
            <a:avLst/>
          </a:prstGeom>
          <a:noFill/>
          <a:ln/>
        </p:spPr>
        <p:txBody>
          <a:bodyPr wrap="square" lIns="0" tIns="0" rIns="0" bIns="0" rtlCol="0" anchor="ctr"/>
          <a:lstStyle/>
          <a:p>
            <a:pPr indent="0" marL="0">
              <a:buNone/>
            </a:pPr>
            <a:r>
              <a:rPr lang="en-US" sz="1100" dirty="0">
                <a:solidFill>
                  <a:srgbClr val="46546B"/>
                </a:solidFill>
              </a:rPr>
              <a:t>† reported in the original PVCGN paper (Liu et al., 2022), same test split, not re-run.  HA: historical average · SN: seasonal naive · Bold: best in row · Teal columns: our trained models (mean over seeds).</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What the ablation and error analysis show</a:t>
            </a:r>
            <a:endParaRPr lang="en-US" sz="3200" dirty="0"/>
          </a:p>
        </p:txBody>
      </p:sp>
      <p:sp>
        <p:nvSpPr>
          <p:cNvPr id="3" name="card-475"/>
          <p:cNvSpPr/>
          <p:nvPr/>
        </p:nvSpPr>
        <p:spPr>
          <a:xfrm>
            <a:off x="548640" y="1371600"/>
            <a:ext cx="5440680" cy="2240280"/>
          </a:xfrm>
          <a:prstGeom prst="roundRect">
            <a:avLst>
              <a:gd name="adj" fmla="val 3265"/>
            </a:avLst>
          </a:prstGeom>
          <a:solidFill>
            <a:schemeClr val="bg2"/>
          </a:solidFill>
          <a:ln w="12700">
            <a:solidFill>
              <a:schemeClr val="bg2"/>
            </a:solidFill>
            <a:prstDash val="solid"/>
          </a:ln>
        </p:spPr>
      </p:sp>
      <p:sp>
        <p:nvSpPr>
          <p:cNvPr id="4" name="dot-476"/>
          <p:cNvSpPr/>
          <p:nvPr/>
        </p:nvSpPr>
        <p:spPr>
          <a:xfrm>
            <a:off x="731520" y="1572768"/>
            <a:ext cx="237744" cy="237744"/>
          </a:xfrm>
          <a:prstGeom prst="ellipse">
            <a:avLst/>
          </a:prstGeom>
          <a:solidFill>
            <a:schemeClr val="accent2"/>
          </a:solidFill>
          <a:ln w="25400">
            <a:solidFill>
              <a:schemeClr val="bg1"/>
            </a:solidFill>
            <a:prstDash val="solid"/>
          </a:ln>
        </p:spPr>
      </p:sp>
      <p:sp>
        <p:nvSpPr>
          <p:cNvPr id="5" name="cardtitle-477"/>
          <p:cNvSpPr txBox="1"/>
          <p:nvPr/>
        </p:nvSpPr>
        <p:spPr>
          <a:xfrm>
            <a:off x="1060704" y="1481328"/>
            <a:ext cx="4800600" cy="420624"/>
          </a:xfrm>
          <a:prstGeom prst="rect">
            <a:avLst/>
          </a:prstGeom>
          <a:noFill/>
          <a:ln/>
        </p:spPr>
        <p:txBody>
          <a:bodyPr wrap="square" lIns="0" tIns="0" rIns="0" bIns="0" rtlCol="0" anchor="ctr"/>
          <a:lstStyle/>
          <a:p>
            <a:pPr indent="0" marL="0">
              <a:buNone/>
            </a:pPr>
            <a:r>
              <a:rPr lang="en-US" sz="1600" b="1" dirty="0">
                <a:solidFill>
                  <a:schemeClr val="tx1"/>
                </a:solidFill>
              </a:rPr>
              <a:t>Periodic inputs carry the gain</a:t>
            </a:r>
            <a:endParaRPr lang="en-US" sz="1600" dirty="0"/>
          </a:p>
        </p:txBody>
      </p:sp>
      <p:sp>
        <p:nvSpPr>
          <p:cNvPr id="6" name="cardbody-478"/>
          <p:cNvSpPr txBox="1"/>
          <p:nvPr/>
        </p:nvSpPr>
        <p:spPr>
          <a:xfrm>
            <a:off x="731520" y="1938528"/>
            <a:ext cx="5074920" cy="1563624"/>
          </a:xfrm>
          <a:prstGeom prst="rect">
            <a:avLst/>
          </a:prstGeom>
          <a:noFill/>
          <a:ln/>
        </p:spPr>
        <p:txBody>
          <a:bodyPr wrap="square" lIns="0" tIns="0" rIns="0" bIns="0" rtlCol="0" anchor="t"/>
          <a:lstStyle/>
          <a:p>
            <a:pPr indent="0" marL="0">
              <a:buNone/>
            </a:pPr>
            <a:r>
              <a:rPr lang="en-US" sz="1600" dirty="0">
                <a:solidFill>
                  <a:schemeClr val="tx1"/>
                </a:solidFill>
              </a:rPr>
              <a:t>+P alone: test MAE 21.72 on Hangzhou — the lowest error under equal (200-epoch) training.</a:t>
            </a:r>
            <a:endParaRPr lang="en-US" sz="1600" dirty="0"/>
          </a:p>
        </p:txBody>
      </p:sp>
      <p:sp>
        <p:nvSpPr>
          <p:cNvPr id="7" name="card-479"/>
          <p:cNvSpPr/>
          <p:nvPr/>
        </p:nvSpPr>
        <p:spPr>
          <a:xfrm>
            <a:off x="6172200" y="1371600"/>
            <a:ext cx="5440680" cy="2240280"/>
          </a:xfrm>
          <a:prstGeom prst="roundRect">
            <a:avLst>
              <a:gd name="adj" fmla="val 3265"/>
            </a:avLst>
          </a:prstGeom>
          <a:solidFill>
            <a:schemeClr val="bg2"/>
          </a:solidFill>
          <a:ln w="12700">
            <a:solidFill>
              <a:schemeClr val="bg2"/>
            </a:solidFill>
            <a:prstDash val="solid"/>
          </a:ln>
        </p:spPr>
      </p:sp>
      <p:sp>
        <p:nvSpPr>
          <p:cNvPr id="8" name="dot-480"/>
          <p:cNvSpPr/>
          <p:nvPr/>
        </p:nvSpPr>
        <p:spPr>
          <a:xfrm>
            <a:off x="6355080" y="1572768"/>
            <a:ext cx="237744" cy="237744"/>
          </a:xfrm>
          <a:prstGeom prst="ellipse">
            <a:avLst/>
          </a:prstGeom>
          <a:solidFill>
            <a:schemeClr val="accent4"/>
          </a:solidFill>
          <a:ln w="25400">
            <a:solidFill>
              <a:schemeClr val="bg1"/>
            </a:solidFill>
            <a:prstDash val="solid"/>
          </a:ln>
        </p:spPr>
      </p:sp>
      <p:sp>
        <p:nvSpPr>
          <p:cNvPr id="9" name="cardtitle-481"/>
          <p:cNvSpPr txBox="1"/>
          <p:nvPr/>
        </p:nvSpPr>
        <p:spPr>
          <a:xfrm>
            <a:off x="6684264" y="1481328"/>
            <a:ext cx="4800600" cy="420624"/>
          </a:xfrm>
          <a:prstGeom prst="rect">
            <a:avLst/>
          </a:prstGeom>
          <a:noFill/>
          <a:ln/>
        </p:spPr>
        <p:txBody>
          <a:bodyPr wrap="square" lIns="0" tIns="0" rIns="0" bIns="0" rtlCol="0" anchor="ctr"/>
          <a:lstStyle/>
          <a:p>
            <a:pPr indent="0" marL="0">
              <a:buNone/>
            </a:pPr>
            <a:r>
              <a:rPr lang="en-US" sz="1600" b="1" dirty="0">
                <a:solidFill>
                  <a:schemeClr val="tx1"/>
                </a:solidFill>
              </a:rPr>
              <a:t>Calendar part adds nothing</a:t>
            </a:r>
            <a:endParaRPr lang="en-US" sz="1600" dirty="0"/>
          </a:p>
        </p:txBody>
      </p:sp>
      <p:sp>
        <p:nvSpPr>
          <p:cNvPr id="10" name="cardbody-482"/>
          <p:cNvSpPr txBox="1"/>
          <p:nvPr/>
        </p:nvSpPr>
        <p:spPr>
          <a:xfrm>
            <a:off x="6355080" y="1938528"/>
            <a:ext cx="5074920" cy="1563624"/>
          </a:xfrm>
          <a:prstGeom prst="rect">
            <a:avLst/>
          </a:prstGeom>
          <a:noFill/>
          <a:ln/>
        </p:spPr>
        <p:txBody>
          <a:bodyPr wrap="square" lIns="0" tIns="0" rIns="0" bIns="0" rtlCol="0" anchor="t"/>
          <a:lstStyle/>
          <a:p>
            <a:pPr indent="0" marL="0">
              <a:buNone/>
            </a:pPr>
            <a:r>
              <a:rPr lang="en-US" sz="1600" dirty="0">
                <a:solidFill>
                  <a:schemeClr val="tx1"/>
                </a:solidFill>
              </a:rPr>
              <a:t>+P+T (22.06) is not better than +P. Reported honestly in the paper.</a:t>
            </a:r>
            <a:endParaRPr lang="en-US" sz="1600" dirty="0"/>
          </a:p>
        </p:txBody>
      </p:sp>
      <p:sp>
        <p:nvSpPr>
          <p:cNvPr id="11" name="card-483"/>
          <p:cNvSpPr/>
          <p:nvPr/>
        </p:nvSpPr>
        <p:spPr>
          <a:xfrm>
            <a:off x="548640" y="3794760"/>
            <a:ext cx="5440680" cy="2240280"/>
          </a:xfrm>
          <a:prstGeom prst="roundRect">
            <a:avLst>
              <a:gd name="adj" fmla="val 3265"/>
            </a:avLst>
          </a:prstGeom>
          <a:solidFill>
            <a:schemeClr val="bg2"/>
          </a:solidFill>
          <a:ln w="12700">
            <a:solidFill>
              <a:schemeClr val="bg2"/>
            </a:solidFill>
            <a:prstDash val="solid"/>
          </a:ln>
        </p:spPr>
      </p:sp>
      <p:sp>
        <p:nvSpPr>
          <p:cNvPr id="12" name="dot-484"/>
          <p:cNvSpPr/>
          <p:nvPr/>
        </p:nvSpPr>
        <p:spPr>
          <a:xfrm>
            <a:off x="731520" y="3995928"/>
            <a:ext cx="237744" cy="237744"/>
          </a:xfrm>
          <a:prstGeom prst="ellipse">
            <a:avLst/>
          </a:prstGeom>
          <a:solidFill>
            <a:schemeClr val="accent1"/>
          </a:solidFill>
          <a:ln w="25400">
            <a:solidFill>
              <a:schemeClr val="bg1"/>
            </a:solidFill>
            <a:prstDash val="solid"/>
          </a:ln>
        </p:spPr>
      </p:sp>
      <p:sp>
        <p:nvSpPr>
          <p:cNvPr id="13" name="cardtitle-485"/>
          <p:cNvSpPr txBox="1"/>
          <p:nvPr/>
        </p:nvSpPr>
        <p:spPr>
          <a:xfrm>
            <a:off x="1060704" y="3904488"/>
            <a:ext cx="4800600" cy="420624"/>
          </a:xfrm>
          <a:prstGeom prst="rect">
            <a:avLst/>
          </a:prstGeom>
          <a:noFill/>
          <a:ln/>
        </p:spPr>
        <p:txBody>
          <a:bodyPr wrap="square" lIns="0" tIns="0" rIns="0" bIns="0" rtlCol="0" anchor="ctr"/>
          <a:lstStyle/>
          <a:p>
            <a:pPr indent="0" marL="0">
              <a:buNone/>
            </a:pPr>
            <a:r>
              <a:rPr lang="en-US" sz="1600" b="1" dirty="0">
                <a:solidFill>
                  <a:schemeClr val="tx1"/>
                </a:solidFill>
              </a:rPr>
              <a:t>Wins where it matters</a:t>
            </a:r>
            <a:endParaRPr lang="en-US" sz="1600" dirty="0"/>
          </a:p>
        </p:txBody>
      </p:sp>
      <p:sp>
        <p:nvSpPr>
          <p:cNvPr id="14" name="cardbody-486"/>
          <p:cNvSpPr txBox="1"/>
          <p:nvPr/>
        </p:nvSpPr>
        <p:spPr>
          <a:xfrm>
            <a:off x="731520" y="4361688"/>
            <a:ext cx="5074920" cy="1563624"/>
          </a:xfrm>
          <a:prstGeom prst="rect">
            <a:avLst/>
          </a:prstGeom>
          <a:noFill/>
          <a:ln/>
        </p:spPr>
        <p:txBody>
          <a:bodyPr wrap="square" lIns="0" tIns="0" rIns="0" bIns="0" rtlCol="0" anchor="t"/>
          <a:lstStyle/>
          <a:p>
            <a:pPr indent="0" marL="0">
              <a:buNone/>
            </a:pPr>
            <a:r>
              <a:rPr lang="en-US" sz="1600" dirty="0">
                <a:solidFill>
                  <a:schemeClr val="tx1"/>
                </a:solidFill>
              </a:rPr>
              <a:t>Rush hours and busiest stations, both cities; Shanghai working days 24.48 vs 29.61.</a:t>
            </a:r>
            <a:endParaRPr lang="en-US" sz="1600" dirty="0"/>
          </a:p>
        </p:txBody>
      </p:sp>
      <p:sp>
        <p:nvSpPr>
          <p:cNvPr id="15" name="card-487"/>
          <p:cNvSpPr/>
          <p:nvPr/>
        </p:nvSpPr>
        <p:spPr>
          <a:xfrm>
            <a:off x="6172200" y="3794760"/>
            <a:ext cx="5440680" cy="2240280"/>
          </a:xfrm>
          <a:prstGeom prst="roundRect">
            <a:avLst>
              <a:gd name="adj" fmla="val 3265"/>
            </a:avLst>
          </a:prstGeom>
          <a:solidFill>
            <a:schemeClr val="bg2"/>
          </a:solidFill>
          <a:ln w="12700">
            <a:solidFill>
              <a:schemeClr val="bg2"/>
            </a:solidFill>
            <a:prstDash val="solid"/>
          </a:ln>
        </p:spPr>
      </p:sp>
      <p:sp>
        <p:nvSpPr>
          <p:cNvPr id="16" name="dot-488"/>
          <p:cNvSpPr/>
          <p:nvPr/>
        </p:nvSpPr>
        <p:spPr>
          <a:xfrm>
            <a:off x="6355080" y="3995928"/>
            <a:ext cx="237744" cy="237744"/>
          </a:xfrm>
          <a:prstGeom prst="ellipse">
            <a:avLst/>
          </a:prstGeom>
          <a:solidFill>
            <a:schemeClr val="accent3"/>
          </a:solidFill>
          <a:ln w="25400">
            <a:solidFill>
              <a:schemeClr val="bg1"/>
            </a:solidFill>
            <a:prstDash val="solid"/>
          </a:ln>
        </p:spPr>
      </p:sp>
      <p:sp>
        <p:nvSpPr>
          <p:cNvPr id="17" name="cardtitle-489"/>
          <p:cNvSpPr txBox="1"/>
          <p:nvPr/>
        </p:nvSpPr>
        <p:spPr>
          <a:xfrm>
            <a:off x="6684264" y="3904488"/>
            <a:ext cx="4800600" cy="420624"/>
          </a:xfrm>
          <a:prstGeom prst="rect">
            <a:avLst/>
          </a:prstGeom>
          <a:noFill/>
          <a:ln/>
        </p:spPr>
        <p:txBody>
          <a:bodyPr wrap="square" lIns="0" tIns="0" rIns="0" bIns="0" rtlCol="0" anchor="ctr"/>
          <a:lstStyle/>
          <a:p>
            <a:pPr indent="0" marL="0">
              <a:buNone/>
            </a:pPr>
            <a:r>
              <a:rPr lang="en-US" sz="1600" b="1" dirty="0">
                <a:solidFill>
                  <a:schemeClr val="tx1"/>
                </a:solidFill>
              </a:rPr>
              <a:t>Weak on irregular days</a:t>
            </a:r>
            <a:endParaRPr lang="en-US" sz="1600" dirty="0"/>
          </a:p>
        </p:txBody>
      </p:sp>
      <p:sp>
        <p:nvSpPr>
          <p:cNvPr id="18" name="cardbody-490"/>
          <p:cNvSpPr txBox="1"/>
          <p:nvPr/>
        </p:nvSpPr>
        <p:spPr>
          <a:xfrm>
            <a:off x="6355080" y="4361688"/>
            <a:ext cx="5074920" cy="1563624"/>
          </a:xfrm>
          <a:prstGeom prst="rect">
            <a:avLst/>
          </a:prstGeom>
          <a:noFill/>
          <a:ln/>
        </p:spPr>
        <p:txBody>
          <a:bodyPr wrap="square" lIns="0" tIns="0" rIns="0" bIns="0" rtlCol="0" anchor="t"/>
          <a:lstStyle/>
          <a:p>
            <a:pPr indent="0" marL="0">
              <a:buNone/>
            </a:pPr>
            <a:r>
              <a:rPr lang="en-US" sz="1600" dirty="0">
                <a:solidFill>
                  <a:schemeClr val="tx1"/>
                </a:solidFill>
              </a:rPr>
              <a:t>Holiday 24.49 vs PVCGN 21.48; make-up Sunday 33.69 vs 29.41.</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6546B"/>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Conclusion</a:t>
            </a:r>
            <a:endParaRPr lang="en-US" sz="4000" dirty="0"/>
          </a:p>
        </p:txBody>
      </p:sp>
      <p:sp>
        <p:nvSpPr>
          <p:cNvPr id="3" name="Text 0"/>
          <p:cNvSpPr/>
          <p:nvPr>
            <p:ph idx="101" type="body" hasCustomPrompt="1"/>
          </p:nvPr>
        </p:nvSpPr>
        <p:spPr>
          <a:xfrm>
            <a:off x="731520" y="3657600"/>
            <a:ext cx="10698480" cy="1280160"/>
          </a:xfrm>
          <a:prstGeom prst="rect">
            <a:avLst/>
          </a:prstGeom>
          <a:noFill/>
          <a:ln/>
        </p:spPr>
        <p:txBody>
          <a:bodyPr wrap="square" rtlCol="0" anchor="t"/>
          <a:lstStyle/>
          <a:p>
            <a:pPr algn="l" indent="0" marL="0">
              <a:buNone/>
            </a:pPr>
            <a:r>
              <a:rPr lang="en-US" sz="1800" dirty="0">
                <a:solidFill>
                  <a:schemeClr val="accent6"/>
                </a:solidFill>
              </a:rPr>
              <a:t>Giving PVCGN the same time slots on comparable past days cuts forecast error by 7.5% (Hangzhou) and 12.2% (Shanghai). Next: holiday-aware reference days, longer Shanghai training, and submission of the paper.</a:t>
            </a:r>
            <a:endParaRPr lang="en-US" sz="1800" dirty="0"/>
          </a:p>
        </p:txBody>
      </p:sp>
      <p:sp>
        <p:nvSpPr>
          <p:cNvPr id="4" name="dot-491"/>
          <p:cNvSpPr/>
          <p:nvPr/>
        </p:nvSpPr>
        <p:spPr>
          <a:xfrm>
            <a:off x="731520" y="1280160"/>
            <a:ext cx="256032" cy="256032"/>
          </a:xfrm>
          <a:prstGeom prst="ellipse">
            <a:avLst/>
          </a:prstGeom>
          <a:solidFill>
            <a:schemeClr val="accent1"/>
          </a:solidFill>
          <a:ln w="25400">
            <a:solidFill>
              <a:schemeClr val="bg1"/>
            </a:solidFill>
            <a:prstDash val="solid"/>
          </a:ln>
        </p:spPr>
      </p:sp>
      <p:sp>
        <p:nvSpPr>
          <p:cNvPr id="5" name="dot-492"/>
          <p:cNvSpPr/>
          <p:nvPr/>
        </p:nvSpPr>
        <p:spPr>
          <a:xfrm>
            <a:off x="1234440" y="1280160"/>
            <a:ext cx="256032" cy="256032"/>
          </a:xfrm>
          <a:prstGeom prst="ellipse">
            <a:avLst/>
          </a:prstGeom>
          <a:solidFill>
            <a:schemeClr val="accent1"/>
          </a:solidFill>
          <a:ln w="25400">
            <a:solidFill>
              <a:schemeClr val="bg1"/>
            </a:solidFill>
            <a:prstDash val="solid"/>
          </a:ln>
        </p:spPr>
      </p:sp>
      <p:sp>
        <p:nvSpPr>
          <p:cNvPr id="6" name="dot-493"/>
          <p:cNvSpPr/>
          <p:nvPr/>
        </p:nvSpPr>
        <p:spPr>
          <a:xfrm>
            <a:off x="1737360" y="1280160"/>
            <a:ext cx="256032" cy="256032"/>
          </a:xfrm>
          <a:prstGeom prst="ellipse">
            <a:avLst/>
          </a:prstGeom>
          <a:solidFill>
            <a:schemeClr val="accent1"/>
          </a:solidFill>
          <a:ln w="25400">
            <a:solidFill>
              <a:schemeClr val="bg1"/>
            </a:solidFill>
            <a:prstDash val="solid"/>
          </a:ln>
        </p:spPr>
      </p:sp>
      <p:sp>
        <p:nvSpPr>
          <p:cNvPr id="7" name="dot-494"/>
          <p:cNvSpPr/>
          <p:nvPr/>
        </p:nvSpPr>
        <p:spPr>
          <a:xfrm>
            <a:off x="2240280" y="1280160"/>
            <a:ext cx="256032" cy="256032"/>
          </a:xfrm>
          <a:prstGeom prst="ellipse">
            <a:avLst/>
          </a:prstGeom>
          <a:solidFill>
            <a:schemeClr val="accent1"/>
          </a:solidFill>
          <a:ln w="25400">
            <a:solidFill>
              <a:schemeClr val="bg1"/>
            </a:solidFill>
            <a:prstDash val="solid"/>
          </a:ln>
        </p:spPr>
      </p:sp>
      <p:sp>
        <p:nvSpPr>
          <p:cNvPr id="8" name="dot-495"/>
          <p:cNvSpPr/>
          <p:nvPr/>
        </p:nvSpPr>
        <p:spPr>
          <a:xfrm>
            <a:off x="2743200" y="1280160"/>
            <a:ext cx="256032" cy="256032"/>
          </a:xfrm>
          <a:prstGeom prst="ellipse">
            <a:avLst/>
          </a:prstGeom>
          <a:solidFill>
            <a:schemeClr val="accent1"/>
          </a:solidFill>
          <a:ln w="25400">
            <a:solidFill>
              <a:schemeClr val="bg1"/>
            </a:solidFill>
            <a:prstDash val="solid"/>
          </a:ln>
        </p:spPr>
      </p:sp>
      <p:sp>
        <p:nvSpPr>
          <p:cNvPr id="9" name="dot-496"/>
          <p:cNvSpPr/>
          <p:nvPr/>
        </p:nvSpPr>
        <p:spPr>
          <a:xfrm>
            <a:off x="3246120" y="1280160"/>
            <a:ext cx="256032" cy="256032"/>
          </a:xfrm>
          <a:prstGeom prst="ellipse">
            <a:avLst/>
          </a:prstGeom>
          <a:solidFill>
            <a:schemeClr val="accent2"/>
          </a:solidFill>
          <a:ln w="25400">
            <a:solidFill>
              <a:schemeClr val="bg1"/>
            </a:solidFill>
            <a:prstDash val="solid"/>
          </a:ln>
        </p:spPr>
      </p:sp>
    </p:spTree>
  </p:cSld>
  <p:clrMapOvr>
    <a:masterClrMapping/>
  </p:clrMapOvr>
</p:sld>
</file>

<file path=ppt/theme/theme1.xml><?xml version="1.0" encoding="utf-8"?>
<a:theme xmlns:a="http://schemas.openxmlformats.org/drawingml/2006/main" name="Metro Night">
  <a:themeElements>
    <a:clrScheme name="Metro Night">
      <a:dk1>
        <a:srgbClr val="14213D"/>
      </a:dk1>
      <a:lt1>
        <a:srgbClr val="FFFFFF"/>
      </a:lt1>
      <a:dk2>
        <a:srgbClr val="46546B"/>
      </a:dk2>
      <a:lt2>
        <a:srgbClr val="EEF2F7"/>
      </a:lt2>
      <a:accent1>
        <a:srgbClr val="FCA311"/>
      </a:accent1>
      <a:accent2>
        <a:srgbClr val="2A9D8F"/>
      </a:accent2>
      <a:accent3>
        <a:srgbClr val="E76F51"/>
      </a:accent3>
      <a:accent4>
        <a:srgbClr val="8D99AE"/>
      </a:accent4>
      <a:accent5>
        <a:srgbClr val="264653"/>
      </a:accent5>
      <a:accent6>
        <a:srgbClr val="F4D58D"/>
      </a:accent6>
      <a:hlink>
        <a:srgbClr val="2A9D8F"/>
      </a:hlink>
      <a:folHlink>
        <a:srgbClr val="264653"/>
      </a:folHlink>
    </a:clrScheme>
    <a:fontScheme name="Metro N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PT-PVCGN: project overview</dc:title>
  <dc:subject>PptxGenJS Presentation</dc:subject>
  <dc:creator>Nitin Bharti</dc:creator>
  <cp:lastModifiedBy>Nitin Bharti</cp:lastModifiedBy>
  <cp:revision>1</cp:revision>
  <dcterms:created xsi:type="dcterms:W3CDTF">2026-10-24T15:50:22Z</dcterms:created>
  <dcterms:modified xsi:type="dcterms:W3CDTF">2026-10-24T15:50:22Z</dcterms:modified>
</cp:coreProperties>
</file>